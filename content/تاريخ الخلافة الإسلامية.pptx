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1"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BF2BBB3-753F-4CF3-9FC6-88C316CC3257}">
          <p14:sldIdLst>
            <p14:sldId id="256"/>
            <p14:sldId id="257"/>
            <p14:sldId id="258"/>
            <p14:sldId id="259"/>
            <p14:sldId id="260"/>
            <p14:sldId id="261"/>
            <p14:sldId id="262"/>
            <p14:sldId id="263"/>
            <p14:sldId id="264"/>
            <p14:sldId id="265"/>
            <p14:sldId id="266"/>
            <p14:sldId id="268"/>
            <p14:sldId id="267"/>
            <p14:sldId id="269"/>
            <p14:sldId id="271"/>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1B7-04CC-4BE6-4037-4BB279A63A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B1AB64-E29A-36A4-3DDA-F532788C1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727B1-D913-06CC-A446-6FD91A3C4133}"/>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5" name="Footer Placeholder 4">
            <a:extLst>
              <a:ext uri="{FF2B5EF4-FFF2-40B4-BE49-F238E27FC236}">
                <a16:creationId xmlns:a16="http://schemas.microsoft.com/office/drawing/2014/main" id="{69D6CCE0-D968-0D8D-BF20-69F4F575B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D9C974-C649-E43A-6213-222DC3E54CC7}"/>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1357291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8ADA7-4ECC-32B4-F99F-46779CEE87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630C0C-A5B6-A21A-3AE0-8D0BC50E8B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9597AA-8C4C-8524-F8D2-102E04AAE152}"/>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5" name="Footer Placeholder 4">
            <a:extLst>
              <a:ext uri="{FF2B5EF4-FFF2-40B4-BE49-F238E27FC236}">
                <a16:creationId xmlns:a16="http://schemas.microsoft.com/office/drawing/2014/main" id="{1FCB426D-F6F3-8927-478C-C4D22FC96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6A95-AD23-CCD6-283B-E0FF75FFDC0B}"/>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3298551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24D2-2DA7-D8AD-E80A-38C7C0B5B8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FEFAEE-A0B1-315F-CD79-27C833BFE3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B4881-A2B5-F4F6-4BEB-21E69B937EB5}"/>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5" name="Footer Placeholder 4">
            <a:extLst>
              <a:ext uri="{FF2B5EF4-FFF2-40B4-BE49-F238E27FC236}">
                <a16:creationId xmlns:a16="http://schemas.microsoft.com/office/drawing/2014/main" id="{E7EEA092-B3A4-3AA5-D753-05C7197341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04B05-8966-82B4-9FEB-0DC7492AFC7B}"/>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1573516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E73B5-E5A8-26A2-9C32-A6293FE377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18F79E-2795-A02C-3E0D-5D83D02707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5AC417-491F-3BB0-1953-9B84C5C676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6BFE49-E3F6-D49C-B7A5-0477EC32D2C0}"/>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6" name="Footer Placeholder 5">
            <a:extLst>
              <a:ext uri="{FF2B5EF4-FFF2-40B4-BE49-F238E27FC236}">
                <a16:creationId xmlns:a16="http://schemas.microsoft.com/office/drawing/2014/main" id="{15AD1D65-0530-DBFF-C38B-61FAEF5F9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64D0C8-78F0-1786-6EE7-ECC44D3735FE}"/>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1177912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A26F0-6B30-54EF-0C8A-315FD6B6D3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CAD2D8-6B8A-ECD0-E16D-59188FE936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110D1D-890A-9FA4-8E79-5AE742A79B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117414-575F-BF20-1997-F250CAF6B6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51BC1-6CED-6609-79B4-7AD43E715B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82252C-04D7-DEC5-6617-07AAF023E9DD}"/>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8" name="Footer Placeholder 7">
            <a:extLst>
              <a:ext uri="{FF2B5EF4-FFF2-40B4-BE49-F238E27FC236}">
                <a16:creationId xmlns:a16="http://schemas.microsoft.com/office/drawing/2014/main" id="{EBAEB983-F9B0-6C5E-D531-102B39C38A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F42866-C55F-EEC9-F8E9-2A3658643E9A}"/>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421734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70B8E-3425-A5E7-3F32-AA033AF2B7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0737E3-45B8-EE95-D572-7AB4DF285F41}"/>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4" name="Footer Placeholder 3">
            <a:extLst>
              <a:ext uri="{FF2B5EF4-FFF2-40B4-BE49-F238E27FC236}">
                <a16:creationId xmlns:a16="http://schemas.microsoft.com/office/drawing/2014/main" id="{89C8A04E-68E5-3160-5C02-FAB21A6B94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8B6FE9-DDCC-3F34-DDC7-26EAFBD2DC85}"/>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3443765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5EAE46-8F1F-2D15-1C0F-B2E0543D128B}"/>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3" name="Footer Placeholder 2">
            <a:extLst>
              <a:ext uri="{FF2B5EF4-FFF2-40B4-BE49-F238E27FC236}">
                <a16:creationId xmlns:a16="http://schemas.microsoft.com/office/drawing/2014/main" id="{26E9E1E6-4D57-C339-CC5D-BFACF32E8B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A61E2D-E22A-2290-E6E9-05861693C134}"/>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337490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18AD3-9DDD-369C-1DFC-347F0661D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F245A9-DF13-A4F1-19F5-730782706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079C78-4E1A-2911-6966-397835ADA5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3BDBE8-7208-D8F0-B567-C58DDA636C3B}"/>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6" name="Footer Placeholder 5">
            <a:extLst>
              <a:ext uri="{FF2B5EF4-FFF2-40B4-BE49-F238E27FC236}">
                <a16:creationId xmlns:a16="http://schemas.microsoft.com/office/drawing/2014/main" id="{8131F438-4B82-7874-7D7C-D9880C10DC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2CEBD5-330C-74C6-D71F-4CC1AC5348A3}"/>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3390028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3AA08-EEA1-57DA-81F7-88313A2C7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DE878A-8C60-D06B-2A83-7C0FEFF3C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F8553A-86DB-BFD9-E307-0D2C673214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3849DD-26C5-C830-D7EA-8693AA1F8EDF}"/>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6" name="Footer Placeholder 5">
            <a:extLst>
              <a:ext uri="{FF2B5EF4-FFF2-40B4-BE49-F238E27FC236}">
                <a16:creationId xmlns:a16="http://schemas.microsoft.com/office/drawing/2014/main" id="{7B26A11A-4D88-9B06-525B-57FEEFF156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079C04-BCF0-CD16-A09F-3FA99E85E86E}"/>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3716634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301DB-8162-C207-527B-117A222B56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CA9B38-6878-EB99-B12B-40B3127EB9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5994E6-E705-9C3E-8EC5-4E8DB314FA68}"/>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5" name="Footer Placeholder 4">
            <a:extLst>
              <a:ext uri="{FF2B5EF4-FFF2-40B4-BE49-F238E27FC236}">
                <a16:creationId xmlns:a16="http://schemas.microsoft.com/office/drawing/2014/main" id="{68B5770F-02C0-1688-332D-C7B8C2977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A3658E-7A94-785F-952C-9B1C8A0BBE38}"/>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4088864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3D319E-0F95-5E29-24EB-1FE623F7BC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615034-0C87-E409-7AC8-E5B6C92999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C82226-B9F7-F4B1-5FBD-29F0C4DA4B66}"/>
              </a:ext>
            </a:extLst>
          </p:cNvPr>
          <p:cNvSpPr>
            <a:spLocks noGrp="1"/>
          </p:cNvSpPr>
          <p:nvPr>
            <p:ph type="dt" sz="half" idx="10"/>
          </p:nvPr>
        </p:nvSpPr>
        <p:spPr/>
        <p:txBody>
          <a:bodyPr/>
          <a:lstStyle/>
          <a:p>
            <a:fld id="{C5A2FC79-476E-41A6-9231-5D2609D21413}" type="datetimeFigureOut">
              <a:rPr lang="en-US" smtClean="0"/>
              <a:t>3/20/2025</a:t>
            </a:fld>
            <a:endParaRPr lang="en-US"/>
          </a:p>
        </p:txBody>
      </p:sp>
      <p:sp>
        <p:nvSpPr>
          <p:cNvPr id="5" name="Footer Placeholder 4">
            <a:extLst>
              <a:ext uri="{FF2B5EF4-FFF2-40B4-BE49-F238E27FC236}">
                <a16:creationId xmlns:a16="http://schemas.microsoft.com/office/drawing/2014/main" id="{9CCA3AF7-949B-80B2-42F0-4F71DEFA7D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48DF2-13D1-53D5-6E23-F1E68238EC04}"/>
              </a:ext>
            </a:extLst>
          </p:cNvPr>
          <p:cNvSpPr>
            <a:spLocks noGrp="1"/>
          </p:cNvSpPr>
          <p:nvPr>
            <p:ph type="sldNum" sz="quarter" idx="12"/>
          </p:nvPr>
        </p:nvSpPr>
        <p:spPr/>
        <p:txBody>
          <a:bodyPr/>
          <a:lstStyle/>
          <a:p>
            <a:fld id="{6A12D827-2F78-4E27-8902-EB55F5DE2F89}" type="slidenum">
              <a:rPr lang="en-US" smtClean="0"/>
              <a:t>‹#›</a:t>
            </a:fld>
            <a:endParaRPr lang="en-US"/>
          </a:p>
        </p:txBody>
      </p:sp>
    </p:spTree>
    <p:extLst>
      <p:ext uri="{BB962C8B-B14F-4D97-AF65-F5344CB8AC3E}">
        <p14:creationId xmlns:p14="http://schemas.microsoft.com/office/powerpoint/2010/main" val="4095749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954145-EC36-AB6F-595A-69B8841B0E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AE09B4-CF9D-2ECA-5189-8BEAE73BBD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18D0F4-B976-CDDA-DDF9-082918389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A2FC79-476E-41A6-9231-5D2609D21413}" type="datetimeFigureOut">
              <a:rPr lang="en-US" smtClean="0"/>
              <a:t>3/20/2025</a:t>
            </a:fld>
            <a:endParaRPr lang="en-US"/>
          </a:p>
        </p:txBody>
      </p:sp>
      <p:sp>
        <p:nvSpPr>
          <p:cNvPr id="5" name="Footer Placeholder 4">
            <a:extLst>
              <a:ext uri="{FF2B5EF4-FFF2-40B4-BE49-F238E27FC236}">
                <a16:creationId xmlns:a16="http://schemas.microsoft.com/office/drawing/2014/main" id="{F2FF3C23-EF34-B0B7-960A-7B2E957E2B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5FB463-8A89-66A5-CA62-D57EEDDE7D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12D827-2F78-4E27-8902-EB55F5DE2F89}" type="slidenum">
              <a:rPr lang="en-US" smtClean="0"/>
              <a:t>‹#›</a:t>
            </a:fld>
            <a:endParaRPr lang="en-US"/>
          </a:p>
        </p:txBody>
      </p:sp>
    </p:spTree>
    <p:extLst>
      <p:ext uri="{BB962C8B-B14F-4D97-AF65-F5344CB8AC3E}">
        <p14:creationId xmlns:p14="http://schemas.microsoft.com/office/powerpoint/2010/main" val="2223809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CD57-26BA-FE9E-E993-E2B8BAD03115}"/>
              </a:ext>
            </a:extLst>
          </p:cNvPr>
          <p:cNvSpPr>
            <a:spLocks noGrp="1"/>
          </p:cNvSpPr>
          <p:nvPr>
            <p:ph type="ctrTitle"/>
          </p:nvPr>
        </p:nvSpPr>
        <p:spPr/>
        <p:txBody>
          <a:bodyPr/>
          <a:lstStyle/>
          <a:p>
            <a:r>
              <a:rPr lang="ar-LB" dirty="0"/>
              <a:t>سلام ونعمة </a:t>
            </a:r>
            <a:endParaRPr lang="en-US" dirty="0"/>
          </a:p>
        </p:txBody>
      </p:sp>
      <p:sp>
        <p:nvSpPr>
          <p:cNvPr id="3" name="Subtitle 2">
            <a:extLst>
              <a:ext uri="{FF2B5EF4-FFF2-40B4-BE49-F238E27FC236}">
                <a16:creationId xmlns:a16="http://schemas.microsoft.com/office/drawing/2014/main" id="{ED28D925-B73B-B2C6-CE08-27CB3C63F572}"/>
              </a:ext>
            </a:extLst>
          </p:cNvPr>
          <p:cNvSpPr>
            <a:spLocks noGrp="1"/>
          </p:cNvSpPr>
          <p:nvPr>
            <p:ph type="subTitle" idx="1"/>
          </p:nvPr>
        </p:nvSpPr>
        <p:spPr/>
        <p:txBody>
          <a:bodyPr/>
          <a:lstStyle/>
          <a:p>
            <a:r>
              <a:rPr lang="ar-LB" dirty="0"/>
              <a:t>الخلافة الإسلامية</a:t>
            </a:r>
            <a:endParaRPr lang="en-US" dirty="0"/>
          </a:p>
        </p:txBody>
      </p:sp>
    </p:spTree>
    <p:extLst>
      <p:ext uri="{BB962C8B-B14F-4D97-AF65-F5344CB8AC3E}">
        <p14:creationId xmlns:p14="http://schemas.microsoft.com/office/powerpoint/2010/main" val="130508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21FE-5031-AEAD-D123-C83833A57C77}"/>
              </a:ext>
            </a:extLst>
          </p:cNvPr>
          <p:cNvSpPr>
            <a:spLocks noGrp="1"/>
          </p:cNvSpPr>
          <p:nvPr>
            <p:ph type="title"/>
          </p:nvPr>
        </p:nvSpPr>
        <p:spPr>
          <a:xfrm>
            <a:off x="758536" y="103910"/>
            <a:ext cx="10595264" cy="955964"/>
          </a:xfrm>
        </p:spPr>
        <p:txBody>
          <a:bodyPr/>
          <a:lstStyle/>
          <a:p>
            <a:pPr algn="r" rtl="1"/>
            <a:r>
              <a:rPr lang="ar-LB" dirty="0"/>
              <a:t>الخلافة:</a:t>
            </a:r>
            <a:endParaRPr lang="en-US" dirty="0"/>
          </a:p>
        </p:txBody>
      </p:sp>
      <p:sp>
        <p:nvSpPr>
          <p:cNvPr id="3" name="Content Placeholder 2">
            <a:extLst>
              <a:ext uri="{FF2B5EF4-FFF2-40B4-BE49-F238E27FC236}">
                <a16:creationId xmlns:a16="http://schemas.microsoft.com/office/drawing/2014/main" id="{BF2DCD73-7571-D74A-BFFE-B08F6AE61206}"/>
              </a:ext>
            </a:extLst>
          </p:cNvPr>
          <p:cNvSpPr>
            <a:spLocks noGrp="1"/>
          </p:cNvSpPr>
          <p:nvPr>
            <p:ph idx="1"/>
          </p:nvPr>
        </p:nvSpPr>
        <p:spPr>
          <a:xfrm>
            <a:off x="304800" y="727364"/>
            <a:ext cx="11655136" cy="6026726"/>
          </a:xfrm>
        </p:spPr>
        <p:txBody>
          <a:bodyPr>
            <a:normAutofit/>
          </a:bodyPr>
          <a:lstStyle/>
          <a:p>
            <a:pPr algn="r" rtl="1"/>
            <a:r>
              <a:rPr lang="ar-LB" sz="2400" dirty="0"/>
              <a:t>فكرة الخلافة هي فكرة تولي سلطة الدين والدولة والشرع بعد وفاة رسول الإسلام او إستكمال عمل رسول الإسلام و"إنجازاته" بعد وفاة الرسول.</a:t>
            </a:r>
          </a:p>
          <a:p>
            <a:pPr algn="r" rtl="1"/>
            <a:r>
              <a:rPr lang="ar-LB" sz="2400" dirty="0"/>
              <a:t>الإسلام بصورة عامة لا يحدد كيفية إنتقال الحكم من الرسول للخليفة أو من الخليفة للخليفة الآخر يضع فكر الشورة.</a:t>
            </a:r>
          </a:p>
          <a:p>
            <a:pPr algn="r" rtl="1"/>
            <a:r>
              <a:rPr lang="ar-LB" sz="2400" dirty="0"/>
              <a:t>الشيعة الإثنا عشرية تعتقد ان السلطة بعد رسول الإسلام هي للإمام علي بن أبي طالب ثم لابنه الحسن ثم لأخيه الحسين وصولا للإمام المهدي الذي يعتقدونه أنه هو الخليفة الحالي.</a:t>
            </a:r>
          </a:p>
          <a:p>
            <a:pPr algn="r" rtl="1"/>
            <a:r>
              <a:rPr lang="ar-LB" sz="2400" dirty="0"/>
              <a:t>السنة إلى حد كبير تعترف وتقدر كل الذين تولوا السلطة الإسلامية بعد رسول الإسلام حتى لو كان هناك خصومة أو حتى دماء بين طرف وطرف آخر فهي تترضى عن الجميع.</a:t>
            </a:r>
          </a:p>
          <a:p>
            <a:pPr algn="r" rtl="1"/>
            <a:r>
              <a:rPr lang="ar-LB" sz="2400" dirty="0"/>
              <a:t>مراحل الخلافة يمكن أن تتوزع بين فترات الخلافة الراشدة: أي الخلفاء الأربعة الأوائل أبو بكر وعمر وعمر وعثمان وعلي وامتدت من 11 هـ وصولا إلى 40 هـ وكانت تضم إجمالا أراضي شبه الجزيرة العربية وتوسعت للشرق الأوسط.</a:t>
            </a:r>
          </a:p>
          <a:p>
            <a:pPr algn="r" rtl="1"/>
            <a:r>
              <a:rPr lang="ar-LB" sz="2400" dirty="0"/>
              <a:t>الخلافة الأموية: الفترة التي استلم الحكم فيها بنو أمية من 41 هـ وصولا إلى 132 هـ و أكثر فترة سجلت فيها توسعا للنفوذ الإسلامية.</a:t>
            </a:r>
          </a:p>
          <a:p>
            <a:pPr algn="r" rtl="1"/>
            <a:r>
              <a:rPr lang="ar-LB" sz="2400" dirty="0"/>
              <a:t>الخلافة العباسية: امتدت من 132 هـ وصولا 656 هـ.</a:t>
            </a:r>
          </a:p>
          <a:p>
            <a:pPr algn="r" rtl="1"/>
            <a:r>
              <a:rPr lang="ar-LB" sz="2400" dirty="0"/>
              <a:t>عداك عن خلافات أخرى الفاطمية 348 هـ 567 هـ حكمت بمنهج شيعي إسماعيلي وكانت تسيطر على اراض منها مصر عداك عن السلاجقة والقرامطة والحمدانيين وغيرهم.</a:t>
            </a:r>
            <a:endParaRPr lang="en-US" sz="2400" dirty="0"/>
          </a:p>
        </p:txBody>
      </p:sp>
    </p:spTree>
    <p:extLst>
      <p:ext uri="{BB962C8B-B14F-4D97-AF65-F5344CB8AC3E}">
        <p14:creationId xmlns:p14="http://schemas.microsoft.com/office/powerpoint/2010/main" val="2757434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427B-53BE-D5F6-3C0C-8667E9E7F157}"/>
              </a:ext>
            </a:extLst>
          </p:cNvPr>
          <p:cNvSpPr>
            <a:spLocks noGrp="1"/>
          </p:cNvSpPr>
          <p:nvPr>
            <p:ph type="title"/>
          </p:nvPr>
        </p:nvSpPr>
        <p:spPr>
          <a:xfrm>
            <a:off x="838199" y="78659"/>
            <a:ext cx="10763865" cy="1091380"/>
          </a:xfrm>
        </p:spPr>
        <p:txBody>
          <a:bodyPr/>
          <a:lstStyle/>
          <a:p>
            <a:pPr algn="r" rtl="1"/>
            <a:r>
              <a:rPr lang="ar-LB" dirty="0"/>
              <a:t>الخلافة الراشدة:</a:t>
            </a:r>
            <a:endParaRPr lang="en-US" dirty="0"/>
          </a:p>
        </p:txBody>
      </p:sp>
      <p:sp>
        <p:nvSpPr>
          <p:cNvPr id="3" name="Content Placeholder 2">
            <a:extLst>
              <a:ext uri="{FF2B5EF4-FFF2-40B4-BE49-F238E27FC236}">
                <a16:creationId xmlns:a16="http://schemas.microsoft.com/office/drawing/2014/main" id="{6AB886FE-F449-D9BD-5CA2-4687E8C344D5}"/>
              </a:ext>
            </a:extLst>
          </p:cNvPr>
          <p:cNvSpPr>
            <a:spLocks noGrp="1"/>
          </p:cNvSpPr>
          <p:nvPr>
            <p:ph idx="1"/>
          </p:nvPr>
        </p:nvSpPr>
        <p:spPr>
          <a:xfrm>
            <a:off x="511277" y="1022556"/>
            <a:ext cx="11090787" cy="5154408"/>
          </a:xfrm>
        </p:spPr>
        <p:txBody>
          <a:bodyPr>
            <a:normAutofit/>
          </a:bodyPr>
          <a:lstStyle/>
          <a:p>
            <a:pPr algn="r" rtl="1"/>
            <a:r>
              <a:rPr lang="ar-LB" sz="2400" dirty="0"/>
              <a:t>الخليفة الأول أبو بكر الصديق او عبد الله بن أبي قحافة والد زوجة رسول الإسلام عائشة, والذي يعتبر من الأوائل الذين دخلوا في الإسلام وكان اسمه قبل الإسلام عبد الكعبة. استلم الخلافة منذ وفاة رسول الإسلام في السنة 11هـ حتى وفاته, في السنة 13 هـ.</a:t>
            </a:r>
          </a:p>
          <a:p>
            <a:pPr algn="r" rtl="1"/>
            <a:r>
              <a:rPr lang="ar-LB" sz="2400" dirty="0"/>
              <a:t>الخليفة الثاني عمر بن الخطاب ووالدة زوجة رسول الإسلام حفصة, والذي تولى السلطة بعد أبو بكر واشتهر عهده ب"الفتوحات" ودخل مناطق كثيرة استلم الخلافة من 13 هـ إلى 23 هـ توفي أبو عمر بن الخطاب قتلا بعد أن قتله أبو لؤلؤة الفارسي المجوسي. </a:t>
            </a:r>
          </a:p>
          <a:p>
            <a:pPr algn="r" rtl="1"/>
            <a:r>
              <a:rPr lang="ar-LB" sz="2400" dirty="0"/>
              <a:t>الخليفة الثالث: عثمان بن عفان متزوج من ابنة رسول الإسلام رقية الذي تولى السلطة منذ مقتل عمر بن الخطاب في 23 هـ وصولا إلى 35 هـ قتل عثمان بن عفان في ما يسمى في الفتنة قتلوه وهو يصلي.</a:t>
            </a:r>
          </a:p>
          <a:p>
            <a:pPr algn="r" rtl="1"/>
            <a:r>
              <a:rPr lang="ar-LB" sz="2400" dirty="0"/>
              <a:t>الخليفة الرابع: علي بن أبي طالب والذي تولى الخلافة من بعد الخليفة عثمان بن عفان يطلق عليه الشيعة عموما لقب الإمام ويعتبرونه أحق من غيره بالخلافة وأنها اغتصبت منه بالقوة حدث شروخ وانقسامات على أيامه بدأت تخلق في أيامه ما يسمى بالدولة الأموية التي كانت عاصمتها الشام.</a:t>
            </a:r>
          </a:p>
          <a:p>
            <a:pPr algn="r" rtl="1"/>
            <a:r>
              <a:rPr lang="ar-LB" sz="2400" dirty="0"/>
              <a:t>الخليفة الخامس: الحسن بن علي عادة لا يعتبر خليفة خامس لأن ما لبث ان اضطر للتنازل عن السلطة للدولة الأموية وخليفتها معاوية بن أبي سفيان. </a:t>
            </a:r>
          </a:p>
          <a:p>
            <a:pPr algn="r" rtl="1"/>
            <a:endParaRPr lang="en-US" sz="2400" dirty="0"/>
          </a:p>
        </p:txBody>
      </p:sp>
    </p:spTree>
    <p:extLst>
      <p:ext uri="{BB962C8B-B14F-4D97-AF65-F5344CB8AC3E}">
        <p14:creationId xmlns:p14="http://schemas.microsoft.com/office/powerpoint/2010/main" val="1020481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BE021-CA7A-42DD-D592-3403B3E06240}"/>
              </a:ext>
            </a:extLst>
          </p:cNvPr>
          <p:cNvSpPr>
            <a:spLocks noGrp="1"/>
          </p:cNvSpPr>
          <p:nvPr>
            <p:ph type="title"/>
          </p:nvPr>
        </p:nvSpPr>
        <p:spPr>
          <a:xfrm>
            <a:off x="838200" y="1"/>
            <a:ext cx="10515600" cy="1130709"/>
          </a:xfrm>
        </p:spPr>
        <p:txBody>
          <a:bodyPr/>
          <a:lstStyle/>
          <a:p>
            <a:pPr algn="r"/>
            <a:r>
              <a:rPr lang="ar-LB" dirty="0"/>
              <a:t>الخليفة الأول أبكر:</a:t>
            </a:r>
            <a:endParaRPr lang="en-US" dirty="0"/>
          </a:p>
        </p:txBody>
      </p:sp>
      <p:sp>
        <p:nvSpPr>
          <p:cNvPr id="3" name="Content Placeholder 2">
            <a:extLst>
              <a:ext uri="{FF2B5EF4-FFF2-40B4-BE49-F238E27FC236}">
                <a16:creationId xmlns:a16="http://schemas.microsoft.com/office/drawing/2014/main" id="{4CA1A357-94A3-C9A6-B672-B3DEC55EEDC7}"/>
              </a:ext>
            </a:extLst>
          </p:cNvPr>
          <p:cNvSpPr>
            <a:spLocks noGrp="1"/>
          </p:cNvSpPr>
          <p:nvPr>
            <p:ph idx="1"/>
          </p:nvPr>
        </p:nvSpPr>
        <p:spPr>
          <a:xfrm>
            <a:off x="137652" y="865238"/>
            <a:ext cx="11729883" cy="5909187"/>
          </a:xfrm>
        </p:spPr>
        <p:txBody>
          <a:bodyPr>
            <a:normAutofit lnSpcReduction="10000"/>
          </a:bodyPr>
          <a:lstStyle/>
          <a:p>
            <a:pPr algn="r" rtl="1"/>
            <a:r>
              <a:rPr lang="ar-LB" sz="2400" dirty="0"/>
              <a:t>مرض رسول الإسلام واشتد عليه المرض فطلب رسول الإسلام من الصحابة ان يأتوه بكتاب ليكتب للمؤمنين ما لا يضلون بعده أبدا فقال وقتها عمر بن الخطاب إن الرسول ليهجر أي اصابه الخرف.</a:t>
            </a:r>
          </a:p>
          <a:p>
            <a:pPr algn="r" rtl="1"/>
            <a:r>
              <a:rPr lang="ar-LB" sz="2400" dirty="0"/>
              <a:t>اجتمع الأنصار أي أهل المدينة والتفوا واختاروا زعيم الخزرج سعد بن عبادة في ما يسمى سقيفة بني ساعدة.</a:t>
            </a:r>
          </a:p>
          <a:p>
            <a:pPr algn="r" rtl="1"/>
            <a:r>
              <a:rPr lang="ar-LB" sz="2400" dirty="0"/>
              <a:t>سمع المهاجرين أي أهل مكة وصولوا الى السقيفة التي هي قرب المدينة أبرزهم أبو بكر وعمر أبو عبيدة بن الجراح اكدوا ان المهاجرين أحق بالمبياعة وأحق السلطة بويع أبو بكر.</a:t>
            </a:r>
          </a:p>
          <a:p>
            <a:pPr algn="r" rtl="1"/>
            <a:r>
              <a:rPr lang="ar-LB" sz="2400" dirty="0"/>
              <a:t>علي بن ابي طالب كان منشغلا في غسل رسول الإسلام ودفنه ورثائه في وقت الذي أعلن أبو بكر خليفة على المسلمين اعتبرها إغتصابا بعد أن أوصى النبي.</a:t>
            </a:r>
          </a:p>
          <a:p>
            <a:pPr algn="r" rtl="1"/>
            <a:r>
              <a:rPr lang="ar-LB" sz="2400" dirty="0"/>
              <a:t>علي قبل بعد فترة التعاون مع الخليفة الأول في إدارة شؤون منظور سني يعتبر ان علي بن ابي طالب تصالح مع أبو بكر لكن المنظور الشيعي يعتبر هذا الشيء فقط من أجل ان لا يحصل شرخ في الأمة فعلي من منظورهم أحق بالخلافة ولكن تنازله كان من أجل الدين.</a:t>
            </a:r>
          </a:p>
          <a:p>
            <a:pPr algn="r" rtl="1"/>
            <a:r>
              <a:rPr lang="ar-LB" sz="2400" dirty="0"/>
              <a:t>أبو بكر حرم بنت من ميراث فاطمة بنت الرسول وزوجة علي أبرزها أرض فدك التي اغتنمها المسلمين من خيبر بحجة أن الأنبياء لا يورثون من منظور سني يؤيد فعل أبو بكر على الرغم من ان السنة يعتبرون ان فاطمة سيدة نساء العالمين, بينما الشيعة يعتبرون أيضا أن أبو بكر اغتصب الأرض منها.</a:t>
            </a:r>
          </a:p>
          <a:p>
            <a:pPr algn="r" rtl="1"/>
            <a:r>
              <a:rPr lang="ar-LB" sz="2400" dirty="0"/>
              <a:t>إرتد عدد كبير من المسلمين ومنهم من رفض دفع الزكاة وغيرهم من ارتد فأمر أبو بكر خالد بن الوليد بقتلهم إضافة إلى معركة اليمامة التي خاضها المسلمين ضد جيش مسيلمة الذي ادعى النبوة.</a:t>
            </a:r>
          </a:p>
          <a:p>
            <a:pPr algn="r" rtl="1"/>
            <a:r>
              <a:rPr lang="ar-LB" sz="2400" dirty="0"/>
              <a:t>توفي أبو بكر وأوصى بالخلافة لعمر بالخلافة لعمر ودفن جنب رسول الإسلام.</a:t>
            </a:r>
          </a:p>
        </p:txBody>
      </p:sp>
    </p:spTree>
    <p:extLst>
      <p:ext uri="{BB962C8B-B14F-4D97-AF65-F5344CB8AC3E}">
        <p14:creationId xmlns:p14="http://schemas.microsoft.com/office/powerpoint/2010/main" val="3707720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3621-B469-5DF1-64FC-920737F62F0E}"/>
              </a:ext>
            </a:extLst>
          </p:cNvPr>
          <p:cNvSpPr>
            <a:spLocks noGrp="1"/>
          </p:cNvSpPr>
          <p:nvPr>
            <p:ph type="title"/>
          </p:nvPr>
        </p:nvSpPr>
        <p:spPr>
          <a:xfrm>
            <a:off x="936523" y="0"/>
            <a:ext cx="10515600" cy="953729"/>
          </a:xfrm>
        </p:spPr>
        <p:txBody>
          <a:bodyPr/>
          <a:lstStyle/>
          <a:p>
            <a:pPr algn="r" rtl="1"/>
            <a:r>
              <a:rPr lang="ar-LB" dirty="0"/>
              <a:t>الخليفة الثاني عمر:</a:t>
            </a:r>
            <a:endParaRPr lang="en-US" dirty="0"/>
          </a:p>
        </p:txBody>
      </p:sp>
      <p:sp>
        <p:nvSpPr>
          <p:cNvPr id="3" name="Content Placeholder 2">
            <a:extLst>
              <a:ext uri="{FF2B5EF4-FFF2-40B4-BE49-F238E27FC236}">
                <a16:creationId xmlns:a16="http://schemas.microsoft.com/office/drawing/2014/main" id="{A47A4CF1-0D7D-E350-BE20-3A9823BED092}"/>
              </a:ext>
            </a:extLst>
          </p:cNvPr>
          <p:cNvSpPr>
            <a:spLocks noGrp="1"/>
          </p:cNvSpPr>
          <p:nvPr>
            <p:ph idx="1"/>
          </p:nvPr>
        </p:nvSpPr>
        <p:spPr>
          <a:xfrm>
            <a:off x="196646" y="698090"/>
            <a:ext cx="11995354" cy="6159909"/>
          </a:xfrm>
        </p:spPr>
        <p:txBody>
          <a:bodyPr>
            <a:normAutofit fontScale="77500" lnSpcReduction="20000"/>
          </a:bodyPr>
          <a:lstStyle/>
          <a:p>
            <a:pPr algn="r" rtl="1"/>
            <a:r>
              <a:rPr lang="ar-LB" sz="3100" dirty="0"/>
              <a:t>استلم عمر الخلافة علي ايضا تعاون مع كمستشار كما كان مع أبو بكر منظور الشيعي لوحدة الصف ولكن يبقى هو الوصي والأحق بالخلافة, من منظور سني يرى يراها مبايعة وقبول علي بسلطة عمر.</a:t>
            </a:r>
          </a:p>
          <a:p>
            <a:pPr algn="r" rtl="1"/>
            <a:r>
              <a:rPr lang="ar-LB" sz="3100" dirty="0"/>
              <a:t>خاض عمر معارك ضد البيزنطيين وضد الفرس ومصر وبعض مناطق شمال وتولى عمرو ابن العاص ولاية مصر يعتقد وغيرها, هنا تجدر الإشارة إلى اتهام أهل السنة الشيعة بكره عمر ليس حبا بعلي فالسنة أيضا يحبون علي بل لأن عمر بلاد الفرس فالسنة يسنبون الشيعة عموما وخصوصا 12 للإمباطورية الصفوية التي نشأت لاحقا على مذهب الشيعة وأيضا عبد الله بن سبأ اليهودي.</a:t>
            </a:r>
          </a:p>
          <a:p>
            <a:pPr algn="r" rtl="1"/>
            <a:r>
              <a:rPr lang="ar-LB" sz="3100" dirty="0"/>
              <a:t>حدث نزاع بين عمر وفاطمة أيام الخليفة الأول أبو بكر لإصرار الخليفة عمر لفاطمة على مبايعة أبو بكر من منظور يركز أكثر على هذا النزاع ويروي أن عمر اعتدى على بيت علي بن أبي طالب  وكسر ضلع الزهراء واسقط جنينها المحسن رغم ان بعض مشايخ الشيعة حديثا صارت تتهرب من هذه الرواية فهي من منظورهم تظهر علي بهيئة الغير شجاع وهذه الصفة بالنسبة لهم حاشا أن تكون لعلي.</a:t>
            </a:r>
          </a:p>
          <a:p>
            <a:pPr algn="r" rtl="1"/>
            <a:r>
              <a:rPr lang="ar-LB" sz="3100" dirty="0"/>
              <a:t>وضع المناطق التي احتلها العهدة التي يعتبرها اليوم المستشرقين أن من أشهد أنواع الحكم عنصرية تجاه الأعراق والأديان الأخرى.</a:t>
            </a:r>
          </a:p>
          <a:p>
            <a:pPr algn="r" rtl="1"/>
            <a:r>
              <a:rPr lang="ar-LB" sz="3100" dirty="0"/>
              <a:t>كانت الشخصية المفضلة عند الخليفة الثاني أبو عبيدة بن الجراح ولكن توفي خلال فترة حكم عمر بن الخطاب 18هـ.</a:t>
            </a:r>
          </a:p>
          <a:p>
            <a:pPr algn="r" rtl="1"/>
            <a:r>
              <a:rPr lang="ar-LB" sz="3100" dirty="0"/>
              <a:t>أحد اهم الأحداث الغريبة عن عمر بن الخطاب ضربه لابو هريرة الذي نقل جزء كبير من الأحاديث في الصحاح واتهامه بالكذب على رسول الإسلام موقف أهل السنة أن الترضي عن عن عمر وابو هريرة وبينما الشيعية يتهمون كلاهما بالنفاق والكذب.</a:t>
            </a:r>
          </a:p>
          <a:p>
            <a:pPr algn="r" rtl="1"/>
            <a:r>
              <a:rPr lang="ar-LB" sz="3100" dirty="0"/>
              <a:t>أوصى عمر ابن الخطاب بالخلافة من بعده بطريقة غريبة جدا وغامضة بعد أن طعن من أبو لؤلؤة وأحس أن عمره انتهى جمع علي بن أبي طالب وعثمان بن عفان وعبد الرحمن بن عوف وسعد بن أبي وقاص والزبير بن العوام وطلحة بن عبيد الله ليختاروا من بينهم خليفة واي شخص يخرج عن الإجماع او عن رأي الأكثرية يقتل.</a:t>
            </a:r>
          </a:p>
          <a:p>
            <a:pPr algn="r" rtl="1"/>
            <a:r>
              <a:rPr lang="ar-LB" sz="3100" dirty="0"/>
              <a:t>دفن في جوار رسول الإسلام وأبو بكر</a:t>
            </a:r>
            <a:r>
              <a:rPr lang="ar-LB" sz="2600" dirty="0"/>
              <a:t>.</a:t>
            </a:r>
          </a:p>
          <a:p>
            <a:pPr marL="0" indent="0" algn="r" rtl="1">
              <a:buNone/>
            </a:pPr>
            <a:endParaRPr lang="en-US" sz="2400" dirty="0"/>
          </a:p>
        </p:txBody>
      </p:sp>
    </p:spTree>
    <p:extLst>
      <p:ext uri="{BB962C8B-B14F-4D97-AF65-F5344CB8AC3E}">
        <p14:creationId xmlns:p14="http://schemas.microsoft.com/office/powerpoint/2010/main" val="3595008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9DB7C-1435-2D2E-2A27-B873B04CCF80}"/>
              </a:ext>
            </a:extLst>
          </p:cNvPr>
          <p:cNvSpPr>
            <a:spLocks noGrp="1"/>
          </p:cNvSpPr>
          <p:nvPr>
            <p:ph type="title"/>
          </p:nvPr>
        </p:nvSpPr>
        <p:spPr>
          <a:xfrm>
            <a:off x="838200" y="137653"/>
            <a:ext cx="10515600" cy="707921"/>
          </a:xfrm>
        </p:spPr>
        <p:txBody>
          <a:bodyPr/>
          <a:lstStyle/>
          <a:p>
            <a:pPr algn="r" rtl="1"/>
            <a:r>
              <a:rPr lang="ar-LB" dirty="0"/>
              <a:t>الخليفة الثالث عثمان:</a:t>
            </a:r>
            <a:endParaRPr lang="en-US" dirty="0"/>
          </a:p>
        </p:txBody>
      </p:sp>
      <p:sp>
        <p:nvSpPr>
          <p:cNvPr id="3" name="Content Placeholder 2">
            <a:extLst>
              <a:ext uri="{FF2B5EF4-FFF2-40B4-BE49-F238E27FC236}">
                <a16:creationId xmlns:a16="http://schemas.microsoft.com/office/drawing/2014/main" id="{95EBA791-07E5-1D7A-BE2C-EA4D3E2D3B25}"/>
              </a:ext>
            </a:extLst>
          </p:cNvPr>
          <p:cNvSpPr>
            <a:spLocks noGrp="1"/>
          </p:cNvSpPr>
          <p:nvPr>
            <p:ph idx="1"/>
          </p:nvPr>
        </p:nvSpPr>
        <p:spPr>
          <a:xfrm>
            <a:off x="314632" y="737419"/>
            <a:ext cx="11661058" cy="5751871"/>
          </a:xfrm>
        </p:spPr>
        <p:txBody>
          <a:bodyPr>
            <a:normAutofit/>
          </a:bodyPr>
          <a:lstStyle/>
          <a:p>
            <a:pPr algn="r" rtl="1"/>
            <a:r>
              <a:rPr lang="ar-LB" sz="2400" dirty="0"/>
              <a:t>الخليفة الثالث عثمان بن عفان وهو من نسب بني أمية حديث توسع للدولة وكان على علاقة مع والي الشام الذي عين من الخليفة الثاني عمر معاوية بن سفيان.</a:t>
            </a:r>
          </a:p>
          <a:p>
            <a:pPr algn="r" rtl="1"/>
            <a:r>
              <a:rPr lang="ar-LB" sz="2400" dirty="0"/>
              <a:t>الشيعة أيضا يعتبرون أن علي وأن عمر بن الخطاب كل هذه الخديعة ليولي عثمان السلطة على الرغم من هذا فإن أبناء علي بن أبي طالب كان تشارك في المعارك التي يقدوها.</a:t>
            </a:r>
          </a:p>
          <a:p>
            <a:pPr algn="r" rtl="1"/>
            <a:r>
              <a:rPr lang="ar-LB" sz="2400" dirty="0"/>
              <a:t>كانت عائشة أرملة رسول الإسلام غير راضية عن خلافة عثمان عداك عن بعض الشخصيات من صفها مثل طلحة والزبير وغيرها.</a:t>
            </a:r>
          </a:p>
          <a:p>
            <a:pPr algn="r" rtl="1"/>
            <a:r>
              <a:rPr lang="ar-LB" sz="2400" dirty="0"/>
              <a:t>اتهم عثمان بالفساد من قبل مجموعة من القبائل العربية واتههم بعضهم بأن يختار مستشارين غير كفوئين لتولى المناصب.</a:t>
            </a:r>
          </a:p>
          <a:p>
            <a:pPr algn="r" rtl="1"/>
            <a:r>
              <a:rPr lang="ar-LB" sz="2400" dirty="0"/>
              <a:t>من المشهور أن عائشة بنت أبي بكر كانت تتهم بأمور كثيرة مخلة الآداب وذكر كثير من الأمور بقولها اقتلوا نعثلا فقد كفر.</a:t>
            </a:r>
          </a:p>
          <a:p>
            <a:pPr algn="r" rtl="1"/>
            <a:r>
              <a:rPr lang="ar-LB" sz="2400" dirty="0"/>
              <a:t>من الشخصيات التي تعتبر أنها أول من جمعت او تتمت جمع القرآن بعدما تم إحراق المصاحف الأخرى من قبل الخليفة عثمان ويعتقد الكثير من المسلمين أن القرآن الحالي هو نفسه قرآن او مصحف عثمان.</a:t>
            </a:r>
          </a:p>
          <a:p>
            <a:pPr algn="r" rtl="1"/>
            <a:r>
              <a:rPr lang="ar-LB" sz="2400" dirty="0"/>
              <a:t>نتيجية للإضرابات والفساد تم قتل الخليفة الثالث في أحداث ما يسمى الفتنة الكبرى دون أن يوصي أحد بتولي من بعد زمام الخلافة. </a:t>
            </a:r>
          </a:p>
          <a:p>
            <a:pPr algn="r" rtl="1"/>
            <a:endParaRPr lang="en-US" sz="2400" dirty="0"/>
          </a:p>
        </p:txBody>
      </p:sp>
    </p:spTree>
    <p:extLst>
      <p:ext uri="{BB962C8B-B14F-4D97-AF65-F5344CB8AC3E}">
        <p14:creationId xmlns:p14="http://schemas.microsoft.com/office/powerpoint/2010/main" val="3975454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CE9CC-3AE8-2351-3DB1-D513E49F0F14}"/>
              </a:ext>
            </a:extLst>
          </p:cNvPr>
          <p:cNvSpPr>
            <a:spLocks noGrp="1"/>
          </p:cNvSpPr>
          <p:nvPr>
            <p:ph type="title"/>
          </p:nvPr>
        </p:nvSpPr>
        <p:spPr>
          <a:xfrm>
            <a:off x="1253613" y="0"/>
            <a:ext cx="10515600" cy="785249"/>
          </a:xfrm>
        </p:spPr>
        <p:txBody>
          <a:bodyPr/>
          <a:lstStyle/>
          <a:p>
            <a:pPr algn="r"/>
            <a:r>
              <a:rPr lang="ar-LB" dirty="0"/>
              <a:t>الخليفة الرابع علي:</a:t>
            </a:r>
            <a:endParaRPr lang="en-US" dirty="0"/>
          </a:p>
        </p:txBody>
      </p:sp>
      <p:sp>
        <p:nvSpPr>
          <p:cNvPr id="3" name="Content Placeholder 2">
            <a:extLst>
              <a:ext uri="{FF2B5EF4-FFF2-40B4-BE49-F238E27FC236}">
                <a16:creationId xmlns:a16="http://schemas.microsoft.com/office/drawing/2014/main" id="{A6866DB6-BC9F-092E-57BE-5651E54B4592}"/>
              </a:ext>
            </a:extLst>
          </p:cNvPr>
          <p:cNvSpPr>
            <a:spLocks noGrp="1"/>
          </p:cNvSpPr>
          <p:nvPr>
            <p:ph idx="1"/>
          </p:nvPr>
        </p:nvSpPr>
        <p:spPr>
          <a:xfrm>
            <a:off x="127819" y="698089"/>
            <a:ext cx="11887200" cy="6037007"/>
          </a:xfrm>
        </p:spPr>
        <p:txBody>
          <a:bodyPr>
            <a:normAutofit/>
          </a:bodyPr>
          <a:lstStyle/>
          <a:p>
            <a:pPr algn="r" rtl="1"/>
            <a:r>
              <a:rPr lang="ar-LB" sz="2400" dirty="0"/>
              <a:t>الخليفة الرابع او الإمام الأول عند الشيعة علي بن أبي طالب ولقب بأبا الحسن,</a:t>
            </a:r>
            <a:r>
              <a:rPr lang="en-US" sz="2400" dirty="0"/>
              <a:t> </a:t>
            </a:r>
            <a:r>
              <a:rPr lang="ar-LB" sz="2400" dirty="0"/>
              <a:t>يلقب بالمرتضى والكرار وحيدر وذو الفقار وغيرها.</a:t>
            </a:r>
          </a:p>
          <a:p>
            <a:pPr algn="r" rtl="1"/>
            <a:r>
              <a:rPr lang="ar-LB" sz="2400" dirty="0"/>
              <a:t>علي بن أبي طالب كان ابن عم رسول الإسلام وزج ابنته فاطمة المعروفة بفاطمة الزهراء التي تعتبر من مفهوم إسلامي سيدة نساء العالمين او واحدة من سيدات نساء العالمين وهي معصومة عن الخطيئة وزوجها علي من منظور شيعي.</a:t>
            </a:r>
          </a:p>
          <a:p>
            <a:pPr algn="r" rtl="1"/>
            <a:r>
              <a:rPr lang="ar-LB" sz="2400" dirty="0"/>
              <a:t>إثر وفاة الخليفة عثمان بن عفان بايع عدد من الأنصار علي بن ابي طالب لكن من جهة رفضت عائشة زوجة رسول الإسلام هذه البيعة ورفضها ايضا معاوية بن أبي سفان.</a:t>
            </a:r>
          </a:p>
          <a:p>
            <a:pPr algn="r" rtl="1"/>
            <a:r>
              <a:rPr lang="ar-LB" sz="2400" dirty="0"/>
              <a:t>حكم علي بن أبي طالب 5 سنوات حفل عهده بالحروب والإنقسامات, بدأت بحرب الجمل التي قادتها عائشة  مع طلحة بن عبيد الله والزبير ابن العوام, ضد خلافة علي بن أبي طالب بحجة الإقتصاص من قتلة عثمان وكان محمد بن أبو بكر الأخ الغير الشقيق لعائشة إلى جانب علي انتهت بفوز جيش علي بعد مقتل أكثر عشرة آلاف من الطرفين وقتل جمل عائشة.</a:t>
            </a:r>
          </a:p>
          <a:p>
            <a:pPr algn="r" rtl="1"/>
            <a:r>
              <a:rPr lang="ar-LB" sz="2400" dirty="0"/>
              <a:t>معركة صفين بعد انشقاق الخلافة الإسلامية وخصوصا بعد رفض معاوية مبايعة علي بن أبي طالب وشتمه في منابر الشام, حدثت معركة صفين بين الإمام علي لكي يبايع معاوية علي وهي منطقة قريبة من الرقة السورية كادت ان تنهى بانتصار علي لولا لجنة التحكيم التي ابتدعها عمرو ابن العاص لانقاذ معاوية ووضع المصاحف على السيوف التي قبل بها علي بن أبي طالب ورفضتها فرقة من اصحابه سمو انفسهم بالمحكمة وسماهم اتباع علي بالخوارج قتل إثر المعركة 40 ألف شخص.</a:t>
            </a:r>
          </a:p>
          <a:p>
            <a:pPr algn="r" rtl="1"/>
            <a:r>
              <a:rPr lang="ar-LB" sz="2400" dirty="0"/>
              <a:t>آخر معركة هي معارك علي بن أبي طالب مع الخوارج وتذبيحه قتل بمعاركهم معهم 4 آلاف شخص, حتى انتهت خلافته بمقتل من أحد الخوارج وهو يصلي. </a:t>
            </a:r>
          </a:p>
          <a:p>
            <a:pPr algn="r" rtl="1"/>
            <a:endParaRPr lang="en-US" sz="2400" dirty="0"/>
          </a:p>
        </p:txBody>
      </p:sp>
    </p:spTree>
    <p:extLst>
      <p:ext uri="{BB962C8B-B14F-4D97-AF65-F5344CB8AC3E}">
        <p14:creationId xmlns:p14="http://schemas.microsoft.com/office/powerpoint/2010/main" val="3828700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3A2A-5B83-3D45-AA8F-AAA0D611A01F}"/>
              </a:ext>
            </a:extLst>
          </p:cNvPr>
          <p:cNvSpPr>
            <a:spLocks noGrp="1"/>
          </p:cNvSpPr>
          <p:nvPr>
            <p:ph type="title"/>
          </p:nvPr>
        </p:nvSpPr>
        <p:spPr>
          <a:xfrm>
            <a:off x="1381432" y="-99732"/>
            <a:ext cx="10515600" cy="955139"/>
          </a:xfrm>
        </p:spPr>
        <p:txBody>
          <a:bodyPr/>
          <a:lstStyle/>
          <a:p>
            <a:pPr algn="r" rtl="1"/>
            <a:r>
              <a:rPr lang="ar-LB" dirty="0"/>
              <a:t>الخليفة الخامس الحسن بن علي:</a:t>
            </a:r>
            <a:endParaRPr lang="en-US" dirty="0"/>
          </a:p>
        </p:txBody>
      </p:sp>
      <p:sp>
        <p:nvSpPr>
          <p:cNvPr id="3" name="Content Placeholder 2">
            <a:extLst>
              <a:ext uri="{FF2B5EF4-FFF2-40B4-BE49-F238E27FC236}">
                <a16:creationId xmlns:a16="http://schemas.microsoft.com/office/drawing/2014/main" id="{9BC93DC8-A122-12E6-8727-77AAB567FA90}"/>
              </a:ext>
            </a:extLst>
          </p:cNvPr>
          <p:cNvSpPr>
            <a:spLocks noGrp="1"/>
          </p:cNvSpPr>
          <p:nvPr>
            <p:ph idx="1"/>
          </p:nvPr>
        </p:nvSpPr>
        <p:spPr>
          <a:xfrm>
            <a:off x="550606" y="658761"/>
            <a:ext cx="11346426" cy="4277033"/>
          </a:xfrm>
        </p:spPr>
        <p:txBody>
          <a:bodyPr>
            <a:normAutofit/>
          </a:bodyPr>
          <a:lstStyle/>
          <a:p>
            <a:pPr algn="r" rtl="1"/>
            <a:r>
              <a:rPr lang="ar-LB" sz="2400" dirty="0"/>
              <a:t>الحسن بن علي لا ينظر إليه كخليفة خامس لأنه وقتها ما لبث إلا أن بايع والي الشام التي أصحاب الشام بايعوه في عهد والده معاوية بن أبي سفيان, بعد أن كان معاوية وأخوه يزيد ولاة للشام في عهد الخليفيتين الثاني والثالث.</a:t>
            </a:r>
          </a:p>
          <a:p>
            <a:pPr algn="r" rtl="1"/>
            <a:r>
              <a:rPr lang="ar-LB" sz="2400" dirty="0"/>
              <a:t>هناك رويات كثيرة كانت تقول عن الحسن أنه مزواج مطلاق وقد قال ذلك عنه والده علي بن أبي طالب ذلك.</a:t>
            </a:r>
          </a:p>
          <a:p>
            <a:pPr algn="r" rtl="1"/>
            <a:r>
              <a:rPr lang="ar-LB" sz="2400" dirty="0"/>
              <a:t>يعتبر الإمام الثاني والأحق بالخلافة بعد والده علي بن أبي طالب من منظور شيعي إثني عشري وإسماعيلي وهو معصوم من منظورهم أيضا.</a:t>
            </a:r>
          </a:p>
          <a:p>
            <a:pPr algn="r" rtl="1"/>
            <a:r>
              <a:rPr lang="ar-LB" sz="2400" dirty="0"/>
              <a:t>في عهده كانت الدولة الأموية في حال أفضل بكثير فلم يكن هناك ندية لرفض مبايعة معاوية فاضطر لمباعيته, أو من منظور شيعي مهادنة معاوية للحفاظ على الوحدة.</a:t>
            </a:r>
          </a:p>
          <a:p>
            <a:pPr algn="r" rtl="1"/>
            <a:r>
              <a:rPr lang="ar-LB" sz="2400" dirty="0"/>
              <a:t>على الرغم من أنه الإمام الثاني ومن المعصومين لا تجد مبلاة كثيرة له عند الشيعة بذكرى ولادته او وفاته او انجازاته مثل والده الإمام الاول علي او اخوه الإمام الثالث الحسين.</a:t>
            </a:r>
          </a:p>
          <a:p>
            <a:pPr algn="r" rtl="1"/>
            <a:r>
              <a:rPr lang="ar-LB" sz="2400" dirty="0"/>
              <a:t>قتل مسمومة عن طريق جاسوس معاوية بن أبي سفيان يقال أحد زوجاته وهناك إحتمالات أخرى.</a:t>
            </a:r>
          </a:p>
          <a:p>
            <a:pPr algn="r" rtl="1"/>
            <a:endParaRPr lang="ar-LB" sz="2400" dirty="0"/>
          </a:p>
          <a:p>
            <a:pPr algn="r" rtl="1"/>
            <a:endParaRPr lang="ar-LB" sz="2400" dirty="0"/>
          </a:p>
          <a:p>
            <a:pPr algn="r" rtl="1"/>
            <a:endParaRPr lang="ar-LB" sz="2400" dirty="0"/>
          </a:p>
          <a:p>
            <a:pPr algn="r" rtl="1"/>
            <a:endParaRPr lang="en-US" sz="2400" dirty="0"/>
          </a:p>
        </p:txBody>
      </p:sp>
    </p:spTree>
    <p:extLst>
      <p:ext uri="{BB962C8B-B14F-4D97-AF65-F5344CB8AC3E}">
        <p14:creationId xmlns:p14="http://schemas.microsoft.com/office/powerpoint/2010/main" val="4145395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3DEFE-91BB-E97B-A371-4293A39E4278}"/>
              </a:ext>
            </a:extLst>
          </p:cNvPr>
          <p:cNvSpPr>
            <a:spLocks noGrp="1"/>
          </p:cNvSpPr>
          <p:nvPr>
            <p:ph type="title"/>
          </p:nvPr>
        </p:nvSpPr>
        <p:spPr>
          <a:xfrm>
            <a:off x="838200" y="176982"/>
            <a:ext cx="10515600" cy="766915"/>
          </a:xfrm>
        </p:spPr>
        <p:txBody>
          <a:bodyPr/>
          <a:lstStyle/>
          <a:p>
            <a:pPr algn="r"/>
            <a:r>
              <a:rPr lang="ar-LB" dirty="0"/>
              <a:t>تقسيم الأحلاف والأطراف الإسلامية:</a:t>
            </a:r>
            <a:endParaRPr lang="en-US" dirty="0"/>
          </a:p>
        </p:txBody>
      </p:sp>
      <p:sp>
        <p:nvSpPr>
          <p:cNvPr id="3" name="Content Placeholder 2">
            <a:extLst>
              <a:ext uri="{FF2B5EF4-FFF2-40B4-BE49-F238E27FC236}">
                <a16:creationId xmlns:a16="http://schemas.microsoft.com/office/drawing/2014/main" id="{4CA384D2-BAF5-AA66-16D5-6D8AE3501E9C}"/>
              </a:ext>
            </a:extLst>
          </p:cNvPr>
          <p:cNvSpPr>
            <a:spLocks noGrp="1"/>
          </p:cNvSpPr>
          <p:nvPr>
            <p:ph idx="1"/>
          </p:nvPr>
        </p:nvSpPr>
        <p:spPr>
          <a:xfrm>
            <a:off x="491613" y="816077"/>
            <a:ext cx="11700387" cy="5360886"/>
          </a:xfrm>
        </p:spPr>
        <p:txBody>
          <a:bodyPr>
            <a:normAutofit/>
          </a:bodyPr>
          <a:lstStyle/>
          <a:p>
            <a:pPr algn="r" rtl="1"/>
            <a:r>
              <a:rPr lang="ar-LB" sz="2400" dirty="0"/>
              <a:t>يمكن تقسيم إلى ثلاث او اربع اطراف رئسية في خلال الخلافة الراشدية:</a:t>
            </a:r>
          </a:p>
          <a:p>
            <a:pPr algn="r" rtl="1"/>
            <a:r>
              <a:rPr lang="ar-LB" sz="2400" dirty="0"/>
              <a:t>الأول أبو بكر الصديق ,عمر بن الخطاب وعائشة بن أبي بكر, وخفصة بنت عمر زوجتا رسول الإسلام, إضافة إلى طلحة والزبير وابو عبيدة وغيرهم.</a:t>
            </a:r>
          </a:p>
          <a:p>
            <a:pPr algn="r" rtl="1"/>
            <a:r>
              <a:rPr lang="ar-LB" sz="2400" dirty="0"/>
              <a:t>الثاني "أهل البيت" المتمثلة بفاطمة الزهراء, علي بن أبي طالب والحسن والحسين ,والأشخاص او الصحابة الذي وافقوا على مبايعتهم وإيمانهم بان علي أحق بالخلافة وغيرهم.  </a:t>
            </a:r>
          </a:p>
          <a:p>
            <a:pPr algn="r" rtl="1"/>
            <a:r>
              <a:rPr lang="ar-LB" sz="2400" dirty="0"/>
              <a:t>الثالث الأمويين المتمثلة بعثمان بن عفان ومعاوية بن ابي سفيان ويزيد بن ابي سفيان, والخلفاء والولاة الأمويين ومن بايعهم من أهل الشام.</a:t>
            </a:r>
          </a:p>
          <a:p>
            <a:pPr algn="r" rtl="1"/>
            <a:r>
              <a:rPr lang="ar-LB" sz="2400" dirty="0"/>
              <a:t>الرابع يمكن وضعه مع الطرف الثاني الأنصار أي أهل المدينة لانهم بايعوا علي ويمكن وضع المحكمة الذين سموا خوارج لانهم خرجوا ضد علي في مصالحة معاوية.  </a:t>
            </a:r>
            <a:endParaRPr lang="en-US" sz="2400" dirty="0"/>
          </a:p>
        </p:txBody>
      </p:sp>
    </p:spTree>
    <p:extLst>
      <p:ext uri="{BB962C8B-B14F-4D97-AF65-F5344CB8AC3E}">
        <p14:creationId xmlns:p14="http://schemas.microsoft.com/office/powerpoint/2010/main" val="16640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27D0C-F548-413F-9893-F81141C13B5E}"/>
              </a:ext>
            </a:extLst>
          </p:cNvPr>
          <p:cNvSpPr>
            <a:spLocks noGrp="1"/>
          </p:cNvSpPr>
          <p:nvPr>
            <p:ph type="title"/>
          </p:nvPr>
        </p:nvSpPr>
        <p:spPr>
          <a:xfrm>
            <a:off x="1025013" y="204172"/>
            <a:ext cx="10515600" cy="953729"/>
          </a:xfrm>
        </p:spPr>
        <p:txBody>
          <a:bodyPr/>
          <a:lstStyle/>
          <a:p>
            <a:pPr algn="r" rtl="1"/>
            <a:r>
              <a:rPr lang="ar-LB" dirty="0"/>
              <a:t>حياة الخلافاء الراشدين الشخصية:</a:t>
            </a:r>
            <a:endParaRPr lang="en-US" dirty="0"/>
          </a:p>
        </p:txBody>
      </p:sp>
      <p:sp>
        <p:nvSpPr>
          <p:cNvPr id="3" name="Content Placeholder 2">
            <a:extLst>
              <a:ext uri="{FF2B5EF4-FFF2-40B4-BE49-F238E27FC236}">
                <a16:creationId xmlns:a16="http://schemas.microsoft.com/office/drawing/2014/main" id="{E09949DA-5231-DF7F-4FD1-29679FC675A8}"/>
              </a:ext>
            </a:extLst>
          </p:cNvPr>
          <p:cNvSpPr>
            <a:spLocks noGrp="1"/>
          </p:cNvSpPr>
          <p:nvPr>
            <p:ph idx="1"/>
          </p:nvPr>
        </p:nvSpPr>
        <p:spPr>
          <a:xfrm>
            <a:off x="324465" y="1002890"/>
            <a:ext cx="11552903" cy="5289755"/>
          </a:xfrm>
        </p:spPr>
        <p:txBody>
          <a:bodyPr>
            <a:normAutofit/>
          </a:bodyPr>
          <a:lstStyle/>
          <a:p>
            <a:pPr algn="r" rtl="1"/>
            <a:r>
              <a:rPr lang="ar-LB" sz="2400" dirty="0"/>
              <a:t>على الرغم من الخلافات والخصومات بينهم إلا أين بين هؤلاء صلة قرابة وصلة رحم وان شاركوا مع بعض في غزوات رسول الإسلام الذي يبين أن خلافهم على الحكم.</a:t>
            </a:r>
          </a:p>
          <a:p>
            <a:pPr algn="r" rtl="1"/>
            <a:r>
              <a:rPr lang="ar-LB" sz="2400" dirty="0"/>
              <a:t>أبو بكر, وعمر مزوجين رسول الإسلام بناتهما عائشة وحفصة, عثمان  وعلي متزوجين من بنات الرسول رقية, وفاطمة.</a:t>
            </a:r>
            <a:endParaRPr lang="en-US" sz="2400" dirty="0"/>
          </a:p>
          <a:p>
            <a:pPr algn="r" rtl="1"/>
            <a:r>
              <a:rPr lang="ar-LB" sz="2400" dirty="0"/>
              <a:t>علي بن أبي طالب الذي تزوج 10 زوجات لكن خلال حياة فاطمة الزهراء التي توفيت بعد وفاة أبيها بفترة وجيزة في سنة 11 هـ لم يكن لديه زوجة أخرى, كان لديه عدد كبير من الأبناء منهم أبو بكر وعمر وعثمان, بنته أم كلثوم كانت زوجة للخليفة الثاني عمر, يعتقد أن علي لم يكن لديه أكثر من اربع زوجات خلال فترة واحدة.</a:t>
            </a:r>
          </a:p>
          <a:p>
            <a:pPr algn="r" rtl="1"/>
            <a:r>
              <a:rPr lang="ar-LB" sz="2400" dirty="0"/>
              <a:t>عثمان لديه تزوج ايضا أم كلثوم بنت محمد بعد وفاة الزوجة الأولى ايضا بنت رسول الإسلام التي طلقها رسول الإسلام من عتيبة بن أبي لهب إبن عم رسول الإسلام بسبب كره رسول الإسلام لعمه أبو لهب حدث هذا في العام 3 هـ.</a:t>
            </a:r>
          </a:p>
          <a:p>
            <a:pPr algn="r" rtl="1"/>
            <a:r>
              <a:rPr lang="ar-LB" sz="2400" dirty="0"/>
              <a:t>عثمان بن عفان لديه إبنه اسمها عائشة أيضا.</a:t>
            </a:r>
          </a:p>
          <a:p>
            <a:pPr algn="r" rtl="1"/>
            <a:r>
              <a:rPr lang="ar-LB" sz="2400" dirty="0"/>
              <a:t>عداك عن مشاركة علي مع الخلافاء الثلاثة في السلطة على الرغم من اعتقاده أن الخلافة من حقه يقال انه كان مستشارا.</a:t>
            </a:r>
          </a:p>
          <a:p>
            <a:pPr algn="r" rtl="1"/>
            <a:endParaRPr lang="ar-LB" sz="2400" dirty="0"/>
          </a:p>
          <a:p>
            <a:pPr algn="r" rtl="1"/>
            <a:endParaRPr lang="ar-LB" sz="2400" dirty="0"/>
          </a:p>
          <a:p>
            <a:pPr algn="r" rtl="1"/>
            <a:endParaRPr lang="ar-LB" sz="2400" dirty="0"/>
          </a:p>
        </p:txBody>
      </p:sp>
    </p:spTree>
    <p:extLst>
      <p:ext uri="{BB962C8B-B14F-4D97-AF65-F5344CB8AC3E}">
        <p14:creationId xmlns:p14="http://schemas.microsoft.com/office/powerpoint/2010/main" val="2427223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7EB1B-ED5B-D8B7-5EB4-20A19ED25CFD}"/>
              </a:ext>
            </a:extLst>
          </p:cNvPr>
          <p:cNvSpPr>
            <a:spLocks noGrp="1"/>
          </p:cNvSpPr>
          <p:nvPr>
            <p:ph type="title"/>
          </p:nvPr>
        </p:nvSpPr>
        <p:spPr>
          <a:xfrm>
            <a:off x="1143000" y="0"/>
            <a:ext cx="10515600" cy="795081"/>
          </a:xfrm>
        </p:spPr>
        <p:txBody>
          <a:bodyPr/>
          <a:lstStyle/>
          <a:p>
            <a:pPr algn="r"/>
            <a:r>
              <a:rPr lang="ar-LB" dirty="0"/>
              <a:t>النهج السني والرد عليه:</a:t>
            </a:r>
            <a:endParaRPr lang="en-US" dirty="0"/>
          </a:p>
        </p:txBody>
      </p:sp>
      <p:sp>
        <p:nvSpPr>
          <p:cNvPr id="3" name="Content Placeholder 2">
            <a:extLst>
              <a:ext uri="{FF2B5EF4-FFF2-40B4-BE49-F238E27FC236}">
                <a16:creationId xmlns:a16="http://schemas.microsoft.com/office/drawing/2014/main" id="{9F04825C-3D2A-9467-C830-6A03C778C99A}"/>
              </a:ext>
            </a:extLst>
          </p:cNvPr>
          <p:cNvSpPr>
            <a:spLocks noGrp="1"/>
          </p:cNvSpPr>
          <p:nvPr>
            <p:ph idx="1"/>
          </p:nvPr>
        </p:nvSpPr>
        <p:spPr>
          <a:xfrm>
            <a:off x="68826" y="521110"/>
            <a:ext cx="12123173" cy="6449961"/>
          </a:xfrm>
        </p:spPr>
        <p:txBody>
          <a:bodyPr>
            <a:normAutofit fontScale="85000" lnSpcReduction="20000"/>
          </a:bodyPr>
          <a:lstStyle/>
          <a:p>
            <a:pPr algn="r" rtl="1">
              <a:lnSpc>
                <a:spcPct val="120000"/>
              </a:lnSpc>
            </a:pPr>
            <a:r>
              <a:rPr lang="ar-LB" sz="2600" dirty="0"/>
              <a:t>عادة أهل السنة ما يحاولون التجاوز عن إختلافات الصحابة في ما بينهم الترضي عن الجميع والصحابي بالنسبة لهم هو اي شخص عاش مع رسول الإسلام. نظرا لل"الإتجازات" و"الفتوحات" ونشر الدعوة الإسلامية الى كافة أسقاع الأرض فنحن لسنا للحكم على الصحابة فكلهم عدول أبو بكر وعمر وعثمان وعلي ومعاوية ويزيد وغيرهم.</a:t>
            </a:r>
          </a:p>
          <a:p>
            <a:pPr algn="r" rtl="1">
              <a:lnSpc>
                <a:spcPct val="120000"/>
              </a:lnSpc>
            </a:pPr>
            <a:r>
              <a:rPr lang="ar-LB" sz="2600" dirty="0"/>
              <a:t>التحيز دائما للفئة الحاكمة يعني مثل حادثة عدم توريث فاطمة بنت الرسول من قبل ابو بكر, وعمر, فأبو بكر وعمر على حق على رغم إعتقادهم بانها سيدة نساء العالمين والترضي ايضا عنها بالمقابل, تخطيء عائشة في معركة الجمل ومعاوية في معركة صفين والتحيز لعلي, رغم أيضا الترضي عن كل منهم واعتبارهم في الجنة.</a:t>
            </a:r>
          </a:p>
          <a:p>
            <a:pPr algn="r" rtl="1">
              <a:lnSpc>
                <a:spcPct val="120000"/>
              </a:lnSpc>
            </a:pPr>
            <a:r>
              <a:rPr lang="ar-LB" sz="2600" dirty="0"/>
              <a:t>إعتبار خير الأزمنة زمن رسول الإسلام ثم الزمن الذي يليه ثم الزمن الذي يلي الذي يليه.</a:t>
            </a:r>
          </a:p>
          <a:p>
            <a:pPr algn="r" rtl="1">
              <a:lnSpc>
                <a:spcPct val="120000"/>
              </a:lnSpc>
            </a:pPr>
            <a:r>
              <a:rPr lang="ar-LB" sz="2600" dirty="0"/>
              <a:t>التركيز أكثر على ما يسمى بالفتوحات الإسلامية وعدم الخوض في مشاكل الصحابة فقط الحديث عنها فقط كرواية.</a:t>
            </a:r>
          </a:p>
          <a:p>
            <a:pPr algn="r" rtl="1">
              <a:lnSpc>
                <a:spcPct val="120000"/>
              </a:lnSpc>
            </a:pPr>
            <a:r>
              <a:rPr lang="ar-LB" sz="2600" dirty="0"/>
              <a:t>طبعا هناك استثنائات فمنهم من يأخذ مواقف بطريقة مبهمة وغير مباشرة.</a:t>
            </a:r>
          </a:p>
          <a:p>
            <a:pPr algn="r" rtl="1">
              <a:lnSpc>
                <a:spcPct val="120000"/>
              </a:lnSpc>
            </a:pPr>
            <a:r>
              <a:rPr lang="ar-LB" sz="2600" dirty="0"/>
              <a:t>طبعا بدأ السنة في الحديث عن خلافة شرعية وغير شرعية منذ عهد العباسيين او نهاية الدولة الأموية لاحقا.</a:t>
            </a:r>
          </a:p>
          <a:p>
            <a:pPr algn="r" rtl="1">
              <a:lnSpc>
                <a:spcPct val="120000"/>
              </a:lnSpc>
            </a:pPr>
            <a:r>
              <a:rPr lang="ar-LB" sz="2600" dirty="0"/>
              <a:t>الغضب من من يتطاول على الصحابة فهم ليسوا أهلا لتقيمهم من أحد.</a:t>
            </a:r>
          </a:p>
          <a:p>
            <a:pPr algn="r" rtl="1">
              <a:lnSpc>
                <a:spcPct val="120000"/>
              </a:lnSpc>
            </a:pPr>
            <a:r>
              <a:rPr lang="ar-LB" sz="2600" dirty="0"/>
              <a:t>رد بسيط على نهج أهل السنة إذا كان خير الأزمنة زمن رسول الإسلام وزمن الخلافة والصحابة العدول وأفضل الناس لم يفهموا بعض وأحيانا طعنوا ببعض او خاضوا الحروب لماذا تنزعجون من الناس المسلمين اليوم الذين فقط يطعنون الصحابة او يشتمنوهم أليس خطأ الشاطر بألف خطأ, من أصعب عائشة التي حرضت على عثمان التي كانت تعيش على أيامه ورأت "إنجازاته" بأم عينها ام الشخص الذي يعيش اليوم بعد 1400 سنة  لم يعرف شيء عن عثمان سوا ما روي من كتبكم.</a:t>
            </a:r>
          </a:p>
          <a:p>
            <a:pPr algn="r" rtl="1"/>
            <a:endParaRPr lang="ar-LB" sz="2400" dirty="0"/>
          </a:p>
          <a:p>
            <a:pPr algn="r" rtl="1"/>
            <a:endParaRPr lang="en-US" sz="2400" dirty="0"/>
          </a:p>
        </p:txBody>
      </p:sp>
    </p:spTree>
    <p:extLst>
      <p:ext uri="{BB962C8B-B14F-4D97-AF65-F5344CB8AC3E}">
        <p14:creationId xmlns:p14="http://schemas.microsoft.com/office/powerpoint/2010/main" val="2192408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E63C4-CB78-286E-08E9-F739E2AF07FF}"/>
              </a:ext>
            </a:extLst>
          </p:cNvPr>
          <p:cNvSpPr>
            <a:spLocks noGrp="1"/>
          </p:cNvSpPr>
          <p:nvPr>
            <p:ph type="title"/>
          </p:nvPr>
        </p:nvSpPr>
        <p:spPr>
          <a:xfrm>
            <a:off x="1290484" y="0"/>
            <a:ext cx="10515600" cy="922901"/>
          </a:xfrm>
        </p:spPr>
        <p:txBody>
          <a:bodyPr/>
          <a:lstStyle/>
          <a:p>
            <a:pPr algn="r" rtl="1"/>
            <a:r>
              <a:rPr lang="ar-LB" dirty="0"/>
              <a:t>العشرة المبشرين بالجنة بالفقه السني:</a:t>
            </a:r>
            <a:endParaRPr lang="en-US" dirty="0"/>
          </a:p>
        </p:txBody>
      </p:sp>
      <p:pic>
        <p:nvPicPr>
          <p:cNvPr id="5" name="Content Placeholder 4">
            <a:extLst>
              <a:ext uri="{FF2B5EF4-FFF2-40B4-BE49-F238E27FC236}">
                <a16:creationId xmlns:a16="http://schemas.microsoft.com/office/drawing/2014/main" id="{EF95EF72-F541-EC55-E71E-B87B910015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916" y="450056"/>
            <a:ext cx="4766309" cy="5957887"/>
          </a:xfrm>
        </p:spPr>
      </p:pic>
      <p:sp>
        <p:nvSpPr>
          <p:cNvPr id="6" name="TextBox 5">
            <a:extLst>
              <a:ext uri="{FF2B5EF4-FFF2-40B4-BE49-F238E27FC236}">
                <a16:creationId xmlns:a16="http://schemas.microsoft.com/office/drawing/2014/main" id="{93DCFF86-D66C-4D54-1CC7-9B5BB6C3E7E0}"/>
              </a:ext>
            </a:extLst>
          </p:cNvPr>
          <p:cNvSpPr txBox="1"/>
          <p:nvPr/>
        </p:nvSpPr>
        <p:spPr>
          <a:xfrm>
            <a:off x="5958348" y="1219200"/>
            <a:ext cx="5847736" cy="3416320"/>
          </a:xfrm>
          <a:prstGeom prst="rect">
            <a:avLst/>
          </a:prstGeom>
          <a:noFill/>
        </p:spPr>
        <p:txBody>
          <a:bodyPr wrap="square" rtlCol="0">
            <a:spAutoFit/>
          </a:bodyPr>
          <a:lstStyle/>
          <a:p>
            <a:pPr marL="342900" indent="-342900" algn="r" rtl="1">
              <a:buFont typeface="Arial" panose="020B0604020202020204" pitchFamily="34" charset="0"/>
              <a:buChar char="•"/>
            </a:pPr>
            <a:r>
              <a:rPr lang="ar-LB" sz="2400" dirty="0"/>
              <a:t>فترتيب الأفضلية بالنسبة للسنة بعد رسول الإسلام وبعد جميع الأنبياء والرسل :</a:t>
            </a:r>
          </a:p>
          <a:p>
            <a:pPr marL="342900" indent="-342900" algn="r" rtl="1">
              <a:buFont typeface="Arial" panose="020B0604020202020204" pitchFamily="34" charset="0"/>
              <a:buChar char="•"/>
            </a:pPr>
            <a:r>
              <a:rPr lang="ar-LB" sz="2400" dirty="0"/>
              <a:t>أبو بكر الصديق, ثم عمر بن الخطاب ثم عثمان بن عفان ثم علي بن أبي طالب وثم سائر العشر المبشرين بالجنة.</a:t>
            </a:r>
          </a:p>
          <a:p>
            <a:pPr marL="342900" indent="-342900" algn="r" rtl="1">
              <a:buFont typeface="Arial" panose="020B0604020202020204" pitchFamily="34" charset="0"/>
              <a:buChar char="•"/>
            </a:pPr>
            <a:r>
              <a:rPr lang="ar-LB" sz="2400" b="0" i="0" dirty="0">
                <a:effectLst/>
                <a:latin typeface="Lotus Linotype"/>
              </a:rPr>
              <a:t>ثُمَّ أَهْلُ بَدْرٍ، ثُمَّ أُحُدٍ، ثُمَّ بَيْعَةِ الرِّضْوَانِ، وَمِمَّنْ لَهُ مَزِيَّةُ أَهْلُ الْعَقَبَتَيْنِ مِنَ الْأَنْصَارِ، وَكَذَلِكَ السَّابِقُونَ الْأَوَّلُونَ وَهُمْ مَنْ صَلَّى إلى القبلتين في قول ابن الْمُسَيِّبِ وَطَائِفَةٍ</a:t>
            </a:r>
            <a:r>
              <a:rPr lang="ar-LB" sz="2400" b="0" i="0" dirty="0">
                <a:solidFill>
                  <a:srgbClr val="000000"/>
                </a:solidFill>
                <a:effectLst/>
                <a:latin typeface="Lotus Linotype"/>
              </a:rPr>
              <a:t>.</a:t>
            </a:r>
          </a:p>
          <a:p>
            <a:pPr marL="342900" indent="-342900" algn="r" rtl="1">
              <a:buFont typeface="Arial" panose="020B0604020202020204" pitchFamily="34" charset="0"/>
              <a:buChar char="•"/>
            </a:pPr>
            <a:endParaRPr lang="ar-LB" sz="2400" dirty="0"/>
          </a:p>
        </p:txBody>
      </p:sp>
    </p:spTree>
    <p:extLst>
      <p:ext uri="{BB962C8B-B14F-4D97-AF65-F5344CB8AC3E}">
        <p14:creationId xmlns:p14="http://schemas.microsoft.com/office/powerpoint/2010/main" val="1961170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73C2D-1A6E-7C23-26E7-D9F4E75D8135}"/>
              </a:ext>
            </a:extLst>
          </p:cNvPr>
          <p:cNvSpPr>
            <a:spLocks noGrp="1"/>
          </p:cNvSpPr>
          <p:nvPr>
            <p:ph type="title"/>
          </p:nvPr>
        </p:nvSpPr>
        <p:spPr>
          <a:xfrm>
            <a:off x="838200" y="78659"/>
            <a:ext cx="10515600" cy="1032386"/>
          </a:xfrm>
        </p:spPr>
        <p:txBody>
          <a:bodyPr/>
          <a:lstStyle/>
          <a:p>
            <a:pPr algn="r"/>
            <a:r>
              <a:rPr lang="ar-LB" dirty="0"/>
              <a:t>النهج الشيعي :</a:t>
            </a:r>
            <a:endParaRPr lang="en-US" dirty="0"/>
          </a:p>
        </p:txBody>
      </p:sp>
      <p:sp>
        <p:nvSpPr>
          <p:cNvPr id="3" name="Content Placeholder 2">
            <a:extLst>
              <a:ext uri="{FF2B5EF4-FFF2-40B4-BE49-F238E27FC236}">
                <a16:creationId xmlns:a16="http://schemas.microsoft.com/office/drawing/2014/main" id="{2A7E5CAC-A706-5DED-ACCB-C872135E39D9}"/>
              </a:ext>
            </a:extLst>
          </p:cNvPr>
          <p:cNvSpPr>
            <a:spLocks noGrp="1"/>
          </p:cNvSpPr>
          <p:nvPr>
            <p:ph idx="1"/>
          </p:nvPr>
        </p:nvSpPr>
        <p:spPr>
          <a:xfrm>
            <a:off x="353961" y="865239"/>
            <a:ext cx="11592233" cy="5643716"/>
          </a:xfrm>
        </p:spPr>
        <p:txBody>
          <a:bodyPr>
            <a:normAutofit lnSpcReduction="10000"/>
          </a:bodyPr>
          <a:lstStyle/>
          <a:p>
            <a:pPr algn="r" rtl="1"/>
            <a:r>
              <a:rPr lang="ar-LB" sz="2400" dirty="0"/>
              <a:t>عادة عند ما يقال الشيعة بالألف والام يتم التركيز أغليبية الشيعة الذين هم الشيعة الإثنا عشرية.</a:t>
            </a:r>
            <a:r>
              <a:rPr lang="en-US" sz="2400" dirty="0"/>
              <a:t> </a:t>
            </a:r>
            <a:r>
              <a:rPr lang="ar-LB" sz="2400" dirty="0"/>
              <a:t> </a:t>
            </a:r>
          </a:p>
          <a:p>
            <a:pPr algn="r" rtl="1"/>
            <a:r>
              <a:rPr lang="ar-LB" sz="2400" dirty="0"/>
              <a:t>عند الشيعة لا يوجد خلافة يوجد إمامة 12أئمة  أحق الناس بالحكم بعد رسول من علي بن أبي طالب وصولا إلى المهدي الإمام الثاني عشر "عجل الله فرجه" أي ظهوره.</a:t>
            </a:r>
          </a:p>
          <a:p>
            <a:pPr algn="r" rtl="1"/>
            <a:r>
              <a:rPr lang="ar-LB" sz="2400" dirty="0"/>
              <a:t>إذا كل الخلفاء الذين حكموا خلا عهد الأئمة 12 خلافتهم مغتصبة وغير شرعية الصحابة ليس جميعهم عدول بل هناك أصحاب عدول الذين اطاعوا الأئمة المعصومين وتعتبر ولاية أهل البيت عندهم ركن من أركان الإسلام.</a:t>
            </a:r>
          </a:p>
          <a:p>
            <a:pPr algn="r" rtl="1"/>
            <a:r>
              <a:rPr lang="ar-LB" sz="2400" dirty="0"/>
              <a:t>التركيز جدا على فكرة الحروب او "الفتن" كما يسميها السنة بين الصحابة لذلك عند ذكر الصحب في الصلاة على محمد يتم ذكر المنتجبين لأن هناك أصحاب غير منتجبين مثل أبو بكر وعمر وعثمان وعائشة وحفصة ومعاوية وأبو هريرة وسعد بن ابي وقاس خال رسول الإسلام وغيرهم.</a:t>
            </a:r>
          </a:p>
          <a:p>
            <a:pPr algn="r" rtl="1"/>
            <a:r>
              <a:rPr lang="ar-LB" sz="2400" dirty="0"/>
              <a:t>يعتقدون أن جزء كبير من الصحابة هم من اهل النفاق حتى لو خدموا الإسلام فهم خدموه لأجل مصالهم الشخصية او هم مراؤون.</a:t>
            </a:r>
          </a:p>
          <a:p>
            <a:pPr algn="r" rtl="1"/>
            <a:r>
              <a:rPr lang="ar-LB" sz="2400" dirty="0"/>
              <a:t>أهل البيت عادة تطلق على صاحب البيت والزوجة والبنين ولكن بالنسبة للشيعة مصطلح أهل البيت هم النبي, ابنته فاطمة, الأئمة الذين جاوؤوا من نسلها يطلق عليهم المعصومين 14.</a:t>
            </a:r>
          </a:p>
          <a:p>
            <a:pPr algn="r" rtl="1"/>
            <a:r>
              <a:rPr lang="ar-LB" sz="2400" dirty="0"/>
              <a:t>عادة الشيعة يخالفون السنة في قاتل عمر الشيعة يعتبرونه مسلم والسنة يعتبرونه مجوسي.</a:t>
            </a:r>
          </a:p>
          <a:p>
            <a:pPr algn="r" rtl="1"/>
            <a:r>
              <a:rPr lang="ar-LB" sz="2400" dirty="0"/>
              <a:t>ينسب السنة الشيعة إلى عبد الله بن سبأ اليهودي رغم أن كثير من أهل السنة لا يظهرون ذلك ويعتبرون ان علي بن أبي طالب بريء منهم.</a:t>
            </a:r>
          </a:p>
          <a:p>
            <a:pPr algn="r" rtl="1"/>
            <a:endParaRPr lang="ar-LB" sz="2400" dirty="0"/>
          </a:p>
          <a:p>
            <a:pPr algn="r" rtl="1"/>
            <a:endParaRPr lang="ar-LB" sz="2400" dirty="0"/>
          </a:p>
          <a:p>
            <a:pPr algn="r" rtl="1"/>
            <a:endParaRPr lang="en-US" sz="2400" dirty="0"/>
          </a:p>
        </p:txBody>
      </p:sp>
    </p:spTree>
    <p:extLst>
      <p:ext uri="{BB962C8B-B14F-4D97-AF65-F5344CB8AC3E}">
        <p14:creationId xmlns:p14="http://schemas.microsoft.com/office/powerpoint/2010/main" val="2359388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F917-CAE2-D728-C91E-DAA21132C4F9}"/>
              </a:ext>
            </a:extLst>
          </p:cNvPr>
          <p:cNvSpPr>
            <a:spLocks noGrp="1"/>
          </p:cNvSpPr>
          <p:nvPr>
            <p:ph type="title"/>
          </p:nvPr>
        </p:nvSpPr>
        <p:spPr>
          <a:xfrm>
            <a:off x="838200" y="18255"/>
            <a:ext cx="10515600" cy="1033797"/>
          </a:xfrm>
        </p:spPr>
        <p:txBody>
          <a:bodyPr/>
          <a:lstStyle/>
          <a:p>
            <a:pPr algn="r"/>
            <a:r>
              <a:rPr lang="ar-LB" dirty="0"/>
              <a:t>الرد على النهج الشيعي:</a:t>
            </a:r>
            <a:endParaRPr lang="en-US" dirty="0"/>
          </a:p>
        </p:txBody>
      </p:sp>
      <p:sp>
        <p:nvSpPr>
          <p:cNvPr id="3" name="Content Placeholder 2">
            <a:extLst>
              <a:ext uri="{FF2B5EF4-FFF2-40B4-BE49-F238E27FC236}">
                <a16:creationId xmlns:a16="http://schemas.microsoft.com/office/drawing/2014/main" id="{BD58FF56-F35B-1DA0-E042-2C8A713A4912}"/>
              </a:ext>
            </a:extLst>
          </p:cNvPr>
          <p:cNvSpPr>
            <a:spLocks noGrp="1"/>
          </p:cNvSpPr>
          <p:nvPr>
            <p:ph idx="1"/>
          </p:nvPr>
        </p:nvSpPr>
        <p:spPr>
          <a:xfrm>
            <a:off x="98323" y="797718"/>
            <a:ext cx="12093677" cy="5947211"/>
          </a:xfrm>
        </p:spPr>
        <p:txBody>
          <a:bodyPr>
            <a:noAutofit/>
          </a:bodyPr>
          <a:lstStyle/>
          <a:p>
            <a:pPr algn="r" rtl="1"/>
            <a:r>
              <a:rPr lang="ar-LB" sz="2400" dirty="0"/>
              <a:t>إذا كان علي بن أبي طالب أحق بالخلافة وولايته واجبة وهي ركن من أركان الدين توازي الصلاة والصيام فعلي خالف هذا الركن بقبوله التعاون مع الخلفاء الراشدين الذين خلافتهم غير شرعية فلماذا تعاتبون من يترضون عنهم اليوم.</a:t>
            </a:r>
          </a:p>
          <a:p>
            <a:pPr algn="r" rtl="1"/>
            <a:r>
              <a:rPr lang="ar-LB" sz="2400" dirty="0"/>
              <a:t>إذا فعل علي التعاون مع الخلفاء الراشدين من أجل وحدة المسلمين كما يزعم أعم الشيعة فأي وحدة تبطل أمر او تكليف إلاهي هل يجوز ان يتجوز للمسلم ان يقبل مثلا بفكرة ان صوم رمضان لآذان العصر بدل المغرب إذا كانت هناك فئة تعتقد أن الصوم فقط للعصر, او هل يجوز مثلا قبول المسلمين نبوة مسيلمة بن حبيب الذين تسمونه مسيلمة الكذاب كي لا يحدث إنشقاق في الصف, او هل يجوز قراءة المسلم كما يزعمون للتوراة "المحرفة" والإنجيل "المحرف" والأخذ بها كي لا يحدث إنشطار بين نبوة عيسى وموسى ومحمد فعلا عذر أقبح من ذنب.</a:t>
            </a:r>
          </a:p>
          <a:p>
            <a:pPr algn="r" rtl="1"/>
            <a:r>
              <a:rPr lang="ar-LB" sz="2400" dirty="0"/>
              <a:t>بالمفهم الإسلامي الذي يترك الصلاة او الصيام او الزكاة هو مسلم عاص, ولكن الذي ينكر وجود الصلاة اصلا او غيرها من أركان الإسلام يصبح مرتد, إذا كان هناك أصلا تكليف إلاهي بالخلافة لعلي وعلي تنازل عنها ونعاون مع انكروها فهو اتحد انطلاقا من هذا المفهوم مع كفار ومرتدين, لان في كتب الشيعة لم يعترف أبو بكر بولاية علي إذا أنكر ركن إذا هو كافر إنطلاقا من أن من أنكر الصلاة كافر.</a:t>
            </a:r>
          </a:p>
          <a:p>
            <a:pPr algn="r" rtl="1"/>
            <a:r>
              <a:rPr lang="ar-LB" sz="2400" dirty="0"/>
              <a:t>كثير من الشيعة يعتبر نهج الحركات الراداكيلية المتطرفة المسؤول عنها هو نهج أهل السنة والصحابة أبو بكر وعمر وعثمان والخلافة الأموية, ويضع أهل البيت في مكان المظلومية وصار بعضهم اليوم يضعها مع من اغتصبت اراضيهم من الكلدان والآشوريين والأمازيغ فمن قتل هؤلاء قتل أهل البيت, لكن الغريب أن علي نفسه كان يساعد هؤلاء الخلافاء.</a:t>
            </a:r>
          </a:p>
          <a:p>
            <a:pPr algn="r" rtl="1"/>
            <a:r>
              <a:rPr lang="ar-LB" sz="2400" dirty="0"/>
              <a:t>ماذا عن الخوارج او المحكمة الذين قتلهم علي بعد رفضهم للإنصياع لمصالحته مع بني أمية علي نفسه الذي كان يتهم جيشه وشيعته قبل المعركة بأشباه الرجال والكسالى وعبأهم قبل معركة صفين وبعد ذلك قبل بالتحكيم.</a:t>
            </a:r>
            <a:endParaRPr lang="en-US" sz="2400" dirty="0"/>
          </a:p>
        </p:txBody>
      </p:sp>
    </p:spTree>
    <p:extLst>
      <p:ext uri="{BB962C8B-B14F-4D97-AF65-F5344CB8AC3E}">
        <p14:creationId xmlns:p14="http://schemas.microsoft.com/office/powerpoint/2010/main" val="3518113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0667-1F4D-028F-E6E3-C1B89868B871}"/>
              </a:ext>
            </a:extLst>
          </p:cNvPr>
          <p:cNvSpPr>
            <a:spLocks noGrp="1"/>
          </p:cNvSpPr>
          <p:nvPr>
            <p:ph type="title"/>
          </p:nvPr>
        </p:nvSpPr>
        <p:spPr>
          <a:xfrm>
            <a:off x="1015181" y="147485"/>
            <a:ext cx="10515600" cy="914400"/>
          </a:xfrm>
        </p:spPr>
        <p:txBody>
          <a:bodyPr/>
          <a:lstStyle/>
          <a:p>
            <a:pPr algn="r"/>
            <a:r>
              <a:rPr lang="ar-LB" dirty="0"/>
              <a:t>الفرقة المسمات بالخوارج:</a:t>
            </a:r>
            <a:endParaRPr lang="en-US" dirty="0"/>
          </a:p>
        </p:txBody>
      </p:sp>
      <p:sp>
        <p:nvSpPr>
          <p:cNvPr id="3" name="Content Placeholder 2">
            <a:extLst>
              <a:ext uri="{FF2B5EF4-FFF2-40B4-BE49-F238E27FC236}">
                <a16:creationId xmlns:a16="http://schemas.microsoft.com/office/drawing/2014/main" id="{8A08E459-E256-63D9-841E-406E9D9DBA37}"/>
              </a:ext>
            </a:extLst>
          </p:cNvPr>
          <p:cNvSpPr>
            <a:spLocks noGrp="1"/>
          </p:cNvSpPr>
          <p:nvPr>
            <p:ph idx="1"/>
          </p:nvPr>
        </p:nvSpPr>
        <p:spPr>
          <a:xfrm>
            <a:off x="1113503" y="924232"/>
            <a:ext cx="10515600" cy="1241169"/>
          </a:xfrm>
        </p:spPr>
        <p:txBody>
          <a:bodyPr>
            <a:normAutofit/>
          </a:bodyPr>
          <a:lstStyle/>
          <a:p>
            <a:pPr algn="r" rtl="1"/>
            <a:r>
              <a:rPr lang="ar-LB" sz="2400" dirty="0"/>
              <a:t>هي مجموعة تبجل أبو بكر وعمر ولكن تكره علي وعثمان وغيرهم من الأمويين فهي على عداء شديد مع الإمام علي, ومع الخلافة الأموية.</a:t>
            </a:r>
          </a:p>
          <a:p>
            <a:pPr algn="r" rtl="1"/>
            <a:r>
              <a:rPr lang="ar-LB" sz="2400" dirty="0"/>
              <a:t>الإمام الحسن لم يقاتل الخوارج قط.</a:t>
            </a:r>
          </a:p>
          <a:p>
            <a:pPr algn="r" rtl="1"/>
            <a:endParaRPr lang="en-US" sz="2400" dirty="0"/>
          </a:p>
        </p:txBody>
      </p:sp>
    </p:spTree>
    <p:extLst>
      <p:ext uri="{BB962C8B-B14F-4D97-AF65-F5344CB8AC3E}">
        <p14:creationId xmlns:p14="http://schemas.microsoft.com/office/powerpoint/2010/main" val="2901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C069-C611-8500-928A-75D9E44981AC}"/>
              </a:ext>
            </a:extLst>
          </p:cNvPr>
          <p:cNvSpPr>
            <a:spLocks noGrp="1"/>
          </p:cNvSpPr>
          <p:nvPr>
            <p:ph type="title"/>
          </p:nvPr>
        </p:nvSpPr>
        <p:spPr>
          <a:xfrm>
            <a:off x="737419" y="1"/>
            <a:ext cx="11012129" cy="776748"/>
          </a:xfrm>
        </p:spPr>
        <p:txBody>
          <a:bodyPr/>
          <a:lstStyle/>
          <a:p>
            <a:pPr algn="r"/>
            <a:r>
              <a:rPr lang="ar-LB" dirty="0"/>
              <a:t>أمور مهمة يستخدمها المسلم اليوم:</a:t>
            </a:r>
            <a:endParaRPr lang="en-US" dirty="0"/>
          </a:p>
        </p:txBody>
      </p:sp>
      <p:sp>
        <p:nvSpPr>
          <p:cNvPr id="3" name="Content Placeholder 2">
            <a:extLst>
              <a:ext uri="{FF2B5EF4-FFF2-40B4-BE49-F238E27FC236}">
                <a16:creationId xmlns:a16="http://schemas.microsoft.com/office/drawing/2014/main" id="{A2C3A65A-4A74-A6D1-1CAC-20E3B9BA1957}"/>
              </a:ext>
            </a:extLst>
          </p:cNvPr>
          <p:cNvSpPr>
            <a:spLocks noGrp="1"/>
          </p:cNvSpPr>
          <p:nvPr>
            <p:ph idx="1"/>
          </p:nvPr>
        </p:nvSpPr>
        <p:spPr>
          <a:xfrm>
            <a:off x="147484" y="728893"/>
            <a:ext cx="11897032" cy="5563752"/>
          </a:xfrm>
        </p:spPr>
        <p:txBody>
          <a:bodyPr>
            <a:normAutofit/>
          </a:bodyPr>
          <a:lstStyle/>
          <a:p>
            <a:pPr algn="r" rtl="1"/>
            <a:r>
              <a:rPr lang="ar-LB" sz="2400" dirty="0"/>
              <a:t>أول شيء يتهرب الشيعة كثيرا من روايات صحيحة موجودة في كتبهم نفسها التي يعتمدون عليها قصة الحسن مزواج مطلاق تهرب تام وكتمان تام عن قصص تفضحهم وتكتم عن قصة مقتل الزهراء ومحسن الغير واردة في كتب السنة لكن مذكور في كتب الشيعة لاجبارها على مبايعة أبو بكر الصديق لأن تشوه صورة علي المعروف أنه الكرار, التكتم التام على فكرة ان الحسن ليس لديه إنجاز واحد في خلافته بل سلمها للأمويين على الرغم نفي كتبهم المبايعة إلا انه استلتم له ولكن يلعبون كثيرا على المصطلحات.</a:t>
            </a:r>
          </a:p>
          <a:p>
            <a:pPr algn="r" rtl="1"/>
            <a:r>
              <a:rPr lang="ar-LB" sz="2400" dirty="0"/>
              <a:t>يتهرب الشيعة أيضا من قصة تزويج محمد ابنته لعثمان بن عفان فإذا كان منافق كيف يقبل بتزوجيه إياها وأيضا أن لعلي ابناء اسمهم ابو بكر وعمر وعثمان وتزويج ابنته لعمر.</a:t>
            </a:r>
          </a:p>
          <a:p>
            <a:pPr algn="r" rtl="1"/>
            <a:r>
              <a:rPr lang="ar-LB" sz="2400" dirty="0"/>
              <a:t>أصبحت اليوم بعض المراجع الشيعية تحرم سب او شتم الصحابة بل تقتصر تشيعيها على مدح علي وأهل البيت والتكتم عن قصص عائشة وأبو بكر وعمر تحت مسمى الوحدة على الرغم من وجود مراجع أخرى لا تقبل بذلك.</a:t>
            </a:r>
          </a:p>
          <a:p>
            <a:pPr algn="r" rtl="1"/>
            <a:r>
              <a:rPr lang="ar-LB" sz="2400" dirty="0"/>
              <a:t>السنة يتكمون أيضا عن حروب الصحابة بين بعضهم البعض وخصوصا حرب الجمل لما فيها إحراج لهم بل يعتبرون هذه فتن ولا يجوز فتحها.</a:t>
            </a:r>
          </a:p>
          <a:p>
            <a:pPr algn="r" rtl="1"/>
            <a:r>
              <a:rPr lang="ar-LB" sz="2400" dirty="0"/>
              <a:t>بعض الشخصيات السنية رأت عدم نسب الشيعة لعبد الله بن سبأ اليهودي الذي أيضا أهم فقهاء السنة القدامى اتهمت الشيعة فهي ايضا تتكم عن هذه المسميات بل ينتقدونهم انتقاد طفيف وعدم تخريجهم على الرغم من أن هناك شخصيات تقول هذه الأمور بشكل واضح.</a:t>
            </a:r>
          </a:p>
          <a:p>
            <a:pPr algn="r" rtl="1"/>
            <a:endParaRPr lang="ar-LB" sz="2400" dirty="0"/>
          </a:p>
          <a:p>
            <a:pPr algn="r" rtl="1"/>
            <a:endParaRPr lang="en-US" sz="2400" dirty="0"/>
          </a:p>
        </p:txBody>
      </p:sp>
    </p:spTree>
    <p:extLst>
      <p:ext uri="{BB962C8B-B14F-4D97-AF65-F5344CB8AC3E}">
        <p14:creationId xmlns:p14="http://schemas.microsoft.com/office/powerpoint/2010/main" val="65925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655</TotalTime>
  <Words>3129</Words>
  <Application>Microsoft Office PowerPoint</Application>
  <PresentationFormat>Widescreen</PresentationFormat>
  <Paragraphs>111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Lotus Linotype</vt:lpstr>
      <vt:lpstr>Office Theme</vt:lpstr>
      <vt:lpstr>سلام ونعمة </vt:lpstr>
      <vt:lpstr>الخلافة:</vt:lpstr>
      <vt:lpstr>الخلافة الراشدة:</vt:lpstr>
      <vt:lpstr>الخليفة الأول أبكر:</vt:lpstr>
      <vt:lpstr>الخليفة الثاني عمر:</vt:lpstr>
      <vt:lpstr>الخليفة الثالث عثمان:</vt:lpstr>
      <vt:lpstr>الخليفة الرابع علي:</vt:lpstr>
      <vt:lpstr>الخليفة الخامس الحسن بن علي:</vt:lpstr>
      <vt:lpstr>تقسيم الأحلاف والأطراف الإسلامية:</vt:lpstr>
      <vt:lpstr>حياة الخلافاء الراشدين الشخصية:</vt:lpstr>
      <vt:lpstr>النهج السني والرد عليه:</vt:lpstr>
      <vt:lpstr>العشرة المبشرين بالجنة بالفقه السني:</vt:lpstr>
      <vt:lpstr>النهج الشيعي :</vt:lpstr>
      <vt:lpstr>الرد على النهج الشيعي:</vt:lpstr>
      <vt:lpstr>الفرقة المسمات بالخوارج:</vt:lpstr>
      <vt:lpstr>أمور مهمة يستخدمها المسلم اليوم: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Abo Lobnan Mohammad</dc:creator>
  <cp:lastModifiedBy>Abo Lobnan Mohammad</cp:lastModifiedBy>
  <cp:revision>11</cp:revision>
  <dcterms:created xsi:type="dcterms:W3CDTF">2025-03-11T22:18:00Z</dcterms:created>
  <dcterms:modified xsi:type="dcterms:W3CDTF">2025-03-20T12:27:16Z</dcterms:modified>
</cp:coreProperties>
</file>