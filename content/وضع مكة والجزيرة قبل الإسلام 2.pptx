
<file path=[Content_Types].xml><?xml version="1.0" encoding="utf-8"?>
<Types xmlns="http://schemas.openxmlformats.org/package/2006/content-types">
  <Default Extension="bmp" ContentType="image/bmp"/>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58" r:id="rId5"/>
    <p:sldId id="261" r:id="rId6"/>
    <p:sldId id="263" r:id="rId7"/>
    <p:sldId id="259" r:id="rId8"/>
    <p:sldId id="260" r:id="rId9"/>
    <p:sldId id="267" r:id="rId10"/>
    <p:sldId id="266" r:id="rId11"/>
    <p:sldId id="268"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101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1616B-FB6A-20B2-5025-F3874D206A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5B51A5C-F665-1CE2-2147-EF493F2FAC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FE1752-4BA9-7DC0-FF2B-ADE0987E83BD}"/>
              </a:ext>
            </a:extLst>
          </p:cNvPr>
          <p:cNvSpPr>
            <a:spLocks noGrp="1"/>
          </p:cNvSpPr>
          <p:nvPr>
            <p:ph type="dt" sz="half" idx="10"/>
          </p:nvPr>
        </p:nvSpPr>
        <p:spPr/>
        <p:txBody>
          <a:bodyPr/>
          <a:lstStyle/>
          <a:p>
            <a:fld id="{14CCC91D-DE83-4AC5-83A9-5E44329B099B}" type="datetimeFigureOut">
              <a:rPr lang="en-US" smtClean="0"/>
              <a:t>3/12/2025</a:t>
            </a:fld>
            <a:endParaRPr lang="en-US"/>
          </a:p>
        </p:txBody>
      </p:sp>
      <p:sp>
        <p:nvSpPr>
          <p:cNvPr id="5" name="Footer Placeholder 4">
            <a:extLst>
              <a:ext uri="{FF2B5EF4-FFF2-40B4-BE49-F238E27FC236}">
                <a16:creationId xmlns:a16="http://schemas.microsoft.com/office/drawing/2014/main" id="{C21724F5-7242-9C7A-4CFD-E3FFB94044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226CAB-11D0-AD0D-3700-57A2CC9F5B0D}"/>
              </a:ext>
            </a:extLst>
          </p:cNvPr>
          <p:cNvSpPr>
            <a:spLocks noGrp="1"/>
          </p:cNvSpPr>
          <p:nvPr>
            <p:ph type="sldNum" sz="quarter" idx="12"/>
          </p:nvPr>
        </p:nvSpPr>
        <p:spPr/>
        <p:txBody>
          <a:bodyPr/>
          <a:lstStyle/>
          <a:p>
            <a:fld id="{39F9F803-005D-4A4C-BBAF-610E69933489}" type="slidenum">
              <a:rPr lang="en-US" smtClean="0"/>
              <a:t>‹#›</a:t>
            </a:fld>
            <a:endParaRPr lang="en-US"/>
          </a:p>
        </p:txBody>
      </p:sp>
    </p:spTree>
    <p:extLst>
      <p:ext uri="{BB962C8B-B14F-4D97-AF65-F5344CB8AC3E}">
        <p14:creationId xmlns:p14="http://schemas.microsoft.com/office/powerpoint/2010/main" val="16510834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800EC-4704-10EF-0EC2-0B946D2BB7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24BCA7-190B-C753-FAC4-39116D355F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AB8166-C813-0070-469F-83CA94FE2286}"/>
              </a:ext>
            </a:extLst>
          </p:cNvPr>
          <p:cNvSpPr>
            <a:spLocks noGrp="1"/>
          </p:cNvSpPr>
          <p:nvPr>
            <p:ph type="dt" sz="half" idx="10"/>
          </p:nvPr>
        </p:nvSpPr>
        <p:spPr/>
        <p:txBody>
          <a:bodyPr/>
          <a:lstStyle/>
          <a:p>
            <a:fld id="{14CCC91D-DE83-4AC5-83A9-5E44329B099B}" type="datetimeFigureOut">
              <a:rPr lang="en-US" smtClean="0"/>
              <a:t>3/12/2025</a:t>
            </a:fld>
            <a:endParaRPr lang="en-US"/>
          </a:p>
        </p:txBody>
      </p:sp>
      <p:sp>
        <p:nvSpPr>
          <p:cNvPr id="5" name="Footer Placeholder 4">
            <a:extLst>
              <a:ext uri="{FF2B5EF4-FFF2-40B4-BE49-F238E27FC236}">
                <a16:creationId xmlns:a16="http://schemas.microsoft.com/office/drawing/2014/main" id="{022CB27E-E732-9B11-66D5-23F7B2F6D5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014D12-A463-9410-0C79-5C895059A300}"/>
              </a:ext>
            </a:extLst>
          </p:cNvPr>
          <p:cNvSpPr>
            <a:spLocks noGrp="1"/>
          </p:cNvSpPr>
          <p:nvPr>
            <p:ph type="sldNum" sz="quarter" idx="12"/>
          </p:nvPr>
        </p:nvSpPr>
        <p:spPr/>
        <p:txBody>
          <a:bodyPr/>
          <a:lstStyle/>
          <a:p>
            <a:fld id="{39F9F803-005D-4A4C-BBAF-610E69933489}" type="slidenum">
              <a:rPr lang="en-US" smtClean="0"/>
              <a:t>‹#›</a:t>
            </a:fld>
            <a:endParaRPr lang="en-US"/>
          </a:p>
        </p:txBody>
      </p:sp>
    </p:spTree>
    <p:extLst>
      <p:ext uri="{BB962C8B-B14F-4D97-AF65-F5344CB8AC3E}">
        <p14:creationId xmlns:p14="http://schemas.microsoft.com/office/powerpoint/2010/main" val="1419510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E6CFC-4D31-65F9-7416-87825066AB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D84565B-0F18-5759-188A-8579245EE3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69E081-E63D-6381-A76D-47171F84FEBB}"/>
              </a:ext>
            </a:extLst>
          </p:cNvPr>
          <p:cNvSpPr>
            <a:spLocks noGrp="1"/>
          </p:cNvSpPr>
          <p:nvPr>
            <p:ph type="dt" sz="half" idx="10"/>
          </p:nvPr>
        </p:nvSpPr>
        <p:spPr/>
        <p:txBody>
          <a:bodyPr/>
          <a:lstStyle/>
          <a:p>
            <a:fld id="{14CCC91D-DE83-4AC5-83A9-5E44329B099B}" type="datetimeFigureOut">
              <a:rPr lang="en-US" smtClean="0"/>
              <a:t>3/12/2025</a:t>
            </a:fld>
            <a:endParaRPr lang="en-US"/>
          </a:p>
        </p:txBody>
      </p:sp>
      <p:sp>
        <p:nvSpPr>
          <p:cNvPr id="5" name="Footer Placeholder 4">
            <a:extLst>
              <a:ext uri="{FF2B5EF4-FFF2-40B4-BE49-F238E27FC236}">
                <a16:creationId xmlns:a16="http://schemas.microsoft.com/office/drawing/2014/main" id="{78274B23-7702-68E4-5D2E-69E1101523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D0984C-A6CC-65B3-39BA-FB99C49B8599}"/>
              </a:ext>
            </a:extLst>
          </p:cNvPr>
          <p:cNvSpPr>
            <a:spLocks noGrp="1"/>
          </p:cNvSpPr>
          <p:nvPr>
            <p:ph type="sldNum" sz="quarter" idx="12"/>
          </p:nvPr>
        </p:nvSpPr>
        <p:spPr/>
        <p:txBody>
          <a:bodyPr/>
          <a:lstStyle/>
          <a:p>
            <a:fld id="{39F9F803-005D-4A4C-BBAF-610E69933489}" type="slidenum">
              <a:rPr lang="en-US" smtClean="0"/>
              <a:t>‹#›</a:t>
            </a:fld>
            <a:endParaRPr lang="en-US"/>
          </a:p>
        </p:txBody>
      </p:sp>
    </p:spTree>
    <p:extLst>
      <p:ext uri="{BB962C8B-B14F-4D97-AF65-F5344CB8AC3E}">
        <p14:creationId xmlns:p14="http://schemas.microsoft.com/office/powerpoint/2010/main" val="468842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A4439-5892-114E-F599-05A1C3EA8A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978B5A-3370-496F-4372-BA410E4D72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112EBB-86E0-3AEC-8C27-B825AF27EF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814A85-70AD-D25F-0425-1E5BB6A91127}"/>
              </a:ext>
            </a:extLst>
          </p:cNvPr>
          <p:cNvSpPr>
            <a:spLocks noGrp="1"/>
          </p:cNvSpPr>
          <p:nvPr>
            <p:ph type="dt" sz="half" idx="10"/>
          </p:nvPr>
        </p:nvSpPr>
        <p:spPr/>
        <p:txBody>
          <a:bodyPr/>
          <a:lstStyle/>
          <a:p>
            <a:fld id="{14CCC91D-DE83-4AC5-83A9-5E44329B099B}" type="datetimeFigureOut">
              <a:rPr lang="en-US" smtClean="0"/>
              <a:t>3/12/2025</a:t>
            </a:fld>
            <a:endParaRPr lang="en-US"/>
          </a:p>
        </p:txBody>
      </p:sp>
      <p:sp>
        <p:nvSpPr>
          <p:cNvPr id="6" name="Footer Placeholder 5">
            <a:extLst>
              <a:ext uri="{FF2B5EF4-FFF2-40B4-BE49-F238E27FC236}">
                <a16:creationId xmlns:a16="http://schemas.microsoft.com/office/drawing/2014/main" id="{C38C793E-9AA3-4AE2-23E5-A532341605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189BA8-0BD6-2264-FD9A-CB25BFFF68F2}"/>
              </a:ext>
            </a:extLst>
          </p:cNvPr>
          <p:cNvSpPr>
            <a:spLocks noGrp="1"/>
          </p:cNvSpPr>
          <p:nvPr>
            <p:ph type="sldNum" sz="quarter" idx="12"/>
          </p:nvPr>
        </p:nvSpPr>
        <p:spPr/>
        <p:txBody>
          <a:bodyPr/>
          <a:lstStyle/>
          <a:p>
            <a:fld id="{39F9F803-005D-4A4C-BBAF-610E69933489}" type="slidenum">
              <a:rPr lang="en-US" smtClean="0"/>
              <a:t>‹#›</a:t>
            </a:fld>
            <a:endParaRPr lang="en-US"/>
          </a:p>
        </p:txBody>
      </p:sp>
    </p:spTree>
    <p:extLst>
      <p:ext uri="{BB962C8B-B14F-4D97-AF65-F5344CB8AC3E}">
        <p14:creationId xmlns:p14="http://schemas.microsoft.com/office/powerpoint/2010/main" val="1947781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EC84C-98DE-9758-EB47-03B8EEF57B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944B979-16BB-2193-B4B7-872D728690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9C03FD-D51A-F582-0DB8-D2AB5D990E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EA42E3-99C2-93FE-9957-3A60EC458B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A63647-6E0B-4179-55E1-EC15A87E6E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07702F4-2E91-2452-A07F-F596BF3B9E49}"/>
              </a:ext>
            </a:extLst>
          </p:cNvPr>
          <p:cNvSpPr>
            <a:spLocks noGrp="1"/>
          </p:cNvSpPr>
          <p:nvPr>
            <p:ph type="dt" sz="half" idx="10"/>
          </p:nvPr>
        </p:nvSpPr>
        <p:spPr/>
        <p:txBody>
          <a:bodyPr/>
          <a:lstStyle/>
          <a:p>
            <a:fld id="{14CCC91D-DE83-4AC5-83A9-5E44329B099B}" type="datetimeFigureOut">
              <a:rPr lang="en-US" smtClean="0"/>
              <a:t>3/12/2025</a:t>
            </a:fld>
            <a:endParaRPr lang="en-US"/>
          </a:p>
        </p:txBody>
      </p:sp>
      <p:sp>
        <p:nvSpPr>
          <p:cNvPr id="8" name="Footer Placeholder 7">
            <a:extLst>
              <a:ext uri="{FF2B5EF4-FFF2-40B4-BE49-F238E27FC236}">
                <a16:creationId xmlns:a16="http://schemas.microsoft.com/office/drawing/2014/main" id="{64ADA991-13D6-AB4C-3B54-A4CF2DAA67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858C4E-3D4F-9A06-3B12-BF3F8797D169}"/>
              </a:ext>
            </a:extLst>
          </p:cNvPr>
          <p:cNvSpPr>
            <a:spLocks noGrp="1"/>
          </p:cNvSpPr>
          <p:nvPr>
            <p:ph type="sldNum" sz="quarter" idx="12"/>
          </p:nvPr>
        </p:nvSpPr>
        <p:spPr/>
        <p:txBody>
          <a:bodyPr/>
          <a:lstStyle/>
          <a:p>
            <a:fld id="{39F9F803-005D-4A4C-BBAF-610E69933489}" type="slidenum">
              <a:rPr lang="en-US" smtClean="0"/>
              <a:t>‹#›</a:t>
            </a:fld>
            <a:endParaRPr lang="en-US"/>
          </a:p>
        </p:txBody>
      </p:sp>
    </p:spTree>
    <p:extLst>
      <p:ext uri="{BB962C8B-B14F-4D97-AF65-F5344CB8AC3E}">
        <p14:creationId xmlns:p14="http://schemas.microsoft.com/office/powerpoint/2010/main" val="32516427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F8F51-6F86-AFA1-36B1-59F9C70D028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835B20C-C5A4-28CA-34DE-B64403CF7ECA}"/>
              </a:ext>
            </a:extLst>
          </p:cNvPr>
          <p:cNvSpPr>
            <a:spLocks noGrp="1"/>
          </p:cNvSpPr>
          <p:nvPr>
            <p:ph type="dt" sz="half" idx="10"/>
          </p:nvPr>
        </p:nvSpPr>
        <p:spPr/>
        <p:txBody>
          <a:bodyPr/>
          <a:lstStyle/>
          <a:p>
            <a:fld id="{14CCC91D-DE83-4AC5-83A9-5E44329B099B}" type="datetimeFigureOut">
              <a:rPr lang="en-US" smtClean="0"/>
              <a:t>3/12/2025</a:t>
            </a:fld>
            <a:endParaRPr lang="en-US"/>
          </a:p>
        </p:txBody>
      </p:sp>
      <p:sp>
        <p:nvSpPr>
          <p:cNvPr id="4" name="Footer Placeholder 3">
            <a:extLst>
              <a:ext uri="{FF2B5EF4-FFF2-40B4-BE49-F238E27FC236}">
                <a16:creationId xmlns:a16="http://schemas.microsoft.com/office/drawing/2014/main" id="{91A889DE-7E27-D313-98D7-11E5457B1E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66636E-6EB1-EF16-BDE9-571165C0C4F3}"/>
              </a:ext>
            </a:extLst>
          </p:cNvPr>
          <p:cNvSpPr>
            <a:spLocks noGrp="1"/>
          </p:cNvSpPr>
          <p:nvPr>
            <p:ph type="sldNum" sz="quarter" idx="12"/>
          </p:nvPr>
        </p:nvSpPr>
        <p:spPr/>
        <p:txBody>
          <a:bodyPr/>
          <a:lstStyle/>
          <a:p>
            <a:fld id="{39F9F803-005D-4A4C-BBAF-610E69933489}" type="slidenum">
              <a:rPr lang="en-US" smtClean="0"/>
              <a:t>‹#›</a:t>
            </a:fld>
            <a:endParaRPr lang="en-US"/>
          </a:p>
        </p:txBody>
      </p:sp>
    </p:spTree>
    <p:extLst>
      <p:ext uri="{BB962C8B-B14F-4D97-AF65-F5344CB8AC3E}">
        <p14:creationId xmlns:p14="http://schemas.microsoft.com/office/powerpoint/2010/main" val="1416565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98ECD9-1F71-739A-7DCB-700C9D4CB278}"/>
              </a:ext>
            </a:extLst>
          </p:cNvPr>
          <p:cNvSpPr>
            <a:spLocks noGrp="1"/>
          </p:cNvSpPr>
          <p:nvPr>
            <p:ph type="dt" sz="half" idx="10"/>
          </p:nvPr>
        </p:nvSpPr>
        <p:spPr/>
        <p:txBody>
          <a:bodyPr/>
          <a:lstStyle/>
          <a:p>
            <a:fld id="{14CCC91D-DE83-4AC5-83A9-5E44329B099B}" type="datetimeFigureOut">
              <a:rPr lang="en-US" smtClean="0"/>
              <a:t>3/12/2025</a:t>
            </a:fld>
            <a:endParaRPr lang="en-US"/>
          </a:p>
        </p:txBody>
      </p:sp>
      <p:sp>
        <p:nvSpPr>
          <p:cNvPr id="3" name="Footer Placeholder 2">
            <a:extLst>
              <a:ext uri="{FF2B5EF4-FFF2-40B4-BE49-F238E27FC236}">
                <a16:creationId xmlns:a16="http://schemas.microsoft.com/office/drawing/2014/main" id="{159F7036-FCAB-8550-9060-C7251F37879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CC7D63A-4D16-A91C-0380-66CA16C393DF}"/>
              </a:ext>
            </a:extLst>
          </p:cNvPr>
          <p:cNvSpPr>
            <a:spLocks noGrp="1"/>
          </p:cNvSpPr>
          <p:nvPr>
            <p:ph type="sldNum" sz="quarter" idx="12"/>
          </p:nvPr>
        </p:nvSpPr>
        <p:spPr/>
        <p:txBody>
          <a:bodyPr/>
          <a:lstStyle/>
          <a:p>
            <a:fld id="{39F9F803-005D-4A4C-BBAF-610E69933489}" type="slidenum">
              <a:rPr lang="en-US" smtClean="0"/>
              <a:t>‹#›</a:t>
            </a:fld>
            <a:endParaRPr lang="en-US"/>
          </a:p>
        </p:txBody>
      </p:sp>
    </p:spTree>
    <p:extLst>
      <p:ext uri="{BB962C8B-B14F-4D97-AF65-F5344CB8AC3E}">
        <p14:creationId xmlns:p14="http://schemas.microsoft.com/office/powerpoint/2010/main" val="2063489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A1824-83BA-C443-22AC-140D3A6A13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E2E2315-F487-2C15-C91A-4BECC1EBE7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8792D9-89E1-2C3D-DE28-DF874BB8ED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3DE288-CA1C-76B1-3ADE-FA8588C92C69}"/>
              </a:ext>
            </a:extLst>
          </p:cNvPr>
          <p:cNvSpPr>
            <a:spLocks noGrp="1"/>
          </p:cNvSpPr>
          <p:nvPr>
            <p:ph type="dt" sz="half" idx="10"/>
          </p:nvPr>
        </p:nvSpPr>
        <p:spPr/>
        <p:txBody>
          <a:bodyPr/>
          <a:lstStyle/>
          <a:p>
            <a:fld id="{14CCC91D-DE83-4AC5-83A9-5E44329B099B}" type="datetimeFigureOut">
              <a:rPr lang="en-US" smtClean="0"/>
              <a:t>3/12/2025</a:t>
            </a:fld>
            <a:endParaRPr lang="en-US"/>
          </a:p>
        </p:txBody>
      </p:sp>
      <p:sp>
        <p:nvSpPr>
          <p:cNvPr id="6" name="Footer Placeholder 5">
            <a:extLst>
              <a:ext uri="{FF2B5EF4-FFF2-40B4-BE49-F238E27FC236}">
                <a16:creationId xmlns:a16="http://schemas.microsoft.com/office/drawing/2014/main" id="{96C345A9-CCA3-145F-F6A7-A5B97700D6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CE259A-E3BD-158F-FE09-DD349DE1D36A}"/>
              </a:ext>
            </a:extLst>
          </p:cNvPr>
          <p:cNvSpPr>
            <a:spLocks noGrp="1"/>
          </p:cNvSpPr>
          <p:nvPr>
            <p:ph type="sldNum" sz="quarter" idx="12"/>
          </p:nvPr>
        </p:nvSpPr>
        <p:spPr/>
        <p:txBody>
          <a:bodyPr/>
          <a:lstStyle/>
          <a:p>
            <a:fld id="{39F9F803-005D-4A4C-BBAF-610E69933489}" type="slidenum">
              <a:rPr lang="en-US" smtClean="0"/>
              <a:t>‹#›</a:t>
            </a:fld>
            <a:endParaRPr lang="en-US"/>
          </a:p>
        </p:txBody>
      </p:sp>
    </p:spTree>
    <p:extLst>
      <p:ext uri="{BB962C8B-B14F-4D97-AF65-F5344CB8AC3E}">
        <p14:creationId xmlns:p14="http://schemas.microsoft.com/office/powerpoint/2010/main" val="2806953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113C6-5597-C605-D7B2-A0A9E2599B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D4C36EC-CE48-1F55-1610-C8BD903A31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7CA0CA-9275-BBE8-2B81-6B2732DD63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1EE748-A29F-A12E-3EE3-55930D015EC5}"/>
              </a:ext>
            </a:extLst>
          </p:cNvPr>
          <p:cNvSpPr>
            <a:spLocks noGrp="1"/>
          </p:cNvSpPr>
          <p:nvPr>
            <p:ph type="dt" sz="half" idx="10"/>
          </p:nvPr>
        </p:nvSpPr>
        <p:spPr/>
        <p:txBody>
          <a:bodyPr/>
          <a:lstStyle/>
          <a:p>
            <a:fld id="{14CCC91D-DE83-4AC5-83A9-5E44329B099B}" type="datetimeFigureOut">
              <a:rPr lang="en-US" smtClean="0"/>
              <a:t>3/12/2025</a:t>
            </a:fld>
            <a:endParaRPr lang="en-US"/>
          </a:p>
        </p:txBody>
      </p:sp>
      <p:sp>
        <p:nvSpPr>
          <p:cNvPr id="6" name="Footer Placeholder 5">
            <a:extLst>
              <a:ext uri="{FF2B5EF4-FFF2-40B4-BE49-F238E27FC236}">
                <a16:creationId xmlns:a16="http://schemas.microsoft.com/office/drawing/2014/main" id="{25E8EF15-1380-42A9-DE7B-0E809C37E8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465891-44F6-B11E-C7C0-B380F4EDF9AC}"/>
              </a:ext>
            </a:extLst>
          </p:cNvPr>
          <p:cNvSpPr>
            <a:spLocks noGrp="1"/>
          </p:cNvSpPr>
          <p:nvPr>
            <p:ph type="sldNum" sz="quarter" idx="12"/>
          </p:nvPr>
        </p:nvSpPr>
        <p:spPr/>
        <p:txBody>
          <a:bodyPr/>
          <a:lstStyle/>
          <a:p>
            <a:fld id="{39F9F803-005D-4A4C-BBAF-610E69933489}" type="slidenum">
              <a:rPr lang="en-US" smtClean="0"/>
              <a:t>‹#›</a:t>
            </a:fld>
            <a:endParaRPr lang="en-US"/>
          </a:p>
        </p:txBody>
      </p:sp>
    </p:spTree>
    <p:extLst>
      <p:ext uri="{BB962C8B-B14F-4D97-AF65-F5344CB8AC3E}">
        <p14:creationId xmlns:p14="http://schemas.microsoft.com/office/powerpoint/2010/main" val="1256929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B4899-3DEB-687D-6D12-CCC87895B42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145AAC8-3502-A1FB-CE5D-116C0F3C66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0253F2-C436-B770-320F-DCA85AFCF72B}"/>
              </a:ext>
            </a:extLst>
          </p:cNvPr>
          <p:cNvSpPr>
            <a:spLocks noGrp="1"/>
          </p:cNvSpPr>
          <p:nvPr>
            <p:ph type="dt" sz="half" idx="10"/>
          </p:nvPr>
        </p:nvSpPr>
        <p:spPr/>
        <p:txBody>
          <a:bodyPr/>
          <a:lstStyle/>
          <a:p>
            <a:fld id="{14CCC91D-DE83-4AC5-83A9-5E44329B099B}" type="datetimeFigureOut">
              <a:rPr lang="en-US" smtClean="0"/>
              <a:t>3/12/2025</a:t>
            </a:fld>
            <a:endParaRPr lang="en-US"/>
          </a:p>
        </p:txBody>
      </p:sp>
      <p:sp>
        <p:nvSpPr>
          <p:cNvPr id="5" name="Footer Placeholder 4">
            <a:extLst>
              <a:ext uri="{FF2B5EF4-FFF2-40B4-BE49-F238E27FC236}">
                <a16:creationId xmlns:a16="http://schemas.microsoft.com/office/drawing/2014/main" id="{DCC1C001-F3E3-F925-20EC-FE48C1A98E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98BC4F-7644-F2AD-6B2D-F8FABF88CC84}"/>
              </a:ext>
            </a:extLst>
          </p:cNvPr>
          <p:cNvSpPr>
            <a:spLocks noGrp="1"/>
          </p:cNvSpPr>
          <p:nvPr>
            <p:ph type="sldNum" sz="quarter" idx="12"/>
          </p:nvPr>
        </p:nvSpPr>
        <p:spPr/>
        <p:txBody>
          <a:bodyPr/>
          <a:lstStyle/>
          <a:p>
            <a:fld id="{39F9F803-005D-4A4C-BBAF-610E69933489}" type="slidenum">
              <a:rPr lang="en-US" smtClean="0"/>
              <a:t>‹#›</a:t>
            </a:fld>
            <a:endParaRPr lang="en-US"/>
          </a:p>
        </p:txBody>
      </p:sp>
    </p:spTree>
    <p:extLst>
      <p:ext uri="{BB962C8B-B14F-4D97-AF65-F5344CB8AC3E}">
        <p14:creationId xmlns:p14="http://schemas.microsoft.com/office/powerpoint/2010/main" val="3368512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2ABD08-660A-1749-613E-919195A3274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D34A28-9D84-684E-A331-B148354FCE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ACAE24-A83B-0306-7C6E-5A02DF6269B8}"/>
              </a:ext>
            </a:extLst>
          </p:cNvPr>
          <p:cNvSpPr>
            <a:spLocks noGrp="1"/>
          </p:cNvSpPr>
          <p:nvPr>
            <p:ph type="dt" sz="half" idx="10"/>
          </p:nvPr>
        </p:nvSpPr>
        <p:spPr/>
        <p:txBody>
          <a:bodyPr/>
          <a:lstStyle/>
          <a:p>
            <a:fld id="{14CCC91D-DE83-4AC5-83A9-5E44329B099B}" type="datetimeFigureOut">
              <a:rPr lang="en-US" smtClean="0"/>
              <a:t>3/12/2025</a:t>
            </a:fld>
            <a:endParaRPr lang="en-US"/>
          </a:p>
        </p:txBody>
      </p:sp>
      <p:sp>
        <p:nvSpPr>
          <p:cNvPr id="5" name="Footer Placeholder 4">
            <a:extLst>
              <a:ext uri="{FF2B5EF4-FFF2-40B4-BE49-F238E27FC236}">
                <a16:creationId xmlns:a16="http://schemas.microsoft.com/office/drawing/2014/main" id="{79A10A61-4581-0F92-2FFA-38ED80DAA1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28A73C-C825-D649-BDF7-43E0A963BC7C}"/>
              </a:ext>
            </a:extLst>
          </p:cNvPr>
          <p:cNvSpPr>
            <a:spLocks noGrp="1"/>
          </p:cNvSpPr>
          <p:nvPr>
            <p:ph type="sldNum" sz="quarter" idx="12"/>
          </p:nvPr>
        </p:nvSpPr>
        <p:spPr/>
        <p:txBody>
          <a:bodyPr/>
          <a:lstStyle/>
          <a:p>
            <a:fld id="{39F9F803-005D-4A4C-BBAF-610E69933489}" type="slidenum">
              <a:rPr lang="en-US" smtClean="0"/>
              <a:t>‹#›</a:t>
            </a:fld>
            <a:endParaRPr lang="en-US"/>
          </a:p>
        </p:txBody>
      </p:sp>
    </p:spTree>
    <p:extLst>
      <p:ext uri="{BB962C8B-B14F-4D97-AF65-F5344CB8AC3E}">
        <p14:creationId xmlns:p14="http://schemas.microsoft.com/office/powerpoint/2010/main" val="3857973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817F3F-D975-3AE0-D6B8-BB47F92438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4D6652-BA53-F9D1-8738-F3823EA509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40B9BB-22E8-5594-3EB0-44E91DFC6A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CCC91D-DE83-4AC5-83A9-5E44329B099B}" type="datetimeFigureOut">
              <a:rPr lang="en-US" smtClean="0"/>
              <a:t>3/12/2025</a:t>
            </a:fld>
            <a:endParaRPr lang="en-US"/>
          </a:p>
        </p:txBody>
      </p:sp>
      <p:sp>
        <p:nvSpPr>
          <p:cNvPr id="5" name="Footer Placeholder 4">
            <a:extLst>
              <a:ext uri="{FF2B5EF4-FFF2-40B4-BE49-F238E27FC236}">
                <a16:creationId xmlns:a16="http://schemas.microsoft.com/office/drawing/2014/main" id="{E0D45CE9-5F93-4F4B-C8A6-A9D22A3581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745DA88-2D45-EEFD-8AA3-266C49EA37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F9F803-005D-4A4C-BBAF-610E69933489}" type="slidenum">
              <a:rPr lang="en-US" smtClean="0"/>
              <a:t>‹#›</a:t>
            </a:fld>
            <a:endParaRPr lang="en-US"/>
          </a:p>
        </p:txBody>
      </p:sp>
    </p:spTree>
    <p:extLst>
      <p:ext uri="{BB962C8B-B14F-4D97-AF65-F5344CB8AC3E}">
        <p14:creationId xmlns:p14="http://schemas.microsoft.com/office/powerpoint/2010/main" val="3606878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bmp"/><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A21E2-2A42-0CA1-EE7C-1C45A31BD2CB}"/>
              </a:ext>
            </a:extLst>
          </p:cNvPr>
          <p:cNvSpPr>
            <a:spLocks noGrp="1"/>
          </p:cNvSpPr>
          <p:nvPr>
            <p:ph type="ctrTitle"/>
          </p:nvPr>
        </p:nvSpPr>
        <p:spPr/>
        <p:txBody>
          <a:bodyPr/>
          <a:lstStyle/>
          <a:p>
            <a:r>
              <a:rPr lang="ar-LB" dirty="0"/>
              <a:t>سلام ونعمة </a:t>
            </a:r>
            <a:endParaRPr lang="en-US" dirty="0"/>
          </a:p>
        </p:txBody>
      </p:sp>
      <p:sp>
        <p:nvSpPr>
          <p:cNvPr id="3" name="Subtitle 2">
            <a:extLst>
              <a:ext uri="{FF2B5EF4-FFF2-40B4-BE49-F238E27FC236}">
                <a16:creationId xmlns:a16="http://schemas.microsoft.com/office/drawing/2014/main" id="{42D6C532-BCEA-57B2-CD88-F00CE53E1B5D}"/>
              </a:ext>
            </a:extLst>
          </p:cNvPr>
          <p:cNvSpPr>
            <a:spLocks noGrp="1"/>
          </p:cNvSpPr>
          <p:nvPr>
            <p:ph type="subTitle" idx="1"/>
          </p:nvPr>
        </p:nvSpPr>
        <p:spPr/>
        <p:txBody>
          <a:bodyPr/>
          <a:lstStyle/>
          <a:p>
            <a:r>
              <a:rPr lang="ar-LB" dirty="0"/>
              <a:t>وضع مكة والجزيرة قبل الإسلام</a:t>
            </a:r>
            <a:endParaRPr lang="en-US" dirty="0"/>
          </a:p>
        </p:txBody>
      </p:sp>
    </p:spTree>
    <p:extLst>
      <p:ext uri="{BB962C8B-B14F-4D97-AF65-F5344CB8AC3E}">
        <p14:creationId xmlns:p14="http://schemas.microsoft.com/office/powerpoint/2010/main" val="1892095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48470-8446-D262-E280-129F5A40BA2A}"/>
              </a:ext>
            </a:extLst>
          </p:cNvPr>
          <p:cNvSpPr>
            <a:spLocks noGrp="1"/>
          </p:cNvSpPr>
          <p:nvPr>
            <p:ph type="title"/>
          </p:nvPr>
        </p:nvSpPr>
        <p:spPr>
          <a:xfrm>
            <a:off x="838200" y="99654"/>
            <a:ext cx="10515600" cy="1325563"/>
          </a:xfrm>
        </p:spPr>
        <p:txBody>
          <a:bodyPr/>
          <a:lstStyle/>
          <a:p>
            <a:pPr algn="r" rtl="1"/>
            <a:r>
              <a:rPr lang="ar-LB" dirty="0"/>
              <a:t>الكعبة ومكة:</a:t>
            </a:r>
            <a:endParaRPr lang="en-US" dirty="0"/>
          </a:p>
        </p:txBody>
      </p:sp>
      <p:sp>
        <p:nvSpPr>
          <p:cNvPr id="3" name="Content Placeholder 2">
            <a:extLst>
              <a:ext uri="{FF2B5EF4-FFF2-40B4-BE49-F238E27FC236}">
                <a16:creationId xmlns:a16="http://schemas.microsoft.com/office/drawing/2014/main" id="{CFD72F4E-CED0-9EF7-5725-4AD2FA18C5F0}"/>
              </a:ext>
            </a:extLst>
          </p:cNvPr>
          <p:cNvSpPr>
            <a:spLocks noGrp="1"/>
          </p:cNvSpPr>
          <p:nvPr>
            <p:ph idx="1"/>
          </p:nvPr>
        </p:nvSpPr>
        <p:spPr>
          <a:xfrm>
            <a:off x="462116" y="993058"/>
            <a:ext cx="11356258" cy="5765288"/>
          </a:xfrm>
        </p:spPr>
        <p:txBody>
          <a:bodyPr>
            <a:normAutofit lnSpcReduction="10000"/>
          </a:bodyPr>
          <a:lstStyle/>
          <a:p>
            <a:pPr algn="r" rtl="1"/>
            <a:r>
              <a:rPr lang="ar-LB" sz="2400" dirty="0"/>
              <a:t>يعتقد الكثير من المسلمين أن احد أهم الأشخاص الذين بنوا الكعبة في مكة المكرمة النبي إبراهيم وابنه إسماعيل.</a:t>
            </a:r>
          </a:p>
          <a:p>
            <a:pPr algn="r" rtl="1"/>
            <a:r>
              <a:rPr lang="ar-LB" sz="2400" dirty="0"/>
              <a:t>هاجر زوجة إبراهيم انتظرت إبراهيم في صحراء مكة مع رضيعها إسماعيل بعدما تركها بأمر من الله.</a:t>
            </a:r>
          </a:p>
          <a:p>
            <a:pPr algn="r" rtl="1"/>
            <a:r>
              <a:rPr lang="ar-LB" sz="2400" dirty="0"/>
              <a:t>من شدة الحر والعطش سعت هاجر سبعة مرات بين الصفا والمروة كررت ذلك سبع مرات حتى وجدت المياه تنبع عند مكان سمي بزمزم.</a:t>
            </a:r>
          </a:p>
          <a:p>
            <a:pPr algn="r" rtl="1"/>
            <a:r>
              <a:rPr lang="ar-LB" sz="2400" dirty="0"/>
              <a:t>أحب إبراهيم ابنه إسماعيل كثيرا فأتى الله اليه وأمره بذبح ابنه إسماعيل إلا أن إبراهيم عندما أراد ذبح فداه الله بكبش عظيم.</a:t>
            </a:r>
          </a:p>
          <a:p>
            <a:pPr algn="r" rtl="1"/>
            <a:r>
              <a:rPr lang="ar-LB" sz="2400" dirty="0"/>
              <a:t>ويروى أيضا ان الشيطان تراآى لإبراهيم فرجمه ويوجد نصب لليشطان في منى يرجمه الحاج سبعا اول وثاني وثالث ايام عيد الأضحى.</a:t>
            </a:r>
          </a:p>
          <a:p>
            <a:pPr algn="r" rtl="1"/>
            <a:r>
              <a:rPr lang="ar-LB" sz="2400" dirty="0"/>
              <a:t>لذا يحتفل المسلمون في كل عام من السنة الهجرية في الشهر الثاني عشر ذو الحجة بالحج وممارسة كافة شعائر الحج والعمرة في مكة منها الطواف والسعي بين الصفا والمروة. زيارة جبل عرفات حيث هناك تسمع الدعاوى في التاسع من ذي الحجة, ذبح شاة صحيحة في العاشر من ذي الحجة وممارسة الرجم عند منى سبع جمرات في العشر والحادي عشر والثاني عشر من ذي الحجة وهي أيام عيد الأضحى المبارك.</a:t>
            </a:r>
          </a:p>
          <a:p>
            <a:pPr algn="r" rtl="1"/>
            <a:r>
              <a:rPr lang="ar-LB" sz="2400" dirty="0"/>
              <a:t>يفرض الحج على المسلم مرة واحدة في حياته لمن استطاع إليه سبيلا ويستحب عدة مرات والذي يحج يرجع كأنه ولد بلا ذنوب من جديد.</a:t>
            </a:r>
          </a:p>
          <a:p>
            <a:pPr algn="r" rtl="1"/>
            <a:r>
              <a:rPr lang="ar-LB" sz="2400" dirty="0"/>
              <a:t>يمكن تشبيه عيد الأضحى لعيد الفصح فهو يشبه فكرة كتابية ان ابراهيم اراد ذبح ابنه إسحاق ففدي ايضا وممارسة طقوس الذبح شرط ان تكون الدابة بلا عيب وفكرة الذبيحة التي تكفر او ترمز لتكفير عن كل الخطايا.</a:t>
            </a:r>
          </a:p>
          <a:p>
            <a:pPr algn="r" rtl="1"/>
            <a:endParaRPr lang="ar-LB" sz="2400" dirty="0"/>
          </a:p>
        </p:txBody>
      </p:sp>
    </p:spTree>
    <p:extLst>
      <p:ext uri="{BB962C8B-B14F-4D97-AF65-F5344CB8AC3E}">
        <p14:creationId xmlns:p14="http://schemas.microsoft.com/office/powerpoint/2010/main" val="320695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0E9E9-ED67-1738-0DDF-3A1E5FD7A050}"/>
              </a:ext>
            </a:extLst>
          </p:cNvPr>
          <p:cNvSpPr>
            <a:spLocks noGrp="1"/>
          </p:cNvSpPr>
          <p:nvPr>
            <p:ph type="title"/>
          </p:nvPr>
        </p:nvSpPr>
        <p:spPr/>
        <p:txBody>
          <a:bodyPr/>
          <a:lstStyle/>
          <a:p>
            <a:pPr algn="r" rtl="1"/>
            <a:r>
              <a:rPr lang="ar-LB" dirty="0"/>
              <a:t>نسب القريشين:</a:t>
            </a:r>
            <a:endParaRPr lang="en-US" dirty="0"/>
          </a:p>
        </p:txBody>
      </p:sp>
      <p:sp>
        <p:nvSpPr>
          <p:cNvPr id="3" name="Content Placeholder 2">
            <a:extLst>
              <a:ext uri="{FF2B5EF4-FFF2-40B4-BE49-F238E27FC236}">
                <a16:creationId xmlns:a16="http://schemas.microsoft.com/office/drawing/2014/main" id="{8F2892F3-9FCD-6E3F-E550-9AA3DB08E0B6}"/>
              </a:ext>
            </a:extLst>
          </p:cNvPr>
          <p:cNvSpPr>
            <a:spLocks noGrp="1"/>
          </p:cNvSpPr>
          <p:nvPr>
            <p:ph idx="1"/>
          </p:nvPr>
        </p:nvSpPr>
        <p:spPr>
          <a:xfrm>
            <a:off x="3761510" y="1485900"/>
            <a:ext cx="7592290" cy="4556126"/>
          </a:xfrm>
        </p:spPr>
        <p:txBody>
          <a:bodyPr>
            <a:normAutofit/>
          </a:bodyPr>
          <a:lstStyle/>
          <a:p>
            <a:pPr algn="r" rtl="1"/>
            <a:r>
              <a:rPr lang="ar-LB" sz="2400" dirty="0"/>
              <a:t>يرجع نسب الكنانيين إلى: 	كنانة بن خزيمة بن مدركة بن إلياس بن مضر بن نزار بن معد بن عدنان والعدنانيون من بني النبي إسماعيل بن النبي إبراهيم عليهما السلام.</a:t>
            </a:r>
          </a:p>
          <a:p>
            <a:pPr algn="r" rtl="1"/>
            <a:r>
              <a:rPr lang="ar-LB" sz="2400" dirty="0"/>
              <a:t>يعتقد المسلمين أن كل الأنبياء المسلمين وابرزهم إبراهيم الذي ابرز المسلمين والذي كان يعتقد ان تشريع الأضحية وعيد الأضحى وهو أقدم بالنسبة للمسلمين من الفطر الذي يلي رمضان.</a:t>
            </a:r>
          </a:p>
          <a:p>
            <a:pPr algn="r" rtl="1"/>
            <a:r>
              <a:rPr lang="ar-LB" sz="2400" dirty="0"/>
              <a:t>يختلف على لقب فمنهم أن اللقب على جد رسول الإسلام العاشر فهر بن مالك وآخرون يعتقدون أن االلقب للجد الثاني النضر بن كنانة.</a:t>
            </a:r>
            <a:endParaRPr lang="en-US" sz="2400" dirty="0"/>
          </a:p>
        </p:txBody>
      </p:sp>
      <p:pic>
        <p:nvPicPr>
          <p:cNvPr id="5" name="Picture 4" descr="A yellow sign with black text&#10;&#10;AI-generated content may be incorrect.">
            <a:extLst>
              <a:ext uri="{FF2B5EF4-FFF2-40B4-BE49-F238E27FC236}">
                <a16:creationId xmlns:a16="http://schemas.microsoft.com/office/drawing/2014/main" id="{C28FC674-5A00-DF95-92D2-62BE75FC9D2A}"/>
              </a:ext>
            </a:extLst>
          </p:cNvPr>
          <p:cNvPicPr>
            <a:picLocks noChangeAspect="1"/>
          </p:cNvPicPr>
          <p:nvPr/>
        </p:nvPicPr>
        <p:blipFill>
          <a:blip r:embed="rId2">
            <a:extLst>
              <a:ext uri="{28A0092B-C50C-407E-A947-70E740481C1C}">
                <a14:useLocalDpi xmlns:a14="http://schemas.microsoft.com/office/drawing/2010/main" val="0"/>
              </a:ext>
            </a:extLst>
          </a:blip>
          <a:srcRect l="23506" t="6926" r="31746" b="22355"/>
          <a:stretch/>
        </p:blipFill>
        <p:spPr>
          <a:xfrm>
            <a:off x="258790" y="2140527"/>
            <a:ext cx="3114992" cy="2431473"/>
          </a:xfrm>
          <a:prstGeom prst="rect">
            <a:avLst/>
          </a:prstGeom>
        </p:spPr>
      </p:pic>
    </p:spTree>
    <p:extLst>
      <p:ext uri="{BB962C8B-B14F-4D97-AF65-F5344CB8AC3E}">
        <p14:creationId xmlns:p14="http://schemas.microsoft.com/office/powerpoint/2010/main" val="3471398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70B4B-5678-BE5B-9C1E-D87CEA75036F}"/>
              </a:ext>
            </a:extLst>
          </p:cNvPr>
          <p:cNvSpPr>
            <a:spLocks noGrp="1"/>
          </p:cNvSpPr>
          <p:nvPr>
            <p:ph type="title"/>
          </p:nvPr>
        </p:nvSpPr>
        <p:spPr>
          <a:xfrm>
            <a:off x="3577937" y="84570"/>
            <a:ext cx="5576455" cy="1325563"/>
          </a:xfrm>
        </p:spPr>
        <p:txBody>
          <a:bodyPr/>
          <a:lstStyle/>
          <a:p>
            <a:r>
              <a:rPr lang="ar-LB" dirty="0"/>
              <a:t>شجرة القبائل القريشية </a:t>
            </a:r>
            <a:endParaRPr lang="en-US" dirty="0"/>
          </a:p>
        </p:txBody>
      </p:sp>
      <p:pic>
        <p:nvPicPr>
          <p:cNvPr id="5" name="Content Placeholder 4" descr="A diagram of a company&#10;&#10;AI-generated content may be incorrect.">
            <a:extLst>
              <a:ext uri="{FF2B5EF4-FFF2-40B4-BE49-F238E27FC236}">
                <a16:creationId xmlns:a16="http://schemas.microsoft.com/office/drawing/2014/main" id="{A48259AF-D2C5-D994-D938-A2D259E60D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3281" y="1183769"/>
            <a:ext cx="9623570" cy="5464969"/>
          </a:xfrm>
        </p:spPr>
      </p:pic>
    </p:spTree>
    <p:extLst>
      <p:ext uri="{BB962C8B-B14F-4D97-AF65-F5344CB8AC3E}">
        <p14:creationId xmlns:p14="http://schemas.microsoft.com/office/powerpoint/2010/main" val="1683302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CB807-F780-D54F-4C8A-763A394CB765}"/>
              </a:ext>
            </a:extLst>
          </p:cNvPr>
          <p:cNvSpPr>
            <a:spLocks noGrp="1"/>
          </p:cNvSpPr>
          <p:nvPr>
            <p:ph type="title"/>
          </p:nvPr>
        </p:nvSpPr>
        <p:spPr>
          <a:xfrm>
            <a:off x="838200" y="136525"/>
            <a:ext cx="10515600" cy="1325563"/>
          </a:xfrm>
        </p:spPr>
        <p:txBody>
          <a:bodyPr/>
          <a:lstStyle/>
          <a:p>
            <a:pPr algn="r" rtl="1"/>
            <a:r>
              <a:rPr lang="ar-LB" dirty="0"/>
              <a:t>بنو أمية :</a:t>
            </a:r>
            <a:endParaRPr lang="en-US" dirty="0"/>
          </a:p>
        </p:txBody>
      </p:sp>
      <p:pic>
        <p:nvPicPr>
          <p:cNvPr id="5" name="Content Placeholder 4" descr="A diagram of different colored rectangular shapes&#10;&#10;AI-generated content may be incorrect.">
            <a:extLst>
              <a:ext uri="{FF2B5EF4-FFF2-40B4-BE49-F238E27FC236}">
                <a16:creationId xmlns:a16="http://schemas.microsoft.com/office/drawing/2014/main" id="{D4E7D88B-9BCE-DC67-407E-5C6D701CFF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6844" y="1690688"/>
            <a:ext cx="5120640" cy="3329940"/>
          </a:xfrm>
        </p:spPr>
      </p:pic>
      <p:sp>
        <p:nvSpPr>
          <p:cNvPr id="6" name="TextBox 5">
            <a:extLst>
              <a:ext uri="{FF2B5EF4-FFF2-40B4-BE49-F238E27FC236}">
                <a16:creationId xmlns:a16="http://schemas.microsoft.com/office/drawing/2014/main" id="{0AD34E38-15FA-DB50-0212-D973DD79B61F}"/>
              </a:ext>
            </a:extLst>
          </p:cNvPr>
          <p:cNvSpPr txBox="1"/>
          <p:nvPr/>
        </p:nvSpPr>
        <p:spPr>
          <a:xfrm>
            <a:off x="6380018" y="1373699"/>
            <a:ext cx="5216236" cy="4524315"/>
          </a:xfrm>
          <a:prstGeom prst="rect">
            <a:avLst/>
          </a:prstGeom>
          <a:noFill/>
        </p:spPr>
        <p:txBody>
          <a:bodyPr wrap="square" rtlCol="0">
            <a:spAutoFit/>
          </a:bodyPr>
          <a:lstStyle/>
          <a:p>
            <a:pPr marL="342900" indent="-342900" algn="r" rtl="1">
              <a:buFont typeface="Arial" panose="020B0604020202020204" pitchFamily="34" charset="0"/>
              <a:buChar char="•"/>
            </a:pPr>
            <a:r>
              <a:rPr lang="ar-LB" sz="2400" dirty="0"/>
              <a:t>كان بنو أمية أكثر القبائل المكية ثراء وأكثرها بحيث اشتهرت بالعمل وقيادتة القوافل التجارية المتوجهة من الشام للجزيرة العربية.</a:t>
            </a:r>
          </a:p>
          <a:p>
            <a:pPr marL="342900" indent="-342900" algn="r" rtl="1">
              <a:buFont typeface="Arial" panose="020B0604020202020204" pitchFamily="34" charset="0"/>
              <a:buChar char="•"/>
            </a:pPr>
            <a:r>
              <a:rPr lang="ar-LB" sz="2400" dirty="0"/>
              <a:t>كان هناك معروف خصومة بين بنو أمية وبنو هاشم وهذا قائم قبل ولادة رسول فجد والد رسول الإسلام هاشم بن عبد مناف نفي من قبل ابن اخيه أمي عشر سنوات للشام.</a:t>
            </a:r>
          </a:p>
          <a:p>
            <a:pPr marL="342900" indent="-342900" algn="r" rtl="1">
              <a:buFont typeface="Arial" panose="020B0604020202020204" pitchFamily="34" charset="0"/>
              <a:buChar char="•"/>
            </a:pPr>
            <a:r>
              <a:rPr lang="ar-LB" sz="2400" dirty="0"/>
              <a:t>من جهة تزوج عم رسول الإسلام عبد العزى بن عبد المطلب المسمى بابو لهب أخت أبو سفيان.</a:t>
            </a:r>
          </a:p>
          <a:p>
            <a:pPr marL="342900" indent="-342900" algn="r" rtl="1">
              <a:buFont typeface="Arial" panose="020B0604020202020204" pitchFamily="34" charset="0"/>
              <a:buChar char="•"/>
            </a:pPr>
            <a:r>
              <a:rPr lang="ar-LB" sz="2400" dirty="0"/>
              <a:t>يعتقد الكثير ان أبو لهب عم رسول كان على خصومة مع باقي إخوته لكن هذا غير وارد في الكتب.  </a:t>
            </a:r>
            <a:endParaRPr lang="en-US" sz="2400" dirty="0"/>
          </a:p>
        </p:txBody>
      </p:sp>
    </p:spTree>
    <p:extLst>
      <p:ext uri="{BB962C8B-B14F-4D97-AF65-F5344CB8AC3E}">
        <p14:creationId xmlns:p14="http://schemas.microsoft.com/office/powerpoint/2010/main" val="2611106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C9F90-7DC1-BFF8-4516-DF73DA15281D}"/>
              </a:ext>
            </a:extLst>
          </p:cNvPr>
          <p:cNvSpPr>
            <a:spLocks noGrp="1"/>
          </p:cNvSpPr>
          <p:nvPr>
            <p:ph type="title"/>
          </p:nvPr>
        </p:nvSpPr>
        <p:spPr>
          <a:xfrm>
            <a:off x="1465118" y="384790"/>
            <a:ext cx="10515600" cy="1325563"/>
          </a:xfrm>
        </p:spPr>
        <p:txBody>
          <a:bodyPr/>
          <a:lstStyle/>
          <a:p>
            <a:pPr algn="r" rtl="1"/>
            <a:r>
              <a:rPr lang="ar-LB" dirty="0"/>
              <a:t>عقائد العرب في مكة:</a:t>
            </a:r>
            <a:endParaRPr lang="en-US" dirty="0"/>
          </a:p>
        </p:txBody>
      </p:sp>
      <p:sp>
        <p:nvSpPr>
          <p:cNvPr id="3" name="Content Placeholder 2">
            <a:extLst>
              <a:ext uri="{FF2B5EF4-FFF2-40B4-BE49-F238E27FC236}">
                <a16:creationId xmlns:a16="http://schemas.microsoft.com/office/drawing/2014/main" id="{1F427BBF-EEBC-E7BB-BEB2-96CA5490C220}"/>
              </a:ext>
            </a:extLst>
          </p:cNvPr>
          <p:cNvSpPr>
            <a:spLocks noGrp="1"/>
          </p:cNvSpPr>
          <p:nvPr>
            <p:ph idx="1"/>
          </p:nvPr>
        </p:nvSpPr>
        <p:spPr>
          <a:xfrm>
            <a:off x="467591" y="1278082"/>
            <a:ext cx="11513127" cy="4898881"/>
          </a:xfrm>
        </p:spPr>
        <p:txBody>
          <a:bodyPr/>
          <a:lstStyle/>
          <a:p>
            <a:pPr algn="r" rtl="1"/>
            <a:r>
              <a:rPr lang="ar-LB" sz="2400" dirty="0"/>
              <a:t>كانت الكعبة تزار من قبل حجاج كثيرون من عقائد وآلهة كثيرة لم يرد الكثير عنها.</a:t>
            </a:r>
          </a:p>
          <a:p>
            <a:pPr algn="r" rtl="1"/>
            <a:r>
              <a:rPr lang="ar-LB" sz="2400" dirty="0"/>
              <a:t>كان عقائد كثيرة منها الصابئة والمسيحية واليهودية والمجوس.</a:t>
            </a:r>
          </a:p>
          <a:p>
            <a:pPr algn="r" rtl="1"/>
            <a:r>
              <a:rPr lang="ar-LB" sz="2400" dirty="0"/>
              <a:t>كان هناك فئة تؤمن بألوهية مريم أم عيسى إضافة إلى عيسى يعتقد أنها.</a:t>
            </a:r>
          </a:p>
          <a:p>
            <a:pPr algn="r" rtl="1"/>
            <a:r>
              <a:rPr lang="ar-LB" sz="2400" dirty="0"/>
              <a:t>كان العديد القبائل يجتمع للصلاة في يوم يدعى العروبة واليوم السادس من أيام الأسبوع.</a:t>
            </a:r>
          </a:p>
          <a:p>
            <a:pPr algn="r" rtl="1"/>
            <a:r>
              <a:rPr lang="ar-LB" sz="2400" dirty="0"/>
              <a:t>يعتقد الكثير من المستشرقين أن الله اسم لإله القمر.</a:t>
            </a:r>
          </a:p>
          <a:p>
            <a:pPr algn="r" rtl="1"/>
            <a:r>
              <a:rPr lang="ar-LB" sz="2400" dirty="0"/>
              <a:t>يدعى بعض المسلمين أن هناك توحيدي فكر توحيدي او حنيفي ورثه محمد من جده إبراهيم وهذه الفطرة التي جعلت محمد يذهب للغار يتساءل عن الخالق لا يعبد آلهة مثل قومه.</a:t>
            </a:r>
          </a:p>
          <a:p>
            <a:pPr algn="r" rtl="1"/>
            <a:r>
              <a:rPr lang="ar-LB" sz="2400" dirty="0"/>
              <a:t>كان هناك قبلية يمنية تدعى غراب عك تزور وتحج سنويا لمكة.</a:t>
            </a:r>
          </a:p>
          <a:p>
            <a:pPr algn="r" rtl="1"/>
            <a:r>
              <a:rPr lang="ar-LB" sz="2400" dirty="0"/>
              <a:t>آلهة العرب: اللات إلهة الخصوبة عند العرب, هبل صنم كان موجود داخل الكعبة وهو إله الشمس, العزى ومن المعتقد أنها نفس الإلهة أوفروديت عند الرومان وغيرها.</a:t>
            </a:r>
          </a:p>
          <a:p>
            <a:pPr algn="r" rtl="1"/>
            <a:endParaRPr lang="ar-LB" sz="2400" dirty="0"/>
          </a:p>
          <a:p>
            <a:pPr algn="r" rtl="1"/>
            <a:endParaRPr lang="ar-LB" sz="2400" dirty="0"/>
          </a:p>
          <a:p>
            <a:pPr algn="r" rtl="1"/>
            <a:endParaRPr lang="ar-LB" dirty="0"/>
          </a:p>
        </p:txBody>
      </p:sp>
    </p:spTree>
    <p:extLst>
      <p:ext uri="{BB962C8B-B14F-4D97-AF65-F5344CB8AC3E}">
        <p14:creationId xmlns:p14="http://schemas.microsoft.com/office/powerpoint/2010/main" val="3880754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8B199-E98F-6D19-C0C5-F106837019FE}"/>
              </a:ext>
            </a:extLst>
          </p:cNvPr>
          <p:cNvSpPr>
            <a:spLocks noGrp="1"/>
          </p:cNvSpPr>
          <p:nvPr>
            <p:ph type="title"/>
          </p:nvPr>
        </p:nvSpPr>
        <p:spPr/>
        <p:txBody>
          <a:bodyPr/>
          <a:lstStyle/>
          <a:p>
            <a:pPr algn="r"/>
            <a:r>
              <a:rPr lang="ar-LB" dirty="0"/>
              <a:t>مكة قبل ولادة رسول الإسلام:</a:t>
            </a:r>
            <a:endParaRPr lang="en-US" dirty="0"/>
          </a:p>
        </p:txBody>
      </p:sp>
      <p:sp>
        <p:nvSpPr>
          <p:cNvPr id="3" name="Content Placeholder 2">
            <a:extLst>
              <a:ext uri="{FF2B5EF4-FFF2-40B4-BE49-F238E27FC236}">
                <a16:creationId xmlns:a16="http://schemas.microsoft.com/office/drawing/2014/main" id="{4397F192-4D60-34A4-F394-155A08E91F50}"/>
              </a:ext>
            </a:extLst>
          </p:cNvPr>
          <p:cNvSpPr>
            <a:spLocks noGrp="1"/>
          </p:cNvSpPr>
          <p:nvPr>
            <p:ph idx="1"/>
          </p:nvPr>
        </p:nvSpPr>
        <p:spPr>
          <a:xfrm>
            <a:off x="838200" y="1337186"/>
            <a:ext cx="10515600" cy="4984955"/>
          </a:xfrm>
        </p:spPr>
        <p:txBody>
          <a:bodyPr>
            <a:normAutofit lnSpcReduction="10000"/>
          </a:bodyPr>
          <a:lstStyle/>
          <a:p>
            <a:pPr algn="r" rtl="1"/>
            <a:r>
              <a:rPr lang="ar-LB" sz="2400" dirty="0"/>
              <a:t>يدعو اليوم المسلم الفترة المكية قبل ولادة رسوله بالفترة الجاهلية.</a:t>
            </a:r>
          </a:p>
          <a:p>
            <a:pPr algn="r" rtl="1"/>
            <a:r>
              <a:rPr lang="ar-LB" sz="2400" dirty="0"/>
              <a:t>أشهر شعراء الجاهلية: امرؤ القيس ، وسموؤل بن عدي ، والنابغة ، وطرفة ، وزهير بن أبي سلمى ، وعنترة بن شداد.</a:t>
            </a:r>
          </a:p>
          <a:p>
            <a:pPr algn="r" rtl="1"/>
            <a:r>
              <a:rPr lang="ar-LB" sz="2400" dirty="0"/>
              <a:t>أهل مكة إجمالا هم من قبائل قريشية </a:t>
            </a:r>
          </a:p>
          <a:p>
            <a:pPr algn="r" rtl="1"/>
            <a:r>
              <a:rPr lang="ar-LB" sz="2400" dirty="0"/>
              <a:t>وكان عدد بطون قريش نحو عشرين قبيلة ، أشهرها : بنو هاشم بن عبد مناف ، وبنو أمية بن عبد شمس ، وبنو عبد الدار بن قصي ، وبنو مخزوم بن يقظة بن مرة ، وبنو زهرة بن كلاب ، وبنو أسد بن عبد العزى ، وبنو الحارث بن فهر بن مالك ، وبنو عامر بن لؤي ، وبنو سهم بن عمرو ، وبنو جمح بن عمرو ، وبنو أنمار بن بغيض ، وبنو تيم بن مرة بن كعب  وغيرها.</a:t>
            </a:r>
          </a:p>
          <a:p>
            <a:pPr algn="r" rtl="1"/>
            <a:r>
              <a:rPr lang="ar-LB" sz="2400" dirty="0"/>
              <a:t>محمد رسول الإسلام هو من بني هاشم بن عبد مناف, أبو سفيان قائد القوافل التجارية في مكة وعثمان بن عفان هو من بني أمية, </a:t>
            </a:r>
          </a:p>
          <a:p>
            <a:pPr algn="r" rtl="1"/>
            <a:r>
              <a:rPr lang="ar-LB" sz="2400" dirty="0"/>
              <a:t>يتهم الحقبة التي قبله بوأد البنات إِذَا الْمَوْءُودَةُ سُئِلَتْ </a:t>
            </a:r>
            <a:r>
              <a:rPr lang="ar-LB" sz="1600" b="1" i="0" dirty="0">
                <a:solidFill>
                  <a:srgbClr val="535353"/>
                </a:solidFill>
                <a:effectLst/>
                <a:latin typeface="hafs"/>
              </a:rPr>
              <a:t> </a:t>
            </a:r>
            <a:r>
              <a:rPr lang="ar-LB" sz="2400" i="0" dirty="0">
                <a:solidFill>
                  <a:srgbClr val="535353"/>
                </a:solidFill>
                <a:effectLst/>
                <a:latin typeface="hafs"/>
              </a:rPr>
              <a:t>بِأَيِّ ذَنبٍ قُتِلَتْ سورة التكوير الآية 8 و9, </a:t>
            </a:r>
            <a:r>
              <a:rPr lang="ar-LB" sz="2400" i="0" dirty="0">
                <a:effectLst/>
                <a:latin typeface="hafs"/>
              </a:rPr>
              <a:t>بالمقابل هناك شخصيات نسوية في جزيرة العرب قبل الإسلام منها هند بنت عتبة ووزجة أبو لهب وغيرها من النساء بالمقابل إذا كان هذا الإعتقاد صحيح لاختفي العرب, وإذا صح فهو سيكون في حالات فردية.</a:t>
            </a:r>
            <a:endParaRPr lang="en-US" sz="2400" dirty="0"/>
          </a:p>
        </p:txBody>
      </p:sp>
    </p:spTree>
    <p:extLst>
      <p:ext uri="{BB962C8B-B14F-4D97-AF65-F5344CB8AC3E}">
        <p14:creationId xmlns:p14="http://schemas.microsoft.com/office/powerpoint/2010/main" val="114662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82565-704F-D754-987E-CCED7283A082}"/>
              </a:ext>
            </a:extLst>
          </p:cNvPr>
          <p:cNvSpPr>
            <a:spLocks noGrp="1"/>
          </p:cNvSpPr>
          <p:nvPr>
            <p:ph type="title"/>
          </p:nvPr>
        </p:nvSpPr>
        <p:spPr/>
        <p:txBody>
          <a:bodyPr/>
          <a:lstStyle/>
          <a:p>
            <a:pPr algn="r" rtl="1"/>
            <a:r>
              <a:rPr lang="ar-LB" dirty="0"/>
              <a:t>قبائل المدينة المنورة:</a:t>
            </a:r>
            <a:endParaRPr lang="en-US" dirty="0"/>
          </a:p>
        </p:txBody>
      </p:sp>
      <p:sp>
        <p:nvSpPr>
          <p:cNvPr id="5" name="Content Placeholder 4">
            <a:extLst>
              <a:ext uri="{FF2B5EF4-FFF2-40B4-BE49-F238E27FC236}">
                <a16:creationId xmlns:a16="http://schemas.microsoft.com/office/drawing/2014/main" id="{AF1028EF-FFAF-9170-6DDD-98C07031B1D6}"/>
              </a:ext>
            </a:extLst>
          </p:cNvPr>
          <p:cNvSpPr>
            <a:spLocks noGrp="1"/>
          </p:cNvSpPr>
          <p:nvPr>
            <p:ph idx="1"/>
          </p:nvPr>
        </p:nvSpPr>
        <p:spPr>
          <a:xfrm>
            <a:off x="838200" y="1307691"/>
            <a:ext cx="10515600" cy="3048000"/>
          </a:xfrm>
        </p:spPr>
        <p:txBody>
          <a:bodyPr>
            <a:normAutofit/>
          </a:bodyPr>
          <a:lstStyle/>
          <a:p>
            <a:pPr algn="r" rtl="1"/>
            <a:r>
              <a:rPr lang="ar-LB" sz="2400" dirty="0"/>
              <a:t>المدينة المنورة كانت تسمى بيثرب قبل دخول الإسلام إليها.</a:t>
            </a:r>
          </a:p>
          <a:p>
            <a:pPr algn="r" rtl="1"/>
            <a:r>
              <a:rPr lang="ar-LB" sz="2400" b="0" i="0" dirty="0">
                <a:solidFill>
                  <a:srgbClr val="474747"/>
                </a:solidFill>
                <a:effectLst/>
                <a:latin typeface="Noto Naskh Arabic UI"/>
              </a:rPr>
              <a:t>الأوس: هم </a:t>
            </a:r>
            <a:r>
              <a:rPr lang="ar-LB" sz="2400" b="0" i="0" dirty="0">
                <a:solidFill>
                  <a:srgbClr val="040C28"/>
                </a:solidFill>
                <a:effectLst/>
                <a:latin typeface="Noto Naskh Arabic UI"/>
              </a:rPr>
              <a:t>بنو الأوس بن حارثة بن ثعلبة بن عمرو بن عامر بن حارثة بن ثعلبة بن مازن بن الأزد</a:t>
            </a:r>
            <a:r>
              <a:rPr lang="ar-LB" sz="2400" b="0" i="0" dirty="0">
                <a:solidFill>
                  <a:srgbClr val="474747"/>
                </a:solidFill>
                <a:effectLst/>
                <a:latin typeface="Noto Naskh Arabic UI"/>
              </a:rPr>
              <a:t>. الخزرج: هم بنو الخزرج بن حارثة بن ثعلبة بن عمرو بن عامر بن حارثة بن ثعلبة بن مازن بن الأزد.</a:t>
            </a:r>
          </a:p>
          <a:p>
            <a:pPr algn="r" rtl="1"/>
            <a:r>
              <a:rPr lang="ar-LB" sz="2400" dirty="0">
                <a:solidFill>
                  <a:srgbClr val="474747"/>
                </a:solidFill>
                <a:latin typeface="Noto Naskh Arabic UI"/>
              </a:rPr>
              <a:t>كانت قبيلتان تتصارع مع بعضها البعض قبل دخولها للإسلام.</a:t>
            </a:r>
            <a:endParaRPr lang="ar-LB" sz="2400" b="0" i="0" dirty="0">
              <a:solidFill>
                <a:srgbClr val="474747"/>
              </a:solidFill>
              <a:effectLst/>
              <a:latin typeface="Noto Naskh Arabic UI"/>
            </a:endParaRPr>
          </a:p>
          <a:p>
            <a:pPr algn="r" rtl="1"/>
            <a:r>
              <a:rPr lang="ar-LB" sz="2400" dirty="0">
                <a:solidFill>
                  <a:srgbClr val="474747"/>
                </a:solidFill>
                <a:latin typeface="Noto Naskh Arabic UI"/>
              </a:rPr>
              <a:t>الصعاليك: مجموعة من العرب انقلبت على قبائلها وغلى أفكارها وأعرافها.</a:t>
            </a:r>
          </a:p>
          <a:p>
            <a:pPr algn="r" rtl="1"/>
            <a:r>
              <a:rPr lang="ar-LB" sz="2400" dirty="0">
                <a:solidFill>
                  <a:srgbClr val="474747"/>
                </a:solidFill>
                <a:latin typeface="Noto Naskh Arabic UI"/>
              </a:rPr>
              <a:t>القبائل اليهودية الأخرى التي يعتقد انها اعتنقت اليهودية من أصول عربية منها بني قينقاع وبني النضير وبني قريظة.</a:t>
            </a:r>
          </a:p>
          <a:p>
            <a:pPr algn="r" rtl="1"/>
            <a:endParaRPr lang="ar-LB" sz="2400" dirty="0">
              <a:solidFill>
                <a:srgbClr val="474747"/>
              </a:solidFill>
              <a:latin typeface="Noto Naskh Arabic UI"/>
            </a:endParaRPr>
          </a:p>
          <a:p>
            <a:pPr algn="r" rtl="1"/>
            <a:endParaRPr lang="ar-LB" sz="2400" dirty="0"/>
          </a:p>
          <a:p>
            <a:pPr algn="r" rtl="1"/>
            <a:endParaRPr lang="ar-LB" sz="2400" dirty="0"/>
          </a:p>
          <a:p>
            <a:pPr algn="r" rtl="1"/>
            <a:endParaRPr lang="en-US" sz="2400" dirty="0"/>
          </a:p>
        </p:txBody>
      </p:sp>
    </p:spTree>
    <p:extLst>
      <p:ext uri="{BB962C8B-B14F-4D97-AF65-F5344CB8AC3E}">
        <p14:creationId xmlns:p14="http://schemas.microsoft.com/office/powerpoint/2010/main" val="2009021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A23D5-5AA3-D06B-4687-B0A1B9619EFA}"/>
              </a:ext>
            </a:extLst>
          </p:cNvPr>
          <p:cNvSpPr>
            <a:spLocks noGrp="1"/>
          </p:cNvSpPr>
          <p:nvPr>
            <p:ph type="title"/>
          </p:nvPr>
        </p:nvSpPr>
        <p:spPr>
          <a:xfrm>
            <a:off x="838200" y="18255"/>
            <a:ext cx="10515600" cy="1325563"/>
          </a:xfrm>
        </p:spPr>
        <p:txBody>
          <a:bodyPr/>
          <a:lstStyle/>
          <a:p>
            <a:pPr algn="r" rtl="1"/>
            <a:r>
              <a:rPr lang="ar-LB" dirty="0"/>
              <a:t>ممالك شبه الجزيرة العربية:</a:t>
            </a:r>
            <a:endParaRPr lang="en-US" dirty="0"/>
          </a:p>
        </p:txBody>
      </p:sp>
      <p:pic>
        <p:nvPicPr>
          <p:cNvPr id="5" name="Content Placeholder 4" descr="A map of the middle east&#10;&#10;AI-generated content may be incorrect.">
            <a:extLst>
              <a:ext uri="{FF2B5EF4-FFF2-40B4-BE49-F238E27FC236}">
                <a16:creationId xmlns:a16="http://schemas.microsoft.com/office/drawing/2014/main" id="{1DE3EA5C-5850-74EC-E282-137CFDEADE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4319" y="1059729"/>
            <a:ext cx="5651681" cy="5127625"/>
          </a:xfrm>
        </p:spPr>
      </p:pic>
      <p:sp>
        <p:nvSpPr>
          <p:cNvPr id="6" name="TextBox 5">
            <a:extLst>
              <a:ext uri="{FF2B5EF4-FFF2-40B4-BE49-F238E27FC236}">
                <a16:creationId xmlns:a16="http://schemas.microsoft.com/office/drawing/2014/main" id="{C88C3BD7-F260-0AE4-30A3-452D0379ED8B}"/>
              </a:ext>
            </a:extLst>
          </p:cNvPr>
          <p:cNvSpPr txBox="1"/>
          <p:nvPr/>
        </p:nvSpPr>
        <p:spPr>
          <a:xfrm>
            <a:off x="6608618" y="1444336"/>
            <a:ext cx="5434446" cy="1107996"/>
          </a:xfrm>
          <a:prstGeom prst="rect">
            <a:avLst/>
          </a:prstGeom>
          <a:noFill/>
        </p:spPr>
        <p:txBody>
          <a:bodyPr wrap="square" rtlCol="0">
            <a:spAutoFit/>
          </a:bodyPr>
          <a:lstStyle/>
          <a:p>
            <a:pPr algn="r" rtl="1"/>
            <a:r>
              <a:rPr lang="ar-LB" sz="2400" dirty="0"/>
              <a:t>أهم القبائل العربية </a:t>
            </a:r>
            <a:r>
              <a:rPr lang="ar-LB" sz="2400" kern="100" dirty="0">
                <a:effectLst/>
                <a:latin typeface="Aptos" panose="020B0004020202020204" pitchFamily="34" charset="0"/>
                <a:ea typeface="Aptos" panose="020B0004020202020204" pitchFamily="34" charset="0"/>
                <a:cs typeface="Arial" panose="020B0604020202020204" pitchFamily="34" charset="0"/>
              </a:rPr>
              <a:t>:</a:t>
            </a:r>
            <a:r>
              <a:rPr lang="ar-SA" sz="2400" kern="100" dirty="0">
                <a:effectLst/>
                <a:latin typeface="Aptos" panose="020B0004020202020204" pitchFamily="34" charset="0"/>
                <a:ea typeface="Aptos" panose="020B0004020202020204" pitchFamily="34" charset="0"/>
                <a:cs typeface="Arial" panose="020B0604020202020204" pitchFamily="34" charset="0"/>
              </a:rPr>
              <a:t> كندا والمناذرة والغساسنة والأنباط, لحيان, دادان,ممالك اليمن الجنوية</a:t>
            </a:r>
            <a:r>
              <a:rPr lang="ar-LB" sz="2400" kern="100" dirty="0">
                <a:effectLst/>
                <a:latin typeface="Aptos" panose="020B0004020202020204" pitchFamily="34" charset="0"/>
                <a:ea typeface="Aptos" panose="020B0004020202020204" pitchFamily="34" charset="0"/>
                <a:cs typeface="Arial" panose="020B0604020202020204" pitchFamily="34" charset="0"/>
              </a:rPr>
              <a:t>.</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347519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DF2B5-35F2-991D-C8C5-3BF67E7866AE}"/>
              </a:ext>
            </a:extLst>
          </p:cNvPr>
          <p:cNvSpPr>
            <a:spLocks noGrp="1"/>
          </p:cNvSpPr>
          <p:nvPr>
            <p:ph type="title"/>
          </p:nvPr>
        </p:nvSpPr>
        <p:spPr>
          <a:xfrm>
            <a:off x="838200" y="276635"/>
            <a:ext cx="10515600" cy="1178540"/>
          </a:xfrm>
        </p:spPr>
        <p:txBody>
          <a:bodyPr/>
          <a:lstStyle/>
          <a:p>
            <a:pPr algn="r" rtl="1"/>
            <a:r>
              <a:rPr lang="ar-LB" dirty="0"/>
              <a:t>أحوال العالم:</a:t>
            </a:r>
            <a:endParaRPr lang="en-US" dirty="0"/>
          </a:p>
        </p:txBody>
      </p:sp>
      <p:sp>
        <p:nvSpPr>
          <p:cNvPr id="3" name="Content Placeholder 2">
            <a:extLst>
              <a:ext uri="{FF2B5EF4-FFF2-40B4-BE49-F238E27FC236}">
                <a16:creationId xmlns:a16="http://schemas.microsoft.com/office/drawing/2014/main" id="{7E571C4B-D368-B106-80B2-B8954B26DC36}"/>
              </a:ext>
            </a:extLst>
          </p:cNvPr>
          <p:cNvSpPr>
            <a:spLocks noGrp="1"/>
          </p:cNvSpPr>
          <p:nvPr>
            <p:ph idx="1"/>
          </p:nvPr>
        </p:nvSpPr>
        <p:spPr>
          <a:xfrm>
            <a:off x="838200" y="963562"/>
            <a:ext cx="10911348" cy="3244644"/>
          </a:xfrm>
        </p:spPr>
        <p:txBody>
          <a:bodyPr>
            <a:normAutofit/>
          </a:bodyPr>
          <a:lstStyle/>
          <a:p>
            <a:pPr algn="r" rtl="1"/>
            <a:r>
              <a:rPr lang="ar-LB" sz="2400" dirty="0"/>
              <a:t>التصريح عن أحوال تشمل فقط العالم وخصوصا منطقة الشرق الأوسط وشمال إفريقيا.</a:t>
            </a:r>
          </a:p>
          <a:p>
            <a:pPr algn="r" rtl="1"/>
            <a:r>
              <a:rPr lang="ar-LB" sz="2400" dirty="0"/>
              <a:t> بالنسبة للكنيسة كانت في فترة ما تسمى القرون الوسطى التي بدأت في فترة القرن الخامس.</a:t>
            </a:r>
          </a:p>
          <a:p>
            <a:pPr algn="r" rtl="1"/>
            <a:r>
              <a:rPr lang="ar-LB" sz="2400" dirty="0"/>
              <a:t>خضعت الإمبراطورية للحكم البيزنطي وأصبحت الإمباراطور مسيحي, إضافة إلى كان لغتها اللاتينية هي لغتها المحكية , إضافة إلى اللغة الإغريقية (اليونانية) العالمية وأيضا اللغات المحلية: العربية, السريانية, القبطية, الأرمنية, الكرجية (الجورجية), السلافونية, الفهلوية (الفارسية).</a:t>
            </a:r>
          </a:p>
          <a:p>
            <a:pPr algn="r" rtl="1"/>
            <a:r>
              <a:rPr lang="ar-LB" sz="2400" dirty="0"/>
              <a:t>كان هناك إمباراطورية الفارسية وتسمى ايضا الساسنية التي تاسست في القرن السادس ق.م كان إمبراطورها الأول كسرى الأول أنوشيروان العادل من في القرن السادس الميلادي, التي كانت ديانتها الزرداشتية.</a:t>
            </a:r>
          </a:p>
          <a:p>
            <a:pPr algn="r" rtl="1"/>
            <a:r>
              <a:rPr lang="ar-LB" sz="2400" dirty="0"/>
              <a:t>كان هناك مجموعة من النزاعات بين الفرس والرومان وحتى بعد أن تحولت لبيزنطية استمرت المعارك.</a:t>
            </a:r>
          </a:p>
          <a:p>
            <a:pPr marL="0" indent="0" algn="r" rtl="1">
              <a:buNone/>
            </a:pPr>
            <a:endParaRPr lang="ar-LB" sz="2400" dirty="0"/>
          </a:p>
          <a:p>
            <a:pPr algn="r" rtl="1"/>
            <a:endParaRPr lang="en-US" sz="2400" dirty="0"/>
          </a:p>
        </p:txBody>
      </p:sp>
      <p:pic>
        <p:nvPicPr>
          <p:cNvPr id="5" name="Picture 4" descr="A map of the north and south america&#10;&#10;AI-generated content may be incorrect.">
            <a:extLst>
              <a:ext uri="{FF2B5EF4-FFF2-40B4-BE49-F238E27FC236}">
                <a16:creationId xmlns:a16="http://schemas.microsoft.com/office/drawing/2014/main" id="{41094876-B9B3-DCAB-7574-596618AF81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567" y="4208206"/>
            <a:ext cx="3261500" cy="2123768"/>
          </a:xfrm>
          <a:prstGeom prst="rect">
            <a:avLst/>
          </a:prstGeom>
        </p:spPr>
      </p:pic>
      <p:sp>
        <p:nvSpPr>
          <p:cNvPr id="6" name="TextBox 5">
            <a:extLst>
              <a:ext uri="{FF2B5EF4-FFF2-40B4-BE49-F238E27FC236}">
                <a16:creationId xmlns:a16="http://schemas.microsoft.com/office/drawing/2014/main" id="{DD55EBD3-C7CD-D22C-0265-27B54B6C3F5B}"/>
              </a:ext>
            </a:extLst>
          </p:cNvPr>
          <p:cNvSpPr txBox="1"/>
          <p:nvPr/>
        </p:nvSpPr>
        <p:spPr>
          <a:xfrm>
            <a:off x="123955" y="6396699"/>
            <a:ext cx="4060723" cy="369332"/>
          </a:xfrm>
          <a:prstGeom prst="rect">
            <a:avLst/>
          </a:prstGeom>
          <a:noFill/>
        </p:spPr>
        <p:txBody>
          <a:bodyPr wrap="square" rtlCol="0">
            <a:spAutoFit/>
          </a:bodyPr>
          <a:lstStyle/>
          <a:p>
            <a:r>
              <a:rPr lang="ar-LB" dirty="0"/>
              <a:t>الإمبراطورية البيزنطية في القرن السادس الميلادي </a:t>
            </a:r>
            <a:endParaRPr lang="en-US" dirty="0"/>
          </a:p>
        </p:txBody>
      </p:sp>
      <p:pic>
        <p:nvPicPr>
          <p:cNvPr id="8" name="Picture 7" descr="A map of the world&#10;&#10;AI-generated content may be incorrect.">
            <a:extLst>
              <a:ext uri="{FF2B5EF4-FFF2-40B4-BE49-F238E27FC236}">
                <a16:creationId xmlns:a16="http://schemas.microsoft.com/office/drawing/2014/main" id="{8FFA3E1B-08C7-A9D8-B699-B5CBD9EAC7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3874" y="4347445"/>
            <a:ext cx="2381250" cy="1095375"/>
          </a:xfrm>
          <a:prstGeom prst="rect">
            <a:avLst/>
          </a:prstGeom>
        </p:spPr>
      </p:pic>
      <p:sp>
        <p:nvSpPr>
          <p:cNvPr id="9" name="TextBox 8">
            <a:extLst>
              <a:ext uri="{FF2B5EF4-FFF2-40B4-BE49-F238E27FC236}">
                <a16:creationId xmlns:a16="http://schemas.microsoft.com/office/drawing/2014/main" id="{D3C183FC-0DAC-8431-5E8D-3972446A9D33}"/>
              </a:ext>
            </a:extLst>
          </p:cNvPr>
          <p:cNvSpPr txBox="1"/>
          <p:nvPr/>
        </p:nvSpPr>
        <p:spPr>
          <a:xfrm>
            <a:off x="6095999" y="5673213"/>
            <a:ext cx="3991897" cy="369332"/>
          </a:xfrm>
          <a:prstGeom prst="rect">
            <a:avLst/>
          </a:prstGeom>
          <a:noFill/>
        </p:spPr>
        <p:txBody>
          <a:bodyPr wrap="square" rtlCol="0">
            <a:spAutoFit/>
          </a:bodyPr>
          <a:lstStyle/>
          <a:p>
            <a:r>
              <a:rPr lang="ar-LB" dirty="0"/>
              <a:t>الإمبراطورية الفارسية في القرن السادس الميلادي</a:t>
            </a:r>
            <a:endParaRPr lang="en-US" dirty="0"/>
          </a:p>
        </p:txBody>
      </p:sp>
    </p:spTree>
    <p:extLst>
      <p:ext uri="{BB962C8B-B14F-4D97-AF65-F5344CB8AC3E}">
        <p14:creationId xmlns:p14="http://schemas.microsoft.com/office/powerpoint/2010/main" val="1389522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06DA1-BC62-32BB-5B3F-513D6097ABD4}"/>
              </a:ext>
            </a:extLst>
          </p:cNvPr>
          <p:cNvSpPr>
            <a:spLocks noGrp="1"/>
          </p:cNvSpPr>
          <p:nvPr>
            <p:ph type="title"/>
          </p:nvPr>
        </p:nvSpPr>
        <p:spPr>
          <a:xfrm>
            <a:off x="838200" y="18255"/>
            <a:ext cx="10515600" cy="1325563"/>
          </a:xfrm>
        </p:spPr>
        <p:txBody>
          <a:bodyPr/>
          <a:lstStyle/>
          <a:p>
            <a:pPr algn="r" rtl="1"/>
            <a:r>
              <a:rPr lang="ar-LB" dirty="0"/>
              <a:t>الكعبات في الجزيرة العربية:</a:t>
            </a:r>
            <a:endParaRPr lang="en-US" dirty="0"/>
          </a:p>
        </p:txBody>
      </p:sp>
      <p:sp>
        <p:nvSpPr>
          <p:cNvPr id="3" name="Content Placeholder 2">
            <a:extLst>
              <a:ext uri="{FF2B5EF4-FFF2-40B4-BE49-F238E27FC236}">
                <a16:creationId xmlns:a16="http://schemas.microsoft.com/office/drawing/2014/main" id="{E2A2433E-46A2-990F-B4CB-24EA96162682}"/>
              </a:ext>
            </a:extLst>
          </p:cNvPr>
          <p:cNvSpPr>
            <a:spLocks noGrp="1"/>
          </p:cNvSpPr>
          <p:nvPr>
            <p:ph idx="1"/>
          </p:nvPr>
        </p:nvSpPr>
        <p:spPr>
          <a:xfrm>
            <a:off x="838200" y="955964"/>
            <a:ext cx="10515600" cy="5220999"/>
          </a:xfrm>
        </p:spPr>
        <p:txBody>
          <a:bodyPr>
            <a:normAutofit/>
          </a:bodyPr>
          <a:lstStyle/>
          <a:p>
            <a:pPr algn="r" rtl="1"/>
            <a:r>
              <a:rPr lang="ar-LB" sz="2400" dirty="0"/>
              <a:t>يرد الكثير من المصادر أن الكعبة الموجودة في مكة بعيدة جدا عن زمن إبراهيم فهي بالأحرى بعيدة عن زمن الخليقة او زمن آدم فهي بنيت في القرن الخامس الميلادي.</a:t>
            </a:r>
          </a:p>
          <a:p>
            <a:pPr algn="r" rtl="1"/>
            <a:r>
              <a:rPr lang="ar-LB" sz="2400" dirty="0"/>
              <a:t>هيروديتس او هيرودوت  مؤرخ يوناني عاش في القرن الخامس قبل الميلاد لم يذكر عنها شيء.</a:t>
            </a:r>
          </a:p>
          <a:p>
            <a:pPr algn="r" rtl="1"/>
            <a:r>
              <a:rPr lang="ar-LB" sz="2400" dirty="0"/>
              <a:t>إراتوستينس عاش في القرن الثالث قبل الميلاد يوناني رسم خرائط مفصلة لا تحتوي على مكة ولا الكعبة.</a:t>
            </a:r>
          </a:p>
          <a:p>
            <a:pPr algn="r" rtl="1"/>
            <a:r>
              <a:rPr lang="ar-LB" sz="2400" dirty="0"/>
              <a:t>الجغرافي سترابو ذكر جميع المدن والقرى حتى الصغيرة لم يذكر مكة.</a:t>
            </a:r>
          </a:p>
          <a:p>
            <a:pPr algn="r" rtl="1"/>
            <a:r>
              <a:rPr lang="ar-LB" sz="2400" dirty="0"/>
              <a:t>المؤرخ الروماني بليني الصغير الروماني عاش في القرن الأول والثاني الميلادي ذكر تتبع أيضا المدن والقرى في شبه الجزيرة العربية لم يذكر لا مكة.</a:t>
            </a:r>
          </a:p>
          <a:p>
            <a:pPr algn="r" rtl="1"/>
            <a:r>
              <a:rPr lang="ar-LB" sz="2400" dirty="0"/>
              <a:t>هناك ميول إسلامي على ان بعض الذين عاشوا في فترة ما قبل الإسلام إستخدموا كلمة ماكورابا فاعتبروها مكة وان الكتاب المقدس ذكر مكة بوادي بكا وايضا ذكرها جبل المريا, إضافة إلى فاران. </a:t>
            </a:r>
          </a:p>
          <a:p>
            <a:pPr algn="r" rtl="1"/>
            <a:r>
              <a:rPr lang="ar-LB" sz="2400" dirty="0"/>
              <a:t>هناك إعتقاد أن هناك حوالي 22 كعبة موجودة في الجزيرة العربية وحتى لقب الكعبة بأل التعريف لم يكن يشير إلى كعبة مكة منها: الكعبة اليمنية ذي الخلصة, ذات الكعبات, كعبة نجران, كعبة سنداد وغيرها. </a:t>
            </a:r>
            <a:endParaRPr lang="en-US" sz="2400" dirty="0"/>
          </a:p>
        </p:txBody>
      </p:sp>
    </p:spTree>
    <p:extLst>
      <p:ext uri="{BB962C8B-B14F-4D97-AF65-F5344CB8AC3E}">
        <p14:creationId xmlns:p14="http://schemas.microsoft.com/office/powerpoint/2010/main" val="1410140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6D6A-80C2-8BB9-8065-220C8F2C7A8B}"/>
              </a:ext>
            </a:extLst>
          </p:cNvPr>
          <p:cNvSpPr>
            <a:spLocks noGrp="1"/>
          </p:cNvSpPr>
          <p:nvPr>
            <p:ph type="title"/>
          </p:nvPr>
        </p:nvSpPr>
        <p:spPr>
          <a:xfrm>
            <a:off x="838200" y="365125"/>
            <a:ext cx="10515600" cy="871393"/>
          </a:xfrm>
        </p:spPr>
        <p:txBody>
          <a:bodyPr/>
          <a:lstStyle/>
          <a:p>
            <a:pPr algn="r"/>
            <a:r>
              <a:rPr lang="ar-LB" dirty="0"/>
              <a:t>بعض آلهة العرب</a:t>
            </a:r>
            <a:endParaRPr lang="en-US" dirty="0"/>
          </a:p>
        </p:txBody>
      </p:sp>
      <p:sp>
        <p:nvSpPr>
          <p:cNvPr id="4" name="Content Placeholder 2">
            <a:extLst>
              <a:ext uri="{FF2B5EF4-FFF2-40B4-BE49-F238E27FC236}">
                <a16:creationId xmlns:a16="http://schemas.microsoft.com/office/drawing/2014/main" id="{F4AD410D-6AFC-B810-6B4B-1B4405E9EFEA}"/>
              </a:ext>
            </a:extLst>
          </p:cNvPr>
          <p:cNvSpPr>
            <a:spLocks noGrp="1"/>
          </p:cNvSpPr>
          <p:nvPr>
            <p:ph idx="1"/>
          </p:nvPr>
        </p:nvSpPr>
        <p:spPr>
          <a:xfrm>
            <a:off x="838200" y="1236663"/>
            <a:ext cx="10515600" cy="4940300"/>
          </a:xfrm>
        </p:spPr>
        <p:txBody>
          <a:bodyPr/>
          <a:lstStyle/>
          <a:p>
            <a:r>
              <a:rPr lang="en-US" dirty="0"/>
              <a:t>https://ar.wikipedia.org/wiki/%D8%A7%D9%84%D8%AF%D9%8A%D9%86_%D9%81%D9%8A_%D8%B4%D8%A8%D9%87_%D8%A7%D9%84%D8%AC%D8%B2%D9%8A%D8%B1%D8%A9_%D8%A7%D9%84%D8%B9%D8%B1%D8%A8%D9%8A%D8%A9_%D9%82%D8%A8%D9%84_%D8%A7%D9%84%D8%A5%D8%B3%D9%84%D8%A7%D9%85#%D8%A3%D8%B5%D9%86%D8%A7%D9%85_%D8%A7%D9%84%D8%B9%D8%B1%D8%A8</a:t>
            </a:r>
          </a:p>
        </p:txBody>
      </p:sp>
    </p:spTree>
    <p:extLst>
      <p:ext uri="{BB962C8B-B14F-4D97-AF65-F5344CB8AC3E}">
        <p14:creationId xmlns:p14="http://schemas.microsoft.com/office/powerpoint/2010/main" val="22875612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265</TotalTime>
  <Words>1378</Words>
  <Application>Microsoft Office PowerPoint</Application>
  <PresentationFormat>Widescreen</PresentationFormat>
  <Paragraphs>66</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hafs</vt:lpstr>
      <vt:lpstr>Noto Naskh Arabic UI</vt:lpstr>
      <vt:lpstr>Office Theme</vt:lpstr>
      <vt:lpstr>سلام ونعمة </vt:lpstr>
      <vt:lpstr>الكعبة ومكة:</vt:lpstr>
      <vt:lpstr>نسب القريشين:</vt:lpstr>
      <vt:lpstr>شجرة القبائل القريشية </vt:lpstr>
      <vt:lpstr>بنو أمية :</vt:lpstr>
      <vt:lpstr>عقائد العرب في مكة:</vt:lpstr>
      <vt:lpstr>مكة قبل ولادة رسول الإسلام:</vt:lpstr>
      <vt:lpstr>قبائل المدينة المنورة:</vt:lpstr>
      <vt:lpstr>ممالك شبه الجزيرة العربية:</vt:lpstr>
      <vt:lpstr>أحوال العالم:</vt:lpstr>
      <vt:lpstr>الكعبات في الجزيرة العربية:</vt:lpstr>
      <vt:lpstr>بعض آلهة العرب</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Abo Lobnan Mohammad</dc:creator>
  <cp:lastModifiedBy>Abo Lobnan Mohammad</cp:lastModifiedBy>
  <cp:revision>11</cp:revision>
  <dcterms:created xsi:type="dcterms:W3CDTF">2025-03-06T17:50:52Z</dcterms:created>
  <dcterms:modified xsi:type="dcterms:W3CDTF">2025-03-12T15:24:37Z</dcterms:modified>
</cp:coreProperties>
</file>