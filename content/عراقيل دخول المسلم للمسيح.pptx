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2CF806-606C-4788-92ED-CEA648BC3D3A}" type="datetimeFigureOut">
              <a:rPr lang="en-US" smtClean="0"/>
              <a:t>4/4/2025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088A5F-446C-4C4B-A62F-6FEFA956F236}" type="slidenum">
              <a:rPr lang="en-US" smtClean="0"/>
              <a:t>‹#›</a:t>
            </a:fld>
            <a:endParaRPr lang="en-US"/>
          </a:p>
        </p:txBody>
      </p:sp>
    </p:spTree>
    <p:extLst>
      <p:ext uri="{BB962C8B-B14F-4D97-AF65-F5344CB8AC3E}">
        <p14:creationId xmlns:p14="http://schemas.microsoft.com/office/powerpoint/2010/main" val="3210771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088A5F-446C-4C4B-A62F-6FEFA956F236}" type="slidenum">
              <a:rPr lang="en-US" smtClean="0"/>
              <a:t>10</a:t>
            </a:fld>
            <a:endParaRPr lang="en-US"/>
          </a:p>
        </p:txBody>
      </p:sp>
    </p:spTree>
    <p:extLst>
      <p:ext uri="{BB962C8B-B14F-4D97-AF65-F5344CB8AC3E}">
        <p14:creationId xmlns:p14="http://schemas.microsoft.com/office/powerpoint/2010/main" val="1304866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17186-91C4-B830-774B-0A4F799996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347634-3F49-AF33-D298-3EF144F856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AB8A61-EF54-A7CB-E6C9-6BE3B345BEF7}"/>
              </a:ext>
            </a:extLst>
          </p:cNvPr>
          <p:cNvSpPr>
            <a:spLocks noGrp="1"/>
          </p:cNvSpPr>
          <p:nvPr>
            <p:ph type="dt" sz="half" idx="10"/>
          </p:nvPr>
        </p:nvSpPr>
        <p:spPr/>
        <p:txBody>
          <a:bodyPr/>
          <a:lstStyle/>
          <a:p>
            <a:fld id="{B40240B4-7C77-4721-B688-DB5642C6702B}" type="datetimeFigureOut">
              <a:rPr lang="en-US" smtClean="0"/>
              <a:t>4/4/2025</a:t>
            </a:fld>
            <a:endParaRPr lang="en-US"/>
          </a:p>
        </p:txBody>
      </p:sp>
      <p:sp>
        <p:nvSpPr>
          <p:cNvPr id="5" name="Footer Placeholder 4">
            <a:extLst>
              <a:ext uri="{FF2B5EF4-FFF2-40B4-BE49-F238E27FC236}">
                <a16:creationId xmlns:a16="http://schemas.microsoft.com/office/drawing/2014/main" id="{165CA6E0-40A0-B48F-2A6B-52800557F8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E7AF66-AC00-BF89-CF9A-0282B2C24074}"/>
              </a:ext>
            </a:extLst>
          </p:cNvPr>
          <p:cNvSpPr>
            <a:spLocks noGrp="1"/>
          </p:cNvSpPr>
          <p:nvPr>
            <p:ph type="sldNum" sz="quarter" idx="12"/>
          </p:nvPr>
        </p:nvSpPr>
        <p:spPr/>
        <p:txBody>
          <a:bodyPr/>
          <a:lstStyle/>
          <a:p>
            <a:fld id="{2C4A675C-9F91-4882-B534-E62329E17A0A}" type="slidenum">
              <a:rPr lang="en-US" smtClean="0"/>
              <a:t>‹#›</a:t>
            </a:fld>
            <a:endParaRPr lang="en-US"/>
          </a:p>
        </p:txBody>
      </p:sp>
    </p:spTree>
    <p:extLst>
      <p:ext uri="{BB962C8B-B14F-4D97-AF65-F5344CB8AC3E}">
        <p14:creationId xmlns:p14="http://schemas.microsoft.com/office/powerpoint/2010/main" val="810349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BF49F-2DA8-91C9-61A8-D6F4D6424C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85A3BC-F224-166D-286A-FBB70413E0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3C5617-14D8-D5F1-FA0F-A21EBD8B6BED}"/>
              </a:ext>
            </a:extLst>
          </p:cNvPr>
          <p:cNvSpPr>
            <a:spLocks noGrp="1"/>
          </p:cNvSpPr>
          <p:nvPr>
            <p:ph type="dt" sz="half" idx="10"/>
          </p:nvPr>
        </p:nvSpPr>
        <p:spPr/>
        <p:txBody>
          <a:bodyPr/>
          <a:lstStyle/>
          <a:p>
            <a:fld id="{B40240B4-7C77-4721-B688-DB5642C6702B}" type="datetimeFigureOut">
              <a:rPr lang="en-US" smtClean="0"/>
              <a:t>4/4/2025</a:t>
            </a:fld>
            <a:endParaRPr lang="en-US"/>
          </a:p>
        </p:txBody>
      </p:sp>
      <p:sp>
        <p:nvSpPr>
          <p:cNvPr id="5" name="Footer Placeholder 4">
            <a:extLst>
              <a:ext uri="{FF2B5EF4-FFF2-40B4-BE49-F238E27FC236}">
                <a16:creationId xmlns:a16="http://schemas.microsoft.com/office/drawing/2014/main" id="{1DC7D3F5-8630-D85B-B5DB-BD9E391A40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70299-8694-4EFC-6996-1B11084AA7C3}"/>
              </a:ext>
            </a:extLst>
          </p:cNvPr>
          <p:cNvSpPr>
            <a:spLocks noGrp="1"/>
          </p:cNvSpPr>
          <p:nvPr>
            <p:ph type="sldNum" sz="quarter" idx="12"/>
          </p:nvPr>
        </p:nvSpPr>
        <p:spPr/>
        <p:txBody>
          <a:bodyPr/>
          <a:lstStyle/>
          <a:p>
            <a:fld id="{2C4A675C-9F91-4882-B534-E62329E17A0A}" type="slidenum">
              <a:rPr lang="en-US" smtClean="0"/>
              <a:t>‹#›</a:t>
            </a:fld>
            <a:endParaRPr lang="en-US"/>
          </a:p>
        </p:txBody>
      </p:sp>
    </p:spTree>
    <p:extLst>
      <p:ext uri="{BB962C8B-B14F-4D97-AF65-F5344CB8AC3E}">
        <p14:creationId xmlns:p14="http://schemas.microsoft.com/office/powerpoint/2010/main" val="446398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F33CF-DC68-BE15-C483-6A8625548C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160361-E568-99EB-9861-76A02EBC1D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BED5E3-AEA2-1CBF-F650-8EC0FDC814A8}"/>
              </a:ext>
            </a:extLst>
          </p:cNvPr>
          <p:cNvSpPr>
            <a:spLocks noGrp="1"/>
          </p:cNvSpPr>
          <p:nvPr>
            <p:ph type="dt" sz="half" idx="10"/>
          </p:nvPr>
        </p:nvSpPr>
        <p:spPr/>
        <p:txBody>
          <a:bodyPr/>
          <a:lstStyle/>
          <a:p>
            <a:fld id="{B40240B4-7C77-4721-B688-DB5642C6702B}" type="datetimeFigureOut">
              <a:rPr lang="en-US" smtClean="0"/>
              <a:t>4/4/2025</a:t>
            </a:fld>
            <a:endParaRPr lang="en-US"/>
          </a:p>
        </p:txBody>
      </p:sp>
      <p:sp>
        <p:nvSpPr>
          <p:cNvPr id="5" name="Footer Placeholder 4">
            <a:extLst>
              <a:ext uri="{FF2B5EF4-FFF2-40B4-BE49-F238E27FC236}">
                <a16:creationId xmlns:a16="http://schemas.microsoft.com/office/drawing/2014/main" id="{298CC134-4084-5E0F-CF82-C151B92D49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3A8173-9D11-74E6-5F53-6C95E4C5D3FB}"/>
              </a:ext>
            </a:extLst>
          </p:cNvPr>
          <p:cNvSpPr>
            <a:spLocks noGrp="1"/>
          </p:cNvSpPr>
          <p:nvPr>
            <p:ph type="sldNum" sz="quarter" idx="12"/>
          </p:nvPr>
        </p:nvSpPr>
        <p:spPr/>
        <p:txBody>
          <a:bodyPr/>
          <a:lstStyle/>
          <a:p>
            <a:fld id="{2C4A675C-9F91-4882-B534-E62329E17A0A}" type="slidenum">
              <a:rPr lang="en-US" smtClean="0"/>
              <a:t>‹#›</a:t>
            </a:fld>
            <a:endParaRPr lang="en-US"/>
          </a:p>
        </p:txBody>
      </p:sp>
    </p:spTree>
    <p:extLst>
      <p:ext uri="{BB962C8B-B14F-4D97-AF65-F5344CB8AC3E}">
        <p14:creationId xmlns:p14="http://schemas.microsoft.com/office/powerpoint/2010/main" val="461957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9658F-0A5A-7AE6-F928-6059FBD0A9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FE28D8-0DC8-E244-E8E1-F38B025069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8ADE18-DFCF-7459-A2A9-0BA3A9064E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5B0722-FBF0-D4F7-50FC-067CFBC53BCF}"/>
              </a:ext>
            </a:extLst>
          </p:cNvPr>
          <p:cNvSpPr>
            <a:spLocks noGrp="1"/>
          </p:cNvSpPr>
          <p:nvPr>
            <p:ph type="dt" sz="half" idx="10"/>
          </p:nvPr>
        </p:nvSpPr>
        <p:spPr/>
        <p:txBody>
          <a:bodyPr/>
          <a:lstStyle/>
          <a:p>
            <a:fld id="{B40240B4-7C77-4721-B688-DB5642C6702B}" type="datetimeFigureOut">
              <a:rPr lang="en-US" smtClean="0"/>
              <a:t>4/4/2025</a:t>
            </a:fld>
            <a:endParaRPr lang="en-US"/>
          </a:p>
        </p:txBody>
      </p:sp>
      <p:sp>
        <p:nvSpPr>
          <p:cNvPr id="6" name="Footer Placeholder 5">
            <a:extLst>
              <a:ext uri="{FF2B5EF4-FFF2-40B4-BE49-F238E27FC236}">
                <a16:creationId xmlns:a16="http://schemas.microsoft.com/office/drawing/2014/main" id="{96898FBF-811F-092F-2933-FF60191903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FF0E18-F004-BAB9-F6EA-DC28FDB7AA7B}"/>
              </a:ext>
            </a:extLst>
          </p:cNvPr>
          <p:cNvSpPr>
            <a:spLocks noGrp="1"/>
          </p:cNvSpPr>
          <p:nvPr>
            <p:ph type="sldNum" sz="quarter" idx="12"/>
          </p:nvPr>
        </p:nvSpPr>
        <p:spPr/>
        <p:txBody>
          <a:bodyPr/>
          <a:lstStyle/>
          <a:p>
            <a:fld id="{2C4A675C-9F91-4882-B534-E62329E17A0A}" type="slidenum">
              <a:rPr lang="en-US" smtClean="0"/>
              <a:t>‹#›</a:t>
            </a:fld>
            <a:endParaRPr lang="en-US"/>
          </a:p>
        </p:txBody>
      </p:sp>
    </p:spTree>
    <p:extLst>
      <p:ext uri="{BB962C8B-B14F-4D97-AF65-F5344CB8AC3E}">
        <p14:creationId xmlns:p14="http://schemas.microsoft.com/office/powerpoint/2010/main" val="2014324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3E95D-0C23-E8AA-52E2-18132A14E64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A7EA61-2D51-ACEE-2A03-E48C511FDA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D08B4B-5B27-CD85-64A0-6D8A138FA0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347384-4458-E16F-1CED-41771584DD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E99E34-EAFC-7876-3BE1-B96D198761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05041BB-5FCA-6869-1A70-D191FFC2538A}"/>
              </a:ext>
            </a:extLst>
          </p:cNvPr>
          <p:cNvSpPr>
            <a:spLocks noGrp="1"/>
          </p:cNvSpPr>
          <p:nvPr>
            <p:ph type="dt" sz="half" idx="10"/>
          </p:nvPr>
        </p:nvSpPr>
        <p:spPr/>
        <p:txBody>
          <a:bodyPr/>
          <a:lstStyle/>
          <a:p>
            <a:fld id="{B40240B4-7C77-4721-B688-DB5642C6702B}" type="datetimeFigureOut">
              <a:rPr lang="en-US" smtClean="0"/>
              <a:t>4/4/2025</a:t>
            </a:fld>
            <a:endParaRPr lang="en-US"/>
          </a:p>
        </p:txBody>
      </p:sp>
      <p:sp>
        <p:nvSpPr>
          <p:cNvPr id="8" name="Footer Placeholder 7">
            <a:extLst>
              <a:ext uri="{FF2B5EF4-FFF2-40B4-BE49-F238E27FC236}">
                <a16:creationId xmlns:a16="http://schemas.microsoft.com/office/drawing/2014/main" id="{163190BB-39BE-64D7-D525-D106AE96F5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4CCF3F-6DE2-DCE5-27DA-E666C39F961C}"/>
              </a:ext>
            </a:extLst>
          </p:cNvPr>
          <p:cNvSpPr>
            <a:spLocks noGrp="1"/>
          </p:cNvSpPr>
          <p:nvPr>
            <p:ph type="sldNum" sz="quarter" idx="12"/>
          </p:nvPr>
        </p:nvSpPr>
        <p:spPr/>
        <p:txBody>
          <a:bodyPr/>
          <a:lstStyle/>
          <a:p>
            <a:fld id="{2C4A675C-9F91-4882-B534-E62329E17A0A}" type="slidenum">
              <a:rPr lang="en-US" smtClean="0"/>
              <a:t>‹#›</a:t>
            </a:fld>
            <a:endParaRPr lang="en-US"/>
          </a:p>
        </p:txBody>
      </p:sp>
    </p:spTree>
    <p:extLst>
      <p:ext uri="{BB962C8B-B14F-4D97-AF65-F5344CB8AC3E}">
        <p14:creationId xmlns:p14="http://schemas.microsoft.com/office/powerpoint/2010/main" val="3108047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3A36A-6577-B0B5-F50F-C811DF51CC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8A59A15-EDA1-65A2-F0BF-10C87E7496E6}"/>
              </a:ext>
            </a:extLst>
          </p:cNvPr>
          <p:cNvSpPr>
            <a:spLocks noGrp="1"/>
          </p:cNvSpPr>
          <p:nvPr>
            <p:ph type="dt" sz="half" idx="10"/>
          </p:nvPr>
        </p:nvSpPr>
        <p:spPr/>
        <p:txBody>
          <a:bodyPr/>
          <a:lstStyle/>
          <a:p>
            <a:fld id="{B40240B4-7C77-4721-B688-DB5642C6702B}" type="datetimeFigureOut">
              <a:rPr lang="en-US" smtClean="0"/>
              <a:t>4/4/2025</a:t>
            </a:fld>
            <a:endParaRPr lang="en-US"/>
          </a:p>
        </p:txBody>
      </p:sp>
      <p:sp>
        <p:nvSpPr>
          <p:cNvPr id="4" name="Footer Placeholder 3">
            <a:extLst>
              <a:ext uri="{FF2B5EF4-FFF2-40B4-BE49-F238E27FC236}">
                <a16:creationId xmlns:a16="http://schemas.microsoft.com/office/drawing/2014/main" id="{33C6466F-DE38-A77C-8E4B-609A280876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AB9300-90C3-3109-B6BC-2BE577D92135}"/>
              </a:ext>
            </a:extLst>
          </p:cNvPr>
          <p:cNvSpPr>
            <a:spLocks noGrp="1"/>
          </p:cNvSpPr>
          <p:nvPr>
            <p:ph type="sldNum" sz="quarter" idx="12"/>
          </p:nvPr>
        </p:nvSpPr>
        <p:spPr/>
        <p:txBody>
          <a:bodyPr/>
          <a:lstStyle/>
          <a:p>
            <a:fld id="{2C4A675C-9F91-4882-B534-E62329E17A0A}" type="slidenum">
              <a:rPr lang="en-US" smtClean="0"/>
              <a:t>‹#›</a:t>
            </a:fld>
            <a:endParaRPr lang="en-US"/>
          </a:p>
        </p:txBody>
      </p:sp>
    </p:spTree>
    <p:extLst>
      <p:ext uri="{BB962C8B-B14F-4D97-AF65-F5344CB8AC3E}">
        <p14:creationId xmlns:p14="http://schemas.microsoft.com/office/powerpoint/2010/main" val="119970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BDA8D3-B0F2-E39C-AC98-D3419A15D7B9}"/>
              </a:ext>
            </a:extLst>
          </p:cNvPr>
          <p:cNvSpPr>
            <a:spLocks noGrp="1"/>
          </p:cNvSpPr>
          <p:nvPr>
            <p:ph type="dt" sz="half" idx="10"/>
          </p:nvPr>
        </p:nvSpPr>
        <p:spPr/>
        <p:txBody>
          <a:bodyPr/>
          <a:lstStyle/>
          <a:p>
            <a:fld id="{B40240B4-7C77-4721-B688-DB5642C6702B}" type="datetimeFigureOut">
              <a:rPr lang="en-US" smtClean="0"/>
              <a:t>4/4/2025</a:t>
            </a:fld>
            <a:endParaRPr lang="en-US"/>
          </a:p>
        </p:txBody>
      </p:sp>
      <p:sp>
        <p:nvSpPr>
          <p:cNvPr id="3" name="Footer Placeholder 2">
            <a:extLst>
              <a:ext uri="{FF2B5EF4-FFF2-40B4-BE49-F238E27FC236}">
                <a16:creationId xmlns:a16="http://schemas.microsoft.com/office/drawing/2014/main" id="{5DBFA4BC-D938-5E95-70A1-16AFD28042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0823EBD-CBAD-36E1-4AA7-F2B2F6D4BA18}"/>
              </a:ext>
            </a:extLst>
          </p:cNvPr>
          <p:cNvSpPr>
            <a:spLocks noGrp="1"/>
          </p:cNvSpPr>
          <p:nvPr>
            <p:ph type="sldNum" sz="quarter" idx="12"/>
          </p:nvPr>
        </p:nvSpPr>
        <p:spPr/>
        <p:txBody>
          <a:bodyPr/>
          <a:lstStyle/>
          <a:p>
            <a:fld id="{2C4A675C-9F91-4882-B534-E62329E17A0A}" type="slidenum">
              <a:rPr lang="en-US" smtClean="0"/>
              <a:t>‹#›</a:t>
            </a:fld>
            <a:endParaRPr lang="en-US"/>
          </a:p>
        </p:txBody>
      </p:sp>
    </p:spTree>
    <p:extLst>
      <p:ext uri="{BB962C8B-B14F-4D97-AF65-F5344CB8AC3E}">
        <p14:creationId xmlns:p14="http://schemas.microsoft.com/office/powerpoint/2010/main" val="1285845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A5550-A9CD-B10F-A480-85DA334429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C216380-D9D1-1D67-6F4E-996CD1BA92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E17A9C5-0F59-725A-DD0B-851429EFB2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0AF5C2-962B-1F4B-8338-CDABD262DC68}"/>
              </a:ext>
            </a:extLst>
          </p:cNvPr>
          <p:cNvSpPr>
            <a:spLocks noGrp="1"/>
          </p:cNvSpPr>
          <p:nvPr>
            <p:ph type="dt" sz="half" idx="10"/>
          </p:nvPr>
        </p:nvSpPr>
        <p:spPr/>
        <p:txBody>
          <a:bodyPr/>
          <a:lstStyle/>
          <a:p>
            <a:fld id="{B40240B4-7C77-4721-B688-DB5642C6702B}" type="datetimeFigureOut">
              <a:rPr lang="en-US" smtClean="0"/>
              <a:t>4/4/2025</a:t>
            </a:fld>
            <a:endParaRPr lang="en-US"/>
          </a:p>
        </p:txBody>
      </p:sp>
      <p:sp>
        <p:nvSpPr>
          <p:cNvPr id="6" name="Footer Placeholder 5">
            <a:extLst>
              <a:ext uri="{FF2B5EF4-FFF2-40B4-BE49-F238E27FC236}">
                <a16:creationId xmlns:a16="http://schemas.microsoft.com/office/drawing/2014/main" id="{C1FC1629-CD80-88C8-ABC4-4564633569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9BDDA4-FDE6-E8E0-CAF1-5B7F62D0CD0D}"/>
              </a:ext>
            </a:extLst>
          </p:cNvPr>
          <p:cNvSpPr>
            <a:spLocks noGrp="1"/>
          </p:cNvSpPr>
          <p:nvPr>
            <p:ph type="sldNum" sz="quarter" idx="12"/>
          </p:nvPr>
        </p:nvSpPr>
        <p:spPr/>
        <p:txBody>
          <a:bodyPr/>
          <a:lstStyle/>
          <a:p>
            <a:fld id="{2C4A675C-9F91-4882-B534-E62329E17A0A}" type="slidenum">
              <a:rPr lang="en-US" smtClean="0"/>
              <a:t>‹#›</a:t>
            </a:fld>
            <a:endParaRPr lang="en-US"/>
          </a:p>
        </p:txBody>
      </p:sp>
    </p:spTree>
    <p:extLst>
      <p:ext uri="{BB962C8B-B14F-4D97-AF65-F5344CB8AC3E}">
        <p14:creationId xmlns:p14="http://schemas.microsoft.com/office/powerpoint/2010/main" val="3707606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C9196-785C-5EA9-001F-9FD5059B44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982224-A5F3-54E7-4FAB-09EE8147BB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170DE0-69FD-3D87-9616-8A60D64B52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B772B1-A947-9A76-FE87-4E72CEA204E8}"/>
              </a:ext>
            </a:extLst>
          </p:cNvPr>
          <p:cNvSpPr>
            <a:spLocks noGrp="1"/>
          </p:cNvSpPr>
          <p:nvPr>
            <p:ph type="dt" sz="half" idx="10"/>
          </p:nvPr>
        </p:nvSpPr>
        <p:spPr/>
        <p:txBody>
          <a:bodyPr/>
          <a:lstStyle/>
          <a:p>
            <a:fld id="{B40240B4-7C77-4721-B688-DB5642C6702B}" type="datetimeFigureOut">
              <a:rPr lang="en-US" smtClean="0"/>
              <a:t>4/4/2025</a:t>
            </a:fld>
            <a:endParaRPr lang="en-US"/>
          </a:p>
        </p:txBody>
      </p:sp>
      <p:sp>
        <p:nvSpPr>
          <p:cNvPr id="6" name="Footer Placeholder 5">
            <a:extLst>
              <a:ext uri="{FF2B5EF4-FFF2-40B4-BE49-F238E27FC236}">
                <a16:creationId xmlns:a16="http://schemas.microsoft.com/office/drawing/2014/main" id="{083DB505-C328-5677-51BD-E12270EB85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478135-C42A-1E0B-3BCE-B3B045B62215}"/>
              </a:ext>
            </a:extLst>
          </p:cNvPr>
          <p:cNvSpPr>
            <a:spLocks noGrp="1"/>
          </p:cNvSpPr>
          <p:nvPr>
            <p:ph type="sldNum" sz="quarter" idx="12"/>
          </p:nvPr>
        </p:nvSpPr>
        <p:spPr/>
        <p:txBody>
          <a:bodyPr/>
          <a:lstStyle/>
          <a:p>
            <a:fld id="{2C4A675C-9F91-4882-B534-E62329E17A0A}" type="slidenum">
              <a:rPr lang="en-US" smtClean="0"/>
              <a:t>‹#›</a:t>
            </a:fld>
            <a:endParaRPr lang="en-US"/>
          </a:p>
        </p:txBody>
      </p:sp>
    </p:spTree>
    <p:extLst>
      <p:ext uri="{BB962C8B-B14F-4D97-AF65-F5344CB8AC3E}">
        <p14:creationId xmlns:p14="http://schemas.microsoft.com/office/powerpoint/2010/main" val="1184583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A5AC7-B5E7-80B4-736A-63C1E644145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57A93A-ACBA-CD4F-7CA6-54B5D7394B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F2904A-0B5E-C644-24BE-6678589E8625}"/>
              </a:ext>
            </a:extLst>
          </p:cNvPr>
          <p:cNvSpPr>
            <a:spLocks noGrp="1"/>
          </p:cNvSpPr>
          <p:nvPr>
            <p:ph type="dt" sz="half" idx="10"/>
          </p:nvPr>
        </p:nvSpPr>
        <p:spPr/>
        <p:txBody>
          <a:bodyPr/>
          <a:lstStyle/>
          <a:p>
            <a:fld id="{B40240B4-7C77-4721-B688-DB5642C6702B}" type="datetimeFigureOut">
              <a:rPr lang="en-US" smtClean="0"/>
              <a:t>4/4/2025</a:t>
            </a:fld>
            <a:endParaRPr lang="en-US"/>
          </a:p>
        </p:txBody>
      </p:sp>
      <p:sp>
        <p:nvSpPr>
          <p:cNvPr id="5" name="Footer Placeholder 4">
            <a:extLst>
              <a:ext uri="{FF2B5EF4-FFF2-40B4-BE49-F238E27FC236}">
                <a16:creationId xmlns:a16="http://schemas.microsoft.com/office/drawing/2014/main" id="{F819D320-5063-DE77-A839-DB30518CB3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658679-06C0-A197-F1D1-7BE709866036}"/>
              </a:ext>
            </a:extLst>
          </p:cNvPr>
          <p:cNvSpPr>
            <a:spLocks noGrp="1"/>
          </p:cNvSpPr>
          <p:nvPr>
            <p:ph type="sldNum" sz="quarter" idx="12"/>
          </p:nvPr>
        </p:nvSpPr>
        <p:spPr/>
        <p:txBody>
          <a:bodyPr/>
          <a:lstStyle/>
          <a:p>
            <a:fld id="{2C4A675C-9F91-4882-B534-E62329E17A0A}" type="slidenum">
              <a:rPr lang="en-US" smtClean="0"/>
              <a:t>‹#›</a:t>
            </a:fld>
            <a:endParaRPr lang="en-US"/>
          </a:p>
        </p:txBody>
      </p:sp>
    </p:spTree>
    <p:extLst>
      <p:ext uri="{BB962C8B-B14F-4D97-AF65-F5344CB8AC3E}">
        <p14:creationId xmlns:p14="http://schemas.microsoft.com/office/powerpoint/2010/main" val="796033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B90227-07FE-D951-EDA5-75ACB9644B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B1A824-F2B4-9FC5-C30A-8CE524A23C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16EBAA-F658-21EA-5F53-CF18091D35DF}"/>
              </a:ext>
            </a:extLst>
          </p:cNvPr>
          <p:cNvSpPr>
            <a:spLocks noGrp="1"/>
          </p:cNvSpPr>
          <p:nvPr>
            <p:ph type="dt" sz="half" idx="10"/>
          </p:nvPr>
        </p:nvSpPr>
        <p:spPr/>
        <p:txBody>
          <a:bodyPr/>
          <a:lstStyle/>
          <a:p>
            <a:fld id="{B40240B4-7C77-4721-B688-DB5642C6702B}" type="datetimeFigureOut">
              <a:rPr lang="en-US" smtClean="0"/>
              <a:t>4/4/2025</a:t>
            </a:fld>
            <a:endParaRPr lang="en-US"/>
          </a:p>
        </p:txBody>
      </p:sp>
      <p:sp>
        <p:nvSpPr>
          <p:cNvPr id="5" name="Footer Placeholder 4">
            <a:extLst>
              <a:ext uri="{FF2B5EF4-FFF2-40B4-BE49-F238E27FC236}">
                <a16:creationId xmlns:a16="http://schemas.microsoft.com/office/drawing/2014/main" id="{686CF62C-D4F5-E226-4A0C-C9749BB89B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2934C1-316E-7CE3-B725-672D7DF209B9}"/>
              </a:ext>
            </a:extLst>
          </p:cNvPr>
          <p:cNvSpPr>
            <a:spLocks noGrp="1"/>
          </p:cNvSpPr>
          <p:nvPr>
            <p:ph type="sldNum" sz="quarter" idx="12"/>
          </p:nvPr>
        </p:nvSpPr>
        <p:spPr/>
        <p:txBody>
          <a:bodyPr/>
          <a:lstStyle/>
          <a:p>
            <a:fld id="{2C4A675C-9F91-4882-B534-E62329E17A0A}" type="slidenum">
              <a:rPr lang="en-US" smtClean="0"/>
              <a:t>‹#›</a:t>
            </a:fld>
            <a:endParaRPr lang="en-US"/>
          </a:p>
        </p:txBody>
      </p:sp>
    </p:spTree>
    <p:extLst>
      <p:ext uri="{BB962C8B-B14F-4D97-AF65-F5344CB8AC3E}">
        <p14:creationId xmlns:p14="http://schemas.microsoft.com/office/powerpoint/2010/main" val="3816711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69D700-B212-B4EC-4DC5-637C24D9BD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9E07EB-05DC-C773-5FD8-4441440DBA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D31499-64CA-5E4B-379E-7A777D43F3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0240B4-7C77-4721-B688-DB5642C6702B}" type="datetimeFigureOut">
              <a:rPr lang="en-US" smtClean="0"/>
              <a:t>4/4/2025</a:t>
            </a:fld>
            <a:endParaRPr lang="en-US"/>
          </a:p>
        </p:txBody>
      </p:sp>
      <p:sp>
        <p:nvSpPr>
          <p:cNvPr id="5" name="Footer Placeholder 4">
            <a:extLst>
              <a:ext uri="{FF2B5EF4-FFF2-40B4-BE49-F238E27FC236}">
                <a16:creationId xmlns:a16="http://schemas.microsoft.com/office/drawing/2014/main" id="{FDA0639D-C7BB-2268-559A-5224ECCC8B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09F06A-7F2C-0165-AB58-78628C20EE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4A675C-9F91-4882-B534-E62329E17A0A}" type="slidenum">
              <a:rPr lang="en-US" smtClean="0"/>
              <a:t>‹#›</a:t>
            </a:fld>
            <a:endParaRPr lang="en-US"/>
          </a:p>
        </p:txBody>
      </p:sp>
    </p:spTree>
    <p:extLst>
      <p:ext uri="{BB962C8B-B14F-4D97-AF65-F5344CB8AC3E}">
        <p14:creationId xmlns:p14="http://schemas.microsoft.com/office/powerpoint/2010/main" val="20869786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youtube.com/watch?v=qheYIJGV_-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st-takla.org/Bibles/BibleSearch/showVerses.php?book=52&amp;chapter=9&amp;vmin=23&amp;vmax=23"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st-takla.org/Bibles/BibleSearch/showVerses.php?book=73&amp;chapter=1&amp;vmin=10&amp;vmax=10"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st-takla.org/Bibles/BibleSearch/showVerses.php?book=55&amp;chapter=13&amp;vmin=7&amp;vmax=7"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1B41F-D8C6-AB95-0B49-1B74A93B95CF}"/>
              </a:ext>
            </a:extLst>
          </p:cNvPr>
          <p:cNvSpPr>
            <a:spLocks noGrp="1"/>
          </p:cNvSpPr>
          <p:nvPr>
            <p:ph type="ctrTitle"/>
          </p:nvPr>
        </p:nvSpPr>
        <p:spPr/>
        <p:txBody>
          <a:bodyPr/>
          <a:lstStyle/>
          <a:p>
            <a:r>
              <a:rPr lang="ar-LB" dirty="0"/>
              <a:t>سلام ونعمة</a:t>
            </a:r>
            <a:endParaRPr lang="en-US" dirty="0"/>
          </a:p>
        </p:txBody>
      </p:sp>
      <p:sp>
        <p:nvSpPr>
          <p:cNvPr id="3" name="Subtitle 2">
            <a:extLst>
              <a:ext uri="{FF2B5EF4-FFF2-40B4-BE49-F238E27FC236}">
                <a16:creationId xmlns:a16="http://schemas.microsoft.com/office/drawing/2014/main" id="{CF577F31-321E-D52F-B9C1-0006E83654E9}"/>
              </a:ext>
            </a:extLst>
          </p:cNvPr>
          <p:cNvSpPr>
            <a:spLocks noGrp="1"/>
          </p:cNvSpPr>
          <p:nvPr>
            <p:ph type="subTitle" idx="1"/>
          </p:nvPr>
        </p:nvSpPr>
        <p:spPr/>
        <p:txBody>
          <a:bodyPr/>
          <a:lstStyle/>
          <a:p>
            <a:r>
              <a:rPr lang="ar-LB" dirty="0"/>
              <a:t>عراقيل دخول المسلم في المسيحية</a:t>
            </a:r>
            <a:endParaRPr lang="en-US" dirty="0"/>
          </a:p>
        </p:txBody>
      </p:sp>
    </p:spTree>
    <p:extLst>
      <p:ext uri="{BB962C8B-B14F-4D97-AF65-F5344CB8AC3E}">
        <p14:creationId xmlns:p14="http://schemas.microsoft.com/office/powerpoint/2010/main" val="950714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434DB-5A8E-C409-B312-3076AC3232A3}"/>
              </a:ext>
            </a:extLst>
          </p:cNvPr>
          <p:cNvSpPr>
            <a:spLocks noGrp="1"/>
          </p:cNvSpPr>
          <p:nvPr>
            <p:ph type="title"/>
          </p:nvPr>
        </p:nvSpPr>
        <p:spPr>
          <a:xfrm>
            <a:off x="1263444" y="0"/>
            <a:ext cx="10515600" cy="580104"/>
          </a:xfrm>
        </p:spPr>
        <p:txBody>
          <a:bodyPr>
            <a:normAutofit fontScale="90000"/>
          </a:bodyPr>
          <a:lstStyle/>
          <a:p>
            <a:pPr algn="r"/>
            <a:r>
              <a:rPr lang="ar-LB" dirty="0"/>
              <a:t>مقدمة:</a:t>
            </a:r>
            <a:endParaRPr lang="en-US" dirty="0"/>
          </a:p>
        </p:txBody>
      </p:sp>
      <p:sp>
        <p:nvSpPr>
          <p:cNvPr id="3" name="Content Placeholder 2">
            <a:extLst>
              <a:ext uri="{FF2B5EF4-FFF2-40B4-BE49-F238E27FC236}">
                <a16:creationId xmlns:a16="http://schemas.microsoft.com/office/drawing/2014/main" id="{A948FEB2-FC62-5E80-6776-C916C174FD19}"/>
              </a:ext>
            </a:extLst>
          </p:cNvPr>
          <p:cNvSpPr>
            <a:spLocks noGrp="1"/>
          </p:cNvSpPr>
          <p:nvPr>
            <p:ph idx="1"/>
          </p:nvPr>
        </p:nvSpPr>
        <p:spPr>
          <a:xfrm>
            <a:off x="0" y="290052"/>
            <a:ext cx="12192000" cy="7000568"/>
          </a:xfrm>
        </p:spPr>
        <p:txBody>
          <a:bodyPr>
            <a:noAutofit/>
          </a:bodyPr>
          <a:lstStyle/>
          <a:p>
            <a:pPr algn="r" rtl="1">
              <a:lnSpc>
                <a:spcPct val="100000"/>
              </a:lnSpc>
            </a:pPr>
            <a:r>
              <a:rPr lang="ar-LB" sz="2300" dirty="0"/>
              <a:t>يوجد عديد من الأمور تجعل المسلم يتمسك ويتعلق بدينه أكثر وتعرقل مسيرة التفكير المنطقي عنده إما لأسباب جهل, أو قلق أو خوف, أو مغالطات. </a:t>
            </a:r>
          </a:p>
          <a:p>
            <a:pPr algn="r" rtl="1">
              <a:lnSpc>
                <a:spcPct val="100000"/>
              </a:lnSpc>
            </a:pPr>
            <a:r>
              <a:rPr lang="ar-LB" sz="2300" dirty="0"/>
              <a:t>كثير من المسلمين يعتقد أن هناك أمور غامضة في الإسلام لا يمكن فهمها ويعتبر الدين فقط من إختصاص رجال الدين.</a:t>
            </a:r>
          </a:p>
          <a:p>
            <a:pPr algn="r" rtl="1">
              <a:lnSpc>
                <a:spcPct val="100000"/>
              </a:lnSpc>
            </a:pPr>
            <a:r>
              <a:rPr lang="ar-LB" sz="2300" dirty="0"/>
              <a:t>اعتبار خوف المسلم من الإطلاع على أي شيء خارج الإسلام خوفا من عذاب نار جهنم أحيانا مجرد تبشير المسلم يجعل هذا الشخص يشعر بشيء بين الغضب والخوف من العذاب الأليم.</a:t>
            </a:r>
          </a:p>
          <a:p>
            <a:pPr algn="r" rtl="1">
              <a:lnSpc>
                <a:spcPct val="100000"/>
              </a:lnSpc>
            </a:pPr>
            <a:r>
              <a:rPr lang="ar-LB" sz="2300" dirty="0"/>
              <a:t>اغتبار الأخ المسلم أن اي مصيبة تقع عليه وخصوصا بعد تأخير بأداء واجب إسلامي او التقصير في أمر إسلامي معين سبب مباشر لتلك المصيبة.</a:t>
            </a:r>
          </a:p>
          <a:p>
            <a:pPr algn="r" rtl="1">
              <a:lnSpc>
                <a:spcPct val="100000"/>
              </a:lnSpc>
            </a:pPr>
            <a:r>
              <a:rPr lang="ar-LB" sz="2300" dirty="0"/>
              <a:t>القبلية والعادات والتقاليد يعني المسلم متوعد في رمضان أن يجتمع بعائلته, او أن يزور عائلته في العيدين أو ان يمارس طقوس معين في العيد.</a:t>
            </a:r>
          </a:p>
          <a:p>
            <a:pPr algn="r" rtl="1">
              <a:lnSpc>
                <a:spcPct val="100000"/>
              </a:lnSpc>
            </a:pPr>
            <a:r>
              <a:rPr lang="ar-LB" sz="2300" dirty="0"/>
              <a:t>الفشل في حياته المهنية او الأكاديمية أو العملية تجعل العبور للمسيحية ليست ضمن أولياته. </a:t>
            </a:r>
          </a:p>
          <a:p>
            <a:pPr algn="r" rtl="1">
              <a:lnSpc>
                <a:spcPct val="100000"/>
              </a:lnSpc>
            </a:pPr>
            <a:r>
              <a:rPr lang="ar-LB" sz="2300" dirty="0"/>
              <a:t>عندكم مثل عنا انت عندكم في العهد القديم ونحن عنا في القرآن.</a:t>
            </a:r>
          </a:p>
          <a:p>
            <a:pPr algn="r" rtl="1">
              <a:lnSpc>
                <a:spcPct val="100000"/>
              </a:lnSpc>
            </a:pPr>
            <a:r>
              <a:rPr lang="ar-LB" sz="2300" dirty="0"/>
              <a:t>الدين</a:t>
            </a:r>
            <a:r>
              <a:rPr lang="en-US" sz="2300" dirty="0"/>
              <a:t> </a:t>
            </a:r>
            <a:r>
              <a:rPr lang="ar-LB" sz="2300" dirty="0"/>
              <a:t>الإسلامي أشمل من المسيحي.</a:t>
            </a:r>
          </a:p>
          <a:p>
            <a:pPr algn="r" rtl="1">
              <a:lnSpc>
                <a:spcPct val="100000"/>
              </a:lnSpc>
            </a:pPr>
            <a:r>
              <a:rPr lang="ar-LB" sz="2300" dirty="0"/>
              <a:t>لماذا لا يذهب المسيحي إلى المسجد.</a:t>
            </a:r>
          </a:p>
          <a:p>
            <a:pPr algn="r" rtl="1">
              <a:lnSpc>
                <a:spcPct val="100000"/>
              </a:lnSpc>
            </a:pPr>
            <a:r>
              <a:rPr lang="ar-LB" sz="2300" dirty="0"/>
              <a:t>مفاهيم مغلوطة عن المسيحية ومعايير تستخدم للدين المسيحي من منظور إسلامي.</a:t>
            </a:r>
          </a:p>
          <a:p>
            <a:pPr algn="r" rtl="1">
              <a:lnSpc>
                <a:spcPct val="100000"/>
              </a:lnSpc>
            </a:pPr>
            <a:r>
              <a:rPr lang="ar-LB" sz="2300" dirty="0"/>
              <a:t>البلدان الطائفية والقبلية والأحوال الشخصية الصعبة وأحيانا التعجزية, وخصوصا في المعاملات, واخطاء مؤمنين.</a:t>
            </a:r>
            <a:endParaRPr lang="en-US" sz="2300" dirty="0"/>
          </a:p>
        </p:txBody>
      </p:sp>
    </p:spTree>
    <p:extLst>
      <p:ext uri="{BB962C8B-B14F-4D97-AF65-F5344CB8AC3E}">
        <p14:creationId xmlns:p14="http://schemas.microsoft.com/office/powerpoint/2010/main" val="1727602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F09B9-2743-3098-74A0-D71D5E4EDC84}"/>
              </a:ext>
            </a:extLst>
          </p:cNvPr>
          <p:cNvSpPr>
            <a:spLocks noGrp="1"/>
          </p:cNvSpPr>
          <p:nvPr>
            <p:ph type="title"/>
          </p:nvPr>
        </p:nvSpPr>
        <p:spPr>
          <a:xfrm>
            <a:off x="838200" y="1"/>
            <a:ext cx="10980174" cy="904567"/>
          </a:xfrm>
        </p:spPr>
        <p:txBody>
          <a:bodyPr/>
          <a:lstStyle/>
          <a:p>
            <a:pPr algn="r" rtl="1"/>
            <a:r>
              <a:rPr lang="ar-LB" dirty="0"/>
              <a:t>الدين إختصاص رجال الدين فقط:</a:t>
            </a:r>
            <a:endParaRPr lang="en-US" dirty="0"/>
          </a:p>
        </p:txBody>
      </p:sp>
      <p:sp>
        <p:nvSpPr>
          <p:cNvPr id="3" name="Content Placeholder 2">
            <a:extLst>
              <a:ext uri="{FF2B5EF4-FFF2-40B4-BE49-F238E27FC236}">
                <a16:creationId xmlns:a16="http://schemas.microsoft.com/office/drawing/2014/main" id="{436B94F3-6215-833C-8400-AACD398F3155}"/>
              </a:ext>
            </a:extLst>
          </p:cNvPr>
          <p:cNvSpPr>
            <a:spLocks noGrp="1"/>
          </p:cNvSpPr>
          <p:nvPr>
            <p:ph idx="1"/>
          </p:nvPr>
        </p:nvSpPr>
        <p:spPr>
          <a:xfrm>
            <a:off x="78658" y="580103"/>
            <a:ext cx="12182168" cy="6351639"/>
          </a:xfrm>
        </p:spPr>
        <p:txBody>
          <a:bodyPr>
            <a:normAutofit/>
          </a:bodyPr>
          <a:lstStyle/>
          <a:p>
            <a:pPr algn="r" rtl="1"/>
            <a:r>
              <a:rPr lang="ar-LB" sz="2400" dirty="0"/>
              <a:t>إذا اراد أحد ان يصلح سيارته يذهب إلى مكينكي سيارات لا إلى طبيب او إلى نجار, وإذا اراد أحد ان يصلح بابه يذهب إلى نجار لا يذهب إلى شخص يعمل بالأدوات الصحية او ممرض.كذلك الشخص المسلم مهما وصل من العلم او القراءة او التمعن في الدين بالنسبة لا يحق له أن يعتدي على اختصاص غيره ويفتي كما يشاء.</a:t>
            </a:r>
          </a:p>
          <a:p>
            <a:pPr algn="r" rtl="1"/>
            <a:r>
              <a:rPr lang="ar-LB" sz="2400" dirty="0"/>
              <a:t>رجل الدين الذكي يستخدم أسلوب ذكي لجذب الناس لدين الإسلام, يبدأ بأفكار سهلة على العقل, مثل أمور الطقوس وعندما يصبح الدين من مسلمات ربما يستخدم فتاواه لأغراض يستفيد منها فالدين يعطيه سلطة.</a:t>
            </a:r>
          </a:p>
          <a:p>
            <a:pPr algn="r" rtl="1"/>
            <a:r>
              <a:rPr lang="ar-LB" sz="2400" dirty="0"/>
              <a:t>المسلم لديه إيمان مطلق بالإسلام يشبه منطق الحجر والعامود في نصف الطريق فالحجر لتثبيت العامود, والعامود ليدل على الحجار يعني إستدلال دائري.</a:t>
            </a:r>
          </a:p>
          <a:p>
            <a:pPr algn="r" rtl="1"/>
            <a:r>
              <a:rPr lang="ar-LB" sz="2400" dirty="0"/>
              <a:t>يعني المسلم الذي عنده إيمان مطلق بالنبي محمد وفي عقله الباطني أنه رجل خارق وإنسان نموذجي, وتحفة تاريخية لا مثيل لها, وإنقاذ للبشرية لا مثيل وكذلك الشيعي وغريهم, تجعله لا يستطيع التصديق بروايات صحيحة وردت في كتبه الكتب نفسها التي يستدل على عظمة هذا الشخص.</a:t>
            </a:r>
          </a:p>
          <a:p>
            <a:pPr algn="r" rtl="1"/>
            <a:r>
              <a:rPr lang="ar-LB" sz="2400" dirty="0"/>
              <a:t>على سبيل المثال: حديث في كتب السنة صحيح البخاري كتاب بدء الخلق, باب إذا وقع الذباب في شراب أحدكم فليعمسه, الحديث رقم 3320 </a:t>
            </a:r>
            <a:r>
              <a:rPr lang="ar-LB" sz="2000" b="0" i="0" dirty="0">
                <a:solidFill>
                  <a:srgbClr val="FF0000"/>
                </a:solidFill>
                <a:effectLst/>
                <a:latin typeface="traditional"/>
              </a:rPr>
              <a:t>إِذَا وَقَعَ الذُّبَابُ فِي شَرَابِ أَحَدِكُمْ فَلْيَغْمِسْهُ ثُمَّ لِيَنْزِعْهُ، فَإِنَّ فِي إِحْدَى جَنَاحَيْهِ دَاءً وَالأُخْرَى شِفَاءً</a:t>
            </a:r>
            <a:r>
              <a:rPr lang="ar-LB" sz="2000" b="0" i="0" dirty="0">
                <a:solidFill>
                  <a:srgbClr val="444444"/>
                </a:solidFill>
                <a:effectLst/>
                <a:latin typeface="traditional"/>
              </a:rPr>
              <a:t>.</a:t>
            </a:r>
          </a:p>
          <a:p>
            <a:pPr algn="r" rtl="1"/>
            <a:r>
              <a:rPr lang="ar-LB" sz="2400" dirty="0"/>
              <a:t>أيضا في صحيح البخاري كتاب الطب, باب الدواء بأبوال الإبل الحديث رقم 5686 </a:t>
            </a:r>
            <a:r>
              <a:rPr lang="ar-LB" sz="2000" b="0" i="0" dirty="0">
                <a:solidFill>
                  <a:srgbClr val="FF0000"/>
                </a:solidFill>
                <a:effectLst/>
                <a:latin typeface="Segoe UI Historic" panose="020B0502040204020203" pitchFamily="34" charset="0"/>
              </a:rPr>
              <a:t>قتادة عن أنس رضي الله عنه أن ناسا إجتووا في المدينة فأمرهم النبي (ص) أن يلحقوا براعيه يعني الإبل فيشربوا من ألبانها وأبوالها فلحقوا براعيه فشربوا من ألبانها وأبوالها حتى صلحت أبدانهم فقتلوا الراعي وساقوا الإبل فبلغ النبي.</a:t>
            </a:r>
          </a:p>
          <a:p>
            <a:pPr algn="r" rtl="1"/>
            <a:r>
              <a:rPr lang="ar-LB" sz="2000" dirty="0"/>
              <a:t>الكافي عند الشيعية 12  المجلد السادس ص 266 كتاب الأطعمة, باب أكل الطين الحديث رقم 9 </a:t>
            </a:r>
            <a:r>
              <a:rPr lang="ar-LB" sz="2000" b="0" i="0" dirty="0">
                <a:solidFill>
                  <a:srgbClr val="FF0000"/>
                </a:solidFill>
                <a:effectLst/>
                <a:latin typeface="Simplified Arabic" panose="02020603050405020304" pitchFamily="18" charset="-78"/>
                <a:cs typeface="Simplified Arabic" panose="02020603050405020304" pitchFamily="18" charset="-78"/>
              </a:rPr>
              <a:t> قال: سألت أبا الحسن عليه السلام عن الطين فقال: أكل الطين حرام مثل الميتة والدم ولحم الخنزير إلا طين قبر الحسين عليه السلام (3) فإن فيه شفاء من كل داء وأمتا من كل خوف.</a:t>
            </a:r>
          </a:p>
          <a:p>
            <a:pPr algn="r" rtl="1"/>
            <a:endParaRPr lang="en-US" sz="2400" dirty="0">
              <a:solidFill>
                <a:srgbClr val="FF0000"/>
              </a:solidFill>
            </a:endParaRPr>
          </a:p>
        </p:txBody>
      </p:sp>
    </p:spTree>
    <p:extLst>
      <p:ext uri="{BB962C8B-B14F-4D97-AF65-F5344CB8AC3E}">
        <p14:creationId xmlns:p14="http://schemas.microsoft.com/office/powerpoint/2010/main" val="11166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FB77D-F2F2-BA62-A19B-4A34432574F4}"/>
              </a:ext>
            </a:extLst>
          </p:cNvPr>
          <p:cNvSpPr>
            <a:spLocks noGrp="1"/>
          </p:cNvSpPr>
          <p:nvPr>
            <p:ph type="title"/>
          </p:nvPr>
        </p:nvSpPr>
        <p:spPr>
          <a:xfrm>
            <a:off x="838200" y="98324"/>
            <a:ext cx="10515600" cy="707922"/>
          </a:xfrm>
        </p:spPr>
        <p:txBody>
          <a:bodyPr/>
          <a:lstStyle/>
          <a:p>
            <a:pPr algn="r" rtl="1"/>
            <a:r>
              <a:rPr lang="ar-LB" dirty="0"/>
              <a:t>الدين أختصاص رجال الدين :</a:t>
            </a:r>
            <a:endParaRPr lang="en-US" dirty="0"/>
          </a:p>
        </p:txBody>
      </p:sp>
      <p:sp>
        <p:nvSpPr>
          <p:cNvPr id="3" name="Content Placeholder 2">
            <a:extLst>
              <a:ext uri="{FF2B5EF4-FFF2-40B4-BE49-F238E27FC236}">
                <a16:creationId xmlns:a16="http://schemas.microsoft.com/office/drawing/2014/main" id="{3DD6577F-871C-B54C-19C2-B72BF02EB4A5}"/>
              </a:ext>
            </a:extLst>
          </p:cNvPr>
          <p:cNvSpPr>
            <a:spLocks noGrp="1"/>
          </p:cNvSpPr>
          <p:nvPr>
            <p:ph idx="1"/>
          </p:nvPr>
        </p:nvSpPr>
        <p:spPr>
          <a:xfrm>
            <a:off x="137652" y="609600"/>
            <a:ext cx="12054348" cy="6150076"/>
          </a:xfrm>
        </p:spPr>
        <p:txBody>
          <a:bodyPr>
            <a:normAutofit fontScale="92500"/>
          </a:bodyPr>
          <a:lstStyle/>
          <a:p>
            <a:pPr algn="r" rtl="1"/>
            <a:r>
              <a:rPr lang="ar-LB" sz="2500" b="0" i="0" dirty="0">
                <a:effectLst/>
                <a:latin typeface="Simplified Arabic" panose="02020603050405020304" pitchFamily="18" charset="-78"/>
                <a:cs typeface="Simplified Arabic" panose="02020603050405020304" pitchFamily="18" charset="-78"/>
              </a:rPr>
              <a:t> هذه مساطر من الاحاديث تضع الإخوة المسلمين في إحراج فهناك خيارين: إما يعمل عقله ويترك الدين, وإما لا يشغل عقله ويبقى في الدين ويمشي على فكرة أن اللبن أسود.</a:t>
            </a:r>
          </a:p>
          <a:p>
            <a:pPr algn="r" rtl="1"/>
            <a:r>
              <a:rPr lang="ar-LB" sz="2500" dirty="0">
                <a:latin typeface="Simplified Arabic" panose="02020603050405020304" pitchFamily="18" charset="-78"/>
                <a:cs typeface="Simplified Arabic" panose="02020603050405020304" pitchFamily="18" charset="-78"/>
              </a:rPr>
              <a:t>يأتي المرقع من المسلمين او شيوخ اليسر وليس العسر, أو شيوخ الإعتدال أو شيوخ العقل, لترقيع هذه الأمور إما ليقول أن هذه الأحاديث ليست صلب الدين, او ليقول أن هذه مدسوسة او من الإسرائيليات ومنسوبة زورا لهم, مرجعنا فقط القرآن(حمال الأوجه).</a:t>
            </a:r>
          </a:p>
          <a:p>
            <a:pPr algn="r" rtl="1"/>
            <a:r>
              <a:rPr lang="ar-LB" sz="2500" dirty="0"/>
              <a:t>من هنا أتت فكرة أن هناك من افترى على هذه الشخصيات بهذه الأحاديث يعني فكرة مآمرة, ولان القرآن حمال أوجه يمكن ان تفسر الآية كما يريد الشيخ بسبب الغموض يأتي ويضرب بعرض الحائط التفاسير القديمة ويضع تفسيره الذي يجعل من الثغرة إعجاز علمي.</a:t>
            </a:r>
          </a:p>
          <a:p>
            <a:pPr algn="r" rtl="1"/>
            <a:r>
              <a:rPr lang="ar-LB" sz="2500" dirty="0"/>
              <a:t>سأعطي مثال لتوضيح الصورة قليلا تخيل هناك كتاب قديم قريب لعهد جنكيز خان مثلا يقلي عن حياة جنكيز خان بالتفصيل الممل وعندي يصف لي حادثة إغتصاب له أقول مستحيل هذه حادثة مدسوسة زورا له, هل سيقبل المسلمون هذا المنطق؟</a:t>
            </a:r>
          </a:p>
          <a:p>
            <a:pPr algn="r" rtl="1"/>
            <a:r>
              <a:rPr lang="ar-LB" sz="2500" dirty="0"/>
              <a:t>يعني ما تطرق له الإحتمال بطل به الإستدال يعني لا أستطيع أن أستدل بمصدر هو نفس الذي أطعن به او ببعض ما ورد به.</a:t>
            </a:r>
          </a:p>
          <a:p>
            <a:pPr algn="r" rtl="1"/>
            <a:r>
              <a:rPr lang="ar-LB" sz="2500" dirty="0"/>
              <a:t>سأعطي مثال عن آية قرآنية تقول  أَلَمْ تَرَوْا كَيْفَ خَلَقَ اللَّهُ سَبْعَ سَمَاوَاتٍ طِبَاقًا (15) وَجَعَلَ الْقَمَرَ فِيهِنَّ نُورًا وَجَعَلَ الشَّمْسَ سِرَاجًا (16) سورة نوح 15 و16 السبع سموات بالنسبة للمسلم هي كل الكون والجنة.</a:t>
            </a:r>
          </a:p>
          <a:p>
            <a:pPr algn="r" rtl="1"/>
            <a:r>
              <a:rPr lang="ar-LB" sz="2500" dirty="0"/>
              <a:t>يأتي شيخ اليسر ليجعل من هذه الآية إعجاز علمي القرآن قال من 1400 سنة ان االنور تعني الضوء المنعكس والسراج مصدر الضوء يعني القرآن اكتشف قبل العلماء ان القمر يعكس ضوء الشمس يعني مصدر القرآن الخالق.</a:t>
            </a:r>
            <a:endParaRPr lang="en-US" sz="2500" dirty="0"/>
          </a:p>
          <a:p>
            <a:pPr algn="r" rtl="1"/>
            <a:r>
              <a:rPr lang="ar-LB" sz="2500" dirty="0"/>
              <a:t>يعني إذا سلمنا بهذا التفسير الله نور السماوات والأرض يعني الضوء المنعكس, ليأتي يقلك لا النور هنا تعني مصدر الضوء او مصدر الخير, ترقيع لا نهائي.</a:t>
            </a:r>
          </a:p>
          <a:p>
            <a:pPr algn="r" rtl="1"/>
            <a:endParaRPr lang="en-US" sz="2400" dirty="0"/>
          </a:p>
        </p:txBody>
      </p:sp>
    </p:spTree>
    <p:extLst>
      <p:ext uri="{BB962C8B-B14F-4D97-AF65-F5344CB8AC3E}">
        <p14:creationId xmlns:p14="http://schemas.microsoft.com/office/powerpoint/2010/main" val="3395844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4FB6C-B1AD-8AF8-8526-8D6E9163B91D}"/>
              </a:ext>
            </a:extLst>
          </p:cNvPr>
          <p:cNvSpPr>
            <a:spLocks noGrp="1"/>
          </p:cNvSpPr>
          <p:nvPr>
            <p:ph type="title"/>
          </p:nvPr>
        </p:nvSpPr>
        <p:spPr>
          <a:xfrm>
            <a:off x="1499419" y="9832"/>
            <a:ext cx="10515600" cy="681036"/>
          </a:xfrm>
        </p:spPr>
        <p:txBody>
          <a:bodyPr>
            <a:normAutofit fontScale="90000"/>
          </a:bodyPr>
          <a:lstStyle/>
          <a:p>
            <a:pPr algn="r" rtl="1"/>
            <a:r>
              <a:rPr lang="ar-LB" dirty="0"/>
              <a:t>الخوف من عذاب جهنم:</a:t>
            </a:r>
            <a:endParaRPr lang="en-US" dirty="0"/>
          </a:p>
        </p:txBody>
      </p:sp>
      <p:sp>
        <p:nvSpPr>
          <p:cNvPr id="3" name="Content Placeholder 2">
            <a:extLst>
              <a:ext uri="{FF2B5EF4-FFF2-40B4-BE49-F238E27FC236}">
                <a16:creationId xmlns:a16="http://schemas.microsoft.com/office/drawing/2014/main" id="{25174305-42BF-6D74-CA2A-821F60507E5D}"/>
              </a:ext>
            </a:extLst>
          </p:cNvPr>
          <p:cNvSpPr>
            <a:spLocks noGrp="1"/>
          </p:cNvSpPr>
          <p:nvPr>
            <p:ph idx="1"/>
          </p:nvPr>
        </p:nvSpPr>
        <p:spPr>
          <a:xfrm>
            <a:off x="176981" y="530942"/>
            <a:ext cx="12015019" cy="6066503"/>
          </a:xfrm>
        </p:spPr>
        <p:txBody>
          <a:bodyPr>
            <a:normAutofit/>
          </a:bodyPr>
          <a:lstStyle/>
          <a:p>
            <a:pPr algn="r" rtl="1"/>
            <a:r>
              <a:rPr lang="ar-LB" sz="2400" dirty="0"/>
              <a:t>طبعا الأخ المسلم متربي على قصص لوط وموسى وغيرهم من الأنبياء يتذكر أحاديث وروايات كثيرة تخوفه من نار حهنم يتجنب الفتوى في كثر من الأمور لأن هناك حديث مشهور أن كل محدثة بدعة وان كل بدعة ضلالة وكل ضلالة في النار في الأمور القرآنية يستطيع الإعتماد على نفسه إلا إذا كانت مبهمة او تحمل أوجه.</a:t>
            </a:r>
          </a:p>
          <a:p>
            <a:pPr algn="r" rtl="1"/>
            <a:r>
              <a:rPr lang="ar-LB" sz="2400" dirty="0"/>
              <a:t>المسلم يختار أن يتبع شيخ او مفتي او مرجع ويقلده لان إذا تبين في الآخرة ان هذه الأمور خطأ يكون على ذمة المرجع الديني فهو بريء أمام لله, أمور طقسية مثل سن تحجيب بناته, تحديد رمضان والأعياد, او اتجاه القبلة كم زكاة الفطر او تحديد الجهاد إذا كان صحيح, او جائز او واجب.</a:t>
            </a:r>
          </a:p>
          <a:p>
            <a:pPr algn="r" rtl="1"/>
            <a:r>
              <a:rPr lang="ar-LB" sz="2400" dirty="0"/>
              <a:t>المسلم ممنوع من التفكير او سؤال حتى سؤال </a:t>
            </a:r>
            <a:r>
              <a:rPr lang="ar-LB" sz="2000" b="1" i="0" dirty="0">
                <a:solidFill>
                  <a:srgbClr val="468847"/>
                </a:solidFill>
                <a:effectLst/>
                <a:latin typeface="hafs"/>
              </a:rPr>
              <a:t>يَا أَيُّهَا الَّذِينَ آمَنُوا لَا تَسْأَلُوا عَنْ أَشْيَاءَ إِن تُبْدَ لَكُمْ تَسُؤْكُمْ وَإِن تَسْأَلُوا عَنْهَا حِينَ يُنَزَّلُ الْقُرْآنُ تُبْدَ لَكُمْ عَفَا اللَّهُ عَنْهَا ۗ وَاللَّهُ غَفُورٌ حَلِيمٌ </a:t>
            </a:r>
            <a:r>
              <a:rPr lang="ar-LB" sz="2400" dirty="0">
                <a:latin typeface="hafs"/>
              </a:rPr>
              <a:t>سورة المائدة الآية 120.</a:t>
            </a:r>
          </a:p>
          <a:p>
            <a:pPr algn="r" rtl="1"/>
            <a:r>
              <a:rPr lang="ar-LB" sz="2400" dirty="0">
                <a:latin typeface="hafs"/>
              </a:rPr>
              <a:t>الذي ولد مسلما يعتبر نفسه محوظ وهو في ممسك مجوهرة فيخاف أن يضل نفسه او يخسرها </a:t>
            </a:r>
            <a:r>
              <a:rPr lang="ar-LB" sz="2000" b="1" i="0" dirty="0">
                <a:solidFill>
                  <a:srgbClr val="468847"/>
                </a:solidFill>
                <a:effectLst/>
                <a:latin typeface="hafs"/>
              </a:rPr>
              <a:t>قُلْ هَلْ نُنَبِّئُكُم بِالْأَخْسَرِينَ أَعْمَالًا (103)</a:t>
            </a:r>
            <a:r>
              <a:rPr lang="ar-LB" sz="2000" i="0" dirty="0">
                <a:effectLst/>
                <a:latin typeface="hafs"/>
              </a:rPr>
              <a:t> </a:t>
            </a:r>
            <a:r>
              <a:rPr lang="ar-LB" sz="2000" b="1" i="0" dirty="0">
                <a:solidFill>
                  <a:srgbClr val="468847"/>
                </a:solidFill>
                <a:effectLst/>
                <a:latin typeface="hafs"/>
              </a:rPr>
              <a:t>الَّذِينَ ضَلَّ سَعْيُهُمْ فِي الْحَيَاةِ الدُّنْيَا وَهُمْ يَحْسَبُونَ أَنَّهُمْ يُحْسِنُونَ صُنْعًا (104) </a:t>
            </a:r>
            <a:r>
              <a:rPr lang="ar-LB" sz="2400" dirty="0">
                <a:latin typeface="hafs"/>
              </a:rPr>
              <a:t>سورة الكهف الآية 103 و104, يخاف جدا من أن أي شخص ينتقد دينه ولو بشكل منطقي من هذا الشعور أن يحس نفسه أنه محسن وفي الآخر يذهب لجهنم.</a:t>
            </a:r>
          </a:p>
          <a:p>
            <a:pPr algn="r" rtl="1"/>
            <a:r>
              <a:rPr lang="ar-LB" sz="2400" dirty="0">
                <a:latin typeface="hafs"/>
              </a:rPr>
              <a:t>عذاب القبر وهذا له قصة طويلة الشخص الذي يموت يخاف من أسئلة القبر وحتى المسلم, معرض لهذا العذاب.</a:t>
            </a:r>
          </a:p>
          <a:p>
            <a:pPr algn="r" rtl="1"/>
            <a:r>
              <a:rPr lang="ar-LB" sz="2400" dirty="0">
                <a:latin typeface="hafs"/>
              </a:rPr>
              <a:t>الإنسان المسلم دائما يطرح على نفسه اسئلة هل هو مستحق الجنة وان الشخص المسلم لا يضمن لنفسه الجنة مهما فعل.</a:t>
            </a:r>
          </a:p>
          <a:p>
            <a:pPr algn="r" rtl="1"/>
            <a:r>
              <a:rPr lang="ar-LB" sz="2400" dirty="0">
                <a:latin typeface="hafs"/>
              </a:rPr>
              <a:t>يعني يمكن الإختصار يخاف عند مجادلتك ان يكون دخل بالكفر ومن أن دون أن يشعر بذلك, تراه حريص جدا في معاشرة شخص غير مسلم او الجلوس مع المفطرين في رمضان لان المسلم عندما يصلي او يصوم يفكر هل الله تقبل صيامه أو لا.</a:t>
            </a:r>
          </a:p>
          <a:p>
            <a:pPr algn="r" rtl="1"/>
            <a:endParaRPr lang="ar-LB" sz="2400" dirty="0">
              <a:latin typeface="hafs"/>
            </a:endParaRPr>
          </a:p>
          <a:p>
            <a:pPr algn="r" rtl="1"/>
            <a:endParaRPr lang="ar-LB" sz="2400" dirty="0"/>
          </a:p>
          <a:p>
            <a:pPr algn="r" rtl="1"/>
            <a:endParaRPr lang="en-US" sz="2400" dirty="0"/>
          </a:p>
        </p:txBody>
      </p:sp>
    </p:spTree>
    <p:extLst>
      <p:ext uri="{BB962C8B-B14F-4D97-AF65-F5344CB8AC3E}">
        <p14:creationId xmlns:p14="http://schemas.microsoft.com/office/powerpoint/2010/main" val="342395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D861F-5716-D257-78AE-41249DE1E7D1}"/>
              </a:ext>
            </a:extLst>
          </p:cNvPr>
          <p:cNvSpPr>
            <a:spLocks noGrp="1"/>
          </p:cNvSpPr>
          <p:nvPr>
            <p:ph type="title"/>
          </p:nvPr>
        </p:nvSpPr>
        <p:spPr>
          <a:xfrm>
            <a:off x="1578076" y="0"/>
            <a:ext cx="10515600" cy="855405"/>
          </a:xfrm>
        </p:spPr>
        <p:txBody>
          <a:bodyPr/>
          <a:lstStyle/>
          <a:p>
            <a:pPr algn="r" rtl="1"/>
            <a:r>
              <a:rPr lang="ar-LB" dirty="0"/>
              <a:t>المصائب والأمراض والحوادث:</a:t>
            </a:r>
            <a:endParaRPr lang="en-US" dirty="0"/>
          </a:p>
        </p:txBody>
      </p:sp>
      <p:sp>
        <p:nvSpPr>
          <p:cNvPr id="3" name="Content Placeholder 2">
            <a:extLst>
              <a:ext uri="{FF2B5EF4-FFF2-40B4-BE49-F238E27FC236}">
                <a16:creationId xmlns:a16="http://schemas.microsoft.com/office/drawing/2014/main" id="{3E297C8B-65F0-6FD5-4D06-858C98529273}"/>
              </a:ext>
            </a:extLst>
          </p:cNvPr>
          <p:cNvSpPr>
            <a:spLocks noGrp="1"/>
          </p:cNvSpPr>
          <p:nvPr>
            <p:ph idx="1"/>
          </p:nvPr>
        </p:nvSpPr>
        <p:spPr>
          <a:xfrm>
            <a:off x="98324" y="717755"/>
            <a:ext cx="12024850" cy="5459208"/>
          </a:xfrm>
        </p:spPr>
        <p:txBody>
          <a:bodyPr>
            <a:normAutofit/>
          </a:bodyPr>
          <a:lstStyle/>
          <a:p>
            <a:pPr algn="r" rtl="1"/>
            <a:r>
              <a:rPr lang="ar-LB" sz="2400" dirty="0"/>
              <a:t>تخيل نفسك جادلت مسلم واوصلته إلى ان دينه دين باطل أو ان الخلاص من خلال يسوع فقط, وبعد يومين تعرض لحادث سير, او رسب في الجامعة, او خسر والده, او كسرت ذراعه, او تعرض لسرقة.</a:t>
            </a:r>
          </a:p>
          <a:p>
            <a:pPr algn="r" rtl="1"/>
            <a:r>
              <a:rPr lang="ar-LB" sz="2400" dirty="0"/>
              <a:t>سيتحرك الشعور النقدي عند عقله الباطني ليقول تركي للدين او سماعي لأعداء الله والرسول, أدى إلى عواقب وخيمة وصعبة كان يجب عليي الحرص أكثر أن لا أقع في هذا الفخ.</a:t>
            </a:r>
          </a:p>
          <a:p>
            <a:pPr algn="r" rtl="1"/>
            <a:r>
              <a:rPr lang="ar-LB" sz="2400" dirty="0"/>
              <a:t>يعني يشعر هذا الشخص أن مجرد التفكير في الإبتعاد عن دينه جعله يتعرض لخسائر بحياته وان هذا عقاب من الله.</a:t>
            </a:r>
          </a:p>
          <a:p>
            <a:pPr algn="r" rtl="1"/>
            <a:r>
              <a:rPr lang="ar-LB" sz="2400" dirty="0"/>
              <a:t>هذا أيضا إذا علم أحد من اصدقائه المقربين من المسلمين أن هذه الأفكار أتت عليه وجلبت له المصائب ويكون هذا صديقه او والده او شقيقه ربما الذي يرجع إليه في حال تعرض لحوادث.</a:t>
            </a:r>
          </a:p>
          <a:p>
            <a:pPr algn="r" rtl="1"/>
            <a:r>
              <a:rPr lang="ar-LB" sz="2400" dirty="0"/>
              <a:t>صدقا صدقا لا يوجد ترك الإسلام إلا ومر بهذه التجارب الصعبة والمرة رغم تفاوتها من شخص لآخر.</a:t>
            </a:r>
          </a:p>
          <a:p>
            <a:pPr algn="r" rtl="1"/>
            <a:r>
              <a:rPr lang="ar-LB" sz="2400" dirty="0"/>
              <a:t>معأن المسلم يتعرض كثيرا لصعوبات وعراقيل في حياته ويعتبر ان هذا محبة من الله ولا يحمد على مكروه سواه وان الله إذا أحب عبدا إبتلاه, وإنا لله وإنا إليه لراجعون.</a:t>
            </a:r>
          </a:p>
          <a:p>
            <a:pPr algn="r" rtl="1"/>
            <a:r>
              <a:rPr lang="ar-LB" sz="2400" dirty="0"/>
              <a:t>القلق والخوف يشبه شعور طفولي يصيب الطفل عندما لا يسمع لكلام والديه بخطورة القيام مثلا بارتداء احذية بعجلات وعندما يرتديها يكسر ذراعه, فهو أيضا يشعر نفس الشعور عندما لا يسمع لكلام أصحابه بخصوص ترك الدين يشعر ان المصيبة نتيجة لذلك.(النصيحة بجمل)</a:t>
            </a:r>
          </a:p>
          <a:p>
            <a:pPr algn="r" rtl="1"/>
            <a:endParaRPr lang="ar-LB" sz="2400" dirty="0"/>
          </a:p>
          <a:p>
            <a:pPr algn="r" rtl="1"/>
            <a:endParaRPr lang="en-US" sz="2400" dirty="0"/>
          </a:p>
        </p:txBody>
      </p:sp>
    </p:spTree>
    <p:extLst>
      <p:ext uri="{BB962C8B-B14F-4D97-AF65-F5344CB8AC3E}">
        <p14:creationId xmlns:p14="http://schemas.microsoft.com/office/powerpoint/2010/main" val="2322046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46952-A79A-203E-D462-9B9573FE9BC1}"/>
              </a:ext>
            </a:extLst>
          </p:cNvPr>
          <p:cNvSpPr>
            <a:spLocks noGrp="1"/>
          </p:cNvSpPr>
          <p:nvPr>
            <p:ph type="title"/>
          </p:nvPr>
        </p:nvSpPr>
        <p:spPr>
          <a:xfrm>
            <a:off x="1548581" y="0"/>
            <a:ext cx="10515600" cy="681037"/>
          </a:xfrm>
        </p:spPr>
        <p:txBody>
          <a:bodyPr>
            <a:normAutofit fontScale="90000"/>
          </a:bodyPr>
          <a:lstStyle/>
          <a:p>
            <a:pPr algn="r" rtl="1"/>
            <a:r>
              <a:rPr lang="ar-LB" dirty="0"/>
              <a:t>القبلية الموجودة في مجتمعاته:</a:t>
            </a:r>
            <a:endParaRPr lang="en-US" dirty="0"/>
          </a:p>
        </p:txBody>
      </p:sp>
      <p:sp>
        <p:nvSpPr>
          <p:cNvPr id="3" name="Content Placeholder 2">
            <a:extLst>
              <a:ext uri="{FF2B5EF4-FFF2-40B4-BE49-F238E27FC236}">
                <a16:creationId xmlns:a16="http://schemas.microsoft.com/office/drawing/2014/main" id="{CD36A217-EAFC-DE86-E5DF-D920EA7F9AB9}"/>
              </a:ext>
            </a:extLst>
          </p:cNvPr>
          <p:cNvSpPr>
            <a:spLocks noGrp="1"/>
          </p:cNvSpPr>
          <p:nvPr>
            <p:ph idx="1"/>
          </p:nvPr>
        </p:nvSpPr>
        <p:spPr>
          <a:xfrm>
            <a:off x="1" y="681037"/>
            <a:ext cx="12192000" cy="5495926"/>
          </a:xfrm>
        </p:spPr>
        <p:txBody>
          <a:bodyPr>
            <a:normAutofit/>
          </a:bodyPr>
          <a:lstStyle/>
          <a:p>
            <a:pPr algn="r" rtl="1"/>
            <a:r>
              <a:rPr lang="ar-LB" sz="2400" dirty="0"/>
              <a:t>نعم الشخص المسلم معتاد على أجواء رمضان والعيد معتاد على سماع الموشحات والأناشيد الإسلامية معتاد أن يزور والديه وتجمع العائلة في العيد, التعلق بالثقافة الإجتماعية الإسلامية.</a:t>
            </a:r>
          </a:p>
          <a:p>
            <a:pPr algn="r" rtl="1"/>
            <a:r>
              <a:rPr lang="ar-LB" sz="2400" dirty="0"/>
              <a:t>الموشحات تشعر الأخ المسلم بالراحة النفسية, القرآن الكريم الذي يضع في التعازي يوقفه على رجليه بعد الموت.</a:t>
            </a:r>
          </a:p>
          <a:p>
            <a:pPr algn="r" rtl="1"/>
            <a:r>
              <a:rPr lang="ar-LB" sz="2400" dirty="0"/>
              <a:t>كثير من الناس تجدهم مسلمون بالإسم ويشتمون الذات الإلاهية بشكل معتاد لكن في مانسبات الموت تجدهم يستمتعون بقراءة القرآن, الزواج يحبونه عند الشيخ.</a:t>
            </a:r>
          </a:p>
          <a:p>
            <a:pPr algn="r" rtl="1"/>
            <a:r>
              <a:rPr lang="ar-LB" sz="2400" dirty="0"/>
              <a:t>هذا الشخص نفسه الذي يحب شرب الخمر المحرمة في دينه تجد يغار على نبيه أكثر ربما من الشيوخ.</a:t>
            </a:r>
          </a:p>
          <a:p>
            <a:pPr algn="r" rtl="1"/>
            <a:r>
              <a:rPr lang="ar-LB" sz="2400" dirty="0"/>
              <a:t>هذا الشخص يصعب عليه الإرتباط بشريكة حياة من غير دينه او من غير خليفته الدينية يفضل العقلية تفضل الإرباط بامرأة من خلفية او حتى مسلمة على إمرأة ملحدة من خلفية دينية أخرى.</a:t>
            </a:r>
          </a:p>
          <a:p>
            <a:pPr algn="r" rtl="1"/>
            <a:r>
              <a:rPr lang="ar-LB" sz="2400" dirty="0"/>
              <a:t>الإحساس بالإنتماء القبلي لهذا الدين يعني عندما احد ينتقد دينه نفس الشعور إذا احد تعرض لوالده أو أشد قسوة وخصوصا إذا كان من خلفية دينية أخرى.</a:t>
            </a:r>
          </a:p>
          <a:p>
            <a:pPr algn="r" rtl="1"/>
            <a:r>
              <a:rPr lang="ar-LB" sz="2400" dirty="0"/>
              <a:t>منهم من يأدي طقوس الإسلام لتيسر أمر إجتماعي أو لشعور الإنتماء القبلي او لإنجاح زواج أو طلاق.</a:t>
            </a:r>
          </a:p>
          <a:p>
            <a:pPr algn="r" rtl="1"/>
            <a:r>
              <a:rPr lang="ar-LB" sz="2400" dirty="0"/>
              <a:t>ومنهم من يخاف أيضا من أن يأتي للتدين للتخلص من الوحدة أو من أجل نجاح في إمتحان ما يوصل ليله بنهاره في المسجد.</a:t>
            </a:r>
            <a:endParaRPr lang="en-US" sz="2400" dirty="0"/>
          </a:p>
        </p:txBody>
      </p:sp>
    </p:spTree>
    <p:extLst>
      <p:ext uri="{BB962C8B-B14F-4D97-AF65-F5344CB8AC3E}">
        <p14:creationId xmlns:p14="http://schemas.microsoft.com/office/powerpoint/2010/main" val="1278797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88E61-750D-2447-BDE6-00CFF3258B1D}"/>
              </a:ext>
            </a:extLst>
          </p:cNvPr>
          <p:cNvSpPr>
            <a:spLocks noGrp="1"/>
          </p:cNvSpPr>
          <p:nvPr>
            <p:ph type="title"/>
          </p:nvPr>
        </p:nvSpPr>
        <p:spPr>
          <a:xfrm>
            <a:off x="1477296" y="0"/>
            <a:ext cx="10515600" cy="768326"/>
          </a:xfrm>
        </p:spPr>
        <p:txBody>
          <a:bodyPr/>
          <a:lstStyle/>
          <a:p>
            <a:pPr algn="r" rtl="1"/>
            <a:r>
              <a:rPr lang="ar-LB" dirty="0"/>
              <a:t>الحياة الأكاديمية, الشخصية والمهنية:</a:t>
            </a:r>
            <a:endParaRPr lang="en-US" dirty="0"/>
          </a:p>
        </p:txBody>
      </p:sp>
      <p:sp>
        <p:nvSpPr>
          <p:cNvPr id="3" name="Content Placeholder 2">
            <a:extLst>
              <a:ext uri="{FF2B5EF4-FFF2-40B4-BE49-F238E27FC236}">
                <a16:creationId xmlns:a16="http://schemas.microsoft.com/office/drawing/2014/main" id="{CE4A1076-484D-B007-36DA-DA529AA5EBF3}"/>
              </a:ext>
            </a:extLst>
          </p:cNvPr>
          <p:cNvSpPr>
            <a:spLocks noGrp="1"/>
          </p:cNvSpPr>
          <p:nvPr>
            <p:ph idx="1"/>
          </p:nvPr>
        </p:nvSpPr>
        <p:spPr>
          <a:xfrm>
            <a:off x="-88490" y="678426"/>
            <a:ext cx="12211663" cy="6410632"/>
          </a:xfrm>
        </p:spPr>
        <p:txBody>
          <a:bodyPr>
            <a:normAutofit/>
          </a:bodyPr>
          <a:lstStyle/>
          <a:p>
            <a:pPr algn="r" rtl="1"/>
            <a:r>
              <a:rPr lang="ar-LB" sz="2400" dirty="0"/>
              <a:t>أنا شخص أعيش على نفقة أهلي, لدي عدة أساتذة خصوصية واحد للعربي, واحد للأجنبي, وآخر للريضيات لعل وعسى أنجح بموادي آخر السنة.</a:t>
            </a:r>
          </a:p>
          <a:p>
            <a:pPr algn="r" rtl="1"/>
            <a:r>
              <a:rPr lang="ar-LB" sz="2400" dirty="0"/>
              <a:t>أنا شخص لا أستطيع أن أقيم علاقة مع الآخرين بدون علم والدي, خوفا من هذا الشخص يسرقني أو يورطني, او يبتزني.</a:t>
            </a:r>
          </a:p>
          <a:p>
            <a:pPr algn="r" rtl="1"/>
            <a:r>
              <a:rPr lang="ar-LB" sz="2400" dirty="0"/>
              <a:t>أنا شخص لا أستطيع أن أسلم على فتاة خجلا, أنا شخص الأستاذ لا يعبر أسألتي, يبهدلني الأستاذ في المدرسة على أمور لا سبب لها.</a:t>
            </a:r>
          </a:p>
          <a:p>
            <a:pPr algn="r" rtl="1"/>
            <a:r>
              <a:rPr lang="ar-LB" sz="2400" dirty="0"/>
              <a:t>أنا شخص لم اعمل شهر في مكان إلا وطردت منه او غضب عليي المدير, أو الموظفين يمسكون عملي ويكملوه عني, او يقومون بإعادة العمل وكاني لم أعمل شيئأ, او يبعدوني عن العمل خوفا من التخريب او تخسير المؤسسة.</a:t>
            </a:r>
          </a:p>
          <a:p>
            <a:pPr algn="r" rtl="1"/>
            <a:r>
              <a:rPr lang="ar-LB" sz="2400" dirty="0"/>
              <a:t>أنا شخص مررت بقرية او حارة شك فيي أهلها وأصبحوا يفتشوني عدة مرات ويسألوني أسئلة غريبة.</a:t>
            </a:r>
          </a:p>
          <a:p>
            <a:pPr algn="r" rtl="1"/>
            <a:r>
              <a:rPr lang="ar-LB" sz="2400" dirty="0"/>
              <a:t>أنا أعيد موادي في موادي الجامعة عدة مرات, ووقعت عدة مرات على طلبات إسترحام.</a:t>
            </a:r>
          </a:p>
          <a:p>
            <a:pPr algn="r" rtl="1"/>
            <a:r>
              <a:rPr lang="ar-LB" sz="2400" dirty="0"/>
              <a:t>فلان من عمري واشترى سيارة, وغيره سافر, وآخر تزوج, وأنا لا أعرف تركيب جملة.</a:t>
            </a:r>
          </a:p>
          <a:p>
            <a:pPr algn="r" rtl="1"/>
            <a:r>
              <a:rPr lang="ar-LB" sz="2400" dirty="0"/>
              <a:t>طبعا هذا نموذج لحوار داخل العقل الباطني لشخص مسلم يجعله ليس بوارد مقارنة الأديان او التفكير في تبديل.</a:t>
            </a:r>
          </a:p>
          <a:p>
            <a:pPr algn="r" rtl="1"/>
            <a:r>
              <a:rPr lang="ar-LB" sz="2400" dirty="0"/>
              <a:t>تخيل بعد كل هذه العراقيل والصعوبات آتي لأحل مشاكل العالم والكرة الأرضية والولايات المتحدة, بدل ما أضع أوليتي مصلحتي الشخصية وتحسين نفسي بدل من أعيش في الخسة فلأعش حياتي الطبيعية واحل همومي ومشاكلي.</a:t>
            </a:r>
          </a:p>
          <a:p>
            <a:pPr algn="r" rtl="1"/>
            <a:r>
              <a:rPr lang="ar-LB" sz="2400" dirty="0"/>
              <a:t>نخيل لشخص لديه عراقيل في حياته المهنية, والشخصية, والأكاديمية يصير يبشر الناس بالمسيح سيقول مجتمعه في عقله الباطني فلديع المسيح او  يحل له كل العراقيل.</a:t>
            </a:r>
          </a:p>
          <a:p>
            <a:pPr algn="r" rtl="1"/>
            <a:endParaRPr lang="en-US" sz="2400" dirty="0"/>
          </a:p>
        </p:txBody>
      </p:sp>
    </p:spTree>
    <p:extLst>
      <p:ext uri="{BB962C8B-B14F-4D97-AF65-F5344CB8AC3E}">
        <p14:creationId xmlns:p14="http://schemas.microsoft.com/office/powerpoint/2010/main" val="3943773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9135D-025B-E023-1619-A1108005B254}"/>
              </a:ext>
            </a:extLst>
          </p:cNvPr>
          <p:cNvSpPr>
            <a:spLocks noGrp="1"/>
          </p:cNvSpPr>
          <p:nvPr>
            <p:ph type="title"/>
          </p:nvPr>
        </p:nvSpPr>
        <p:spPr>
          <a:xfrm>
            <a:off x="1450258" y="0"/>
            <a:ext cx="10515600" cy="662782"/>
          </a:xfrm>
        </p:spPr>
        <p:txBody>
          <a:bodyPr>
            <a:normAutofit fontScale="90000"/>
          </a:bodyPr>
          <a:lstStyle/>
          <a:p>
            <a:pPr algn="r" rtl="1"/>
            <a:r>
              <a:rPr lang="ar-LB" dirty="0"/>
              <a:t>عندنا شبهات وعندكم شبهات:</a:t>
            </a:r>
            <a:endParaRPr lang="en-US" dirty="0"/>
          </a:p>
        </p:txBody>
      </p:sp>
      <p:sp>
        <p:nvSpPr>
          <p:cNvPr id="3" name="Content Placeholder 2">
            <a:extLst>
              <a:ext uri="{FF2B5EF4-FFF2-40B4-BE49-F238E27FC236}">
                <a16:creationId xmlns:a16="http://schemas.microsoft.com/office/drawing/2014/main" id="{BD94CB00-22E7-22A7-F78F-351B84EE26B7}"/>
              </a:ext>
            </a:extLst>
          </p:cNvPr>
          <p:cNvSpPr>
            <a:spLocks noGrp="1"/>
          </p:cNvSpPr>
          <p:nvPr>
            <p:ph idx="1"/>
          </p:nvPr>
        </p:nvSpPr>
        <p:spPr>
          <a:xfrm>
            <a:off x="226142" y="589934"/>
            <a:ext cx="11710219" cy="6268065"/>
          </a:xfrm>
        </p:spPr>
        <p:txBody>
          <a:bodyPr>
            <a:normAutofit lnSpcReduction="10000"/>
          </a:bodyPr>
          <a:lstStyle/>
          <a:p>
            <a:pPr algn="r" rtl="1"/>
            <a:r>
              <a:rPr lang="ar-LB" sz="2400" dirty="0"/>
              <a:t>هنا فكرة قوية يطرحها إذا أردت المسلم أن أعمل عقلي في الإيمان, يضعف الإيمان فأنا أقفل على عقلي وأؤمن لأن كل دين في العالم لديه قصص أسطورية, وأمور يعجز العقل عن تفسيرها.</a:t>
            </a:r>
          </a:p>
          <a:p>
            <a:pPr algn="r" rtl="1"/>
            <a:r>
              <a:rPr lang="ar-LB" sz="2400" dirty="0"/>
              <a:t>نحن عنا الحور وكواعب أترابا ٨ لَنَا أُخْتٌ صَغِيرَةٌ لَيْسَ لَهَا ثَدْيَانِ. فَمَاذَا نَصْنَعُ لِأُخْتِنَا فِي يَوْمٍ تُخْطَبُ؟ نشيد الأنشاد (8-8), </a:t>
            </a:r>
          </a:p>
          <a:p>
            <a:pPr algn="r" rtl="1"/>
            <a:r>
              <a:rPr lang="ar-LB" sz="2400" dirty="0"/>
              <a:t> نحن عندنا </a:t>
            </a:r>
            <a:r>
              <a:rPr lang="ar-LB" sz="2000" dirty="0">
                <a:solidFill>
                  <a:srgbClr val="FF0000"/>
                </a:solidFill>
              </a:rPr>
              <a:t>وَامْرَأَةً مُّؤْمِنَةً إِن وَهَبَتْ نَفْسَهَا لِلنَّبِيِّ إِنْ أَرَادَ النَّبِيُّ أَن يَسْتَنكِحَهَا خَالِصَةً لَّكَ مِن دُونِ الْمُؤْمِنِينَ سورة الأحزاب الآية 50 </a:t>
            </a:r>
            <a:r>
              <a:rPr lang="ar-LB" sz="2400" dirty="0"/>
              <a:t>وأنتم سليمان أبو ملكات يمين, وعندكم لوط زنى ببناته, وداود الزاني, ونشيد الأنشاد لوحده يكفي.</a:t>
            </a:r>
          </a:p>
          <a:p>
            <a:pPr algn="r" rtl="1"/>
            <a:r>
              <a:rPr lang="ar-LB" sz="2400" dirty="0"/>
              <a:t>نحن عندنا </a:t>
            </a:r>
            <a:r>
              <a:rPr lang="ar-LB" sz="2000" dirty="0">
                <a:solidFill>
                  <a:srgbClr val="FF0000"/>
                </a:solidFill>
              </a:rPr>
              <a:t>وإِلَى الْأَرْضِ كَيْفَ سُطِحَتْ </a:t>
            </a:r>
            <a:r>
              <a:rPr lang="ar-LB" sz="2400" dirty="0"/>
              <a:t>سورة الغاشية الآية 20. وانتم عندكم وَبَعْدَ هَذَا رَأَيْتُ أَرْبَعَةَ مَلَائِكَةٍ وَاقِفِينَ عَلَى أَرْبَعِ زَوَايَا ٱلْأَرْضِ رؤيا الإصحاح 7 العدد 1, كم عالم قتل  لأنه قال ان الأرض كروية من قبل الكنيسة ولم يتجرأ أحد من قول هذا إلا بعد إنتهاء حكم الكنيسة.</a:t>
            </a:r>
          </a:p>
          <a:p>
            <a:pPr algn="r" rtl="1"/>
            <a:r>
              <a:rPr lang="ar-LB" sz="2400" dirty="0"/>
              <a:t>نحن عندنا أن الله استوى على العرش وان الله كان عرشه على الماء, متكبر ومضل</a:t>
            </a:r>
            <a:r>
              <a:rPr lang="ar-LB" sz="2000" dirty="0"/>
              <a:t>, </a:t>
            </a:r>
            <a:r>
              <a:rPr lang="ar-LB" sz="2000" b="0" i="0" dirty="0">
                <a:solidFill>
                  <a:srgbClr val="CC2E65"/>
                </a:solidFill>
                <a:effectLst/>
                <a:latin typeface="NotoKufiArabic"/>
              </a:rPr>
              <a:t>يُضِلُّ مَنْ يَشَاءُ وَيَهْدِي مَنْ يَشَاءُ سورة النحل الآية 9, </a:t>
            </a:r>
            <a:r>
              <a:rPr lang="ar-LB" sz="2400" dirty="0">
                <a:latin typeface="NotoKufiArabic"/>
              </a:rPr>
              <a:t>وأنتم الله قسى قلب فرعون, واستراح, وندم.</a:t>
            </a:r>
          </a:p>
          <a:p>
            <a:pPr algn="r" rtl="1"/>
            <a:r>
              <a:rPr lang="ar-LB" sz="2400" dirty="0"/>
              <a:t>نحن عندنا الغزوات والفتوحات وانتم عندكم حروب العهد القديم وسفر يشوع, وسفر صموئيل وغيرها بل نحن نفتخر بحروبنا على عكسكم, مش نقول اله محبة وكيوت.</a:t>
            </a:r>
          </a:p>
          <a:p>
            <a:pPr algn="r" rtl="1"/>
            <a:r>
              <a:rPr lang="ar-LB" sz="2400" dirty="0"/>
              <a:t> نحن نقول ان الإنجيل مفقودة وانتم تقولون مذكور عندكم سفر ياشر وإلى الآن غير معروف.</a:t>
            </a:r>
          </a:p>
          <a:p>
            <a:pPr algn="r" rtl="1"/>
            <a:r>
              <a:rPr lang="ar-LB" sz="2400" dirty="0"/>
              <a:t>نحن عندنا حروب الصحابة وانتم صراعات الأورثذكس والكاثوليك والإنجيليين والحروب العالمية.</a:t>
            </a:r>
          </a:p>
          <a:p>
            <a:pPr algn="r" rtl="1"/>
            <a:r>
              <a:rPr lang="ar-LB" sz="2400" dirty="0"/>
              <a:t>نحن طمسا هويات الشرق الأوسط وشمال أفريقيا وانتم طمستم هويات أكثر بكثير الأمريكيتين, جنوب افريقيا واستراليا.</a:t>
            </a:r>
          </a:p>
          <a:p>
            <a:pPr algn="r" rtl="1"/>
            <a:r>
              <a:rPr lang="ar-LB" sz="2400" dirty="0"/>
              <a:t>أنت تقدم حجج وتدافع عن دينك وهناك أيضا شيوخ يدافعون عن ديننا.</a:t>
            </a:r>
            <a:endParaRPr lang="en-US" sz="2400" dirty="0"/>
          </a:p>
        </p:txBody>
      </p:sp>
    </p:spTree>
    <p:extLst>
      <p:ext uri="{BB962C8B-B14F-4D97-AF65-F5344CB8AC3E}">
        <p14:creationId xmlns:p14="http://schemas.microsoft.com/office/powerpoint/2010/main" val="3464727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78E70-313A-EE16-3C0D-F6C312B79075}"/>
              </a:ext>
            </a:extLst>
          </p:cNvPr>
          <p:cNvSpPr>
            <a:spLocks noGrp="1"/>
          </p:cNvSpPr>
          <p:nvPr>
            <p:ph type="title"/>
          </p:nvPr>
        </p:nvSpPr>
        <p:spPr>
          <a:xfrm>
            <a:off x="838200" y="1"/>
            <a:ext cx="10515600" cy="835741"/>
          </a:xfrm>
        </p:spPr>
        <p:txBody>
          <a:bodyPr/>
          <a:lstStyle/>
          <a:p>
            <a:pPr algn="r" rtl="1"/>
            <a:r>
              <a:rPr lang="ar-LB" dirty="0"/>
              <a:t>الدين الإسلامي أشمل :</a:t>
            </a:r>
            <a:endParaRPr lang="en-US" dirty="0"/>
          </a:p>
        </p:txBody>
      </p:sp>
      <p:sp>
        <p:nvSpPr>
          <p:cNvPr id="3" name="Content Placeholder 2">
            <a:extLst>
              <a:ext uri="{FF2B5EF4-FFF2-40B4-BE49-F238E27FC236}">
                <a16:creationId xmlns:a16="http://schemas.microsoft.com/office/drawing/2014/main" id="{A08540B7-1FDE-CA6A-C366-ECDD3E333347}"/>
              </a:ext>
            </a:extLst>
          </p:cNvPr>
          <p:cNvSpPr>
            <a:spLocks noGrp="1"/>
          </p:cNvSpPr>
          <p:nvPr>
            <p:ph idx="1"/>
          </p:nvPr>
        </p:nvSpPr>
        <p:spPr>
          <a:xfrm>
            <a:off x="245807" y="609599"/>
            <a:ext cx="11661058" cy="6248400"/>
          </a:xfrm>
        </p:spPr>
        <p:txBody>
          <a:bodyPr>
            <a:normAutofit fontScale="92500"/>
          </a:bodyPr>
          <a:lstStyle/>
          <a:p>
            <a:pPr algn="r" rtl="1"/>
            <a:r>
              <a:rPr lang="ar-LB" sz="2400" dirty="0"/>
              <a:t>سؤل حاخام يهودي وكاهن مسيحي وشيخ مسلم يوم القيامة عن دينه قال اليهودي انا اتبع موسى الذي شقيت به البحر وانقذت شعبه وحول العصلا لثعبان, أتى للكاهن المسيحي قال له عيسى فعل شيء لم يفعل في حياته فعيسى احيا الموتى واحيا نفسه, جحاء للشيخ المسلم قال له صحيح ان محمد أنزل عليه كتاب لم ينزل على أحد من قبل من البشر عجزت الجنة والإنس عن الإتيان بمثله محمد لم يتعلم القراءة والكتابة واستطاع الإتيان بهذا الكتاب وهذه نقطة تحسب لنا نحن المسلمين دائما فائزين لاننا نؤمين بموسى وعيسى فإذا كان موسى أفضل البشر فزنا, وإذا كان عيسى الأهم فزنا, وإذا كان دين محمد حق فزنا أيضا, فيدخل الله عز وجل الشيخ المسلم للجنة.</a:t>
            </a:r>
          </a:p>
          <a:p>
            <a:pPr algn="r" rtl="1"/>
            <a:r>
              <a:rPr lang="ar-LB" sz="2400" dirty="0"/>
              <a:t>نحن المسلمين نرى نور عيسى ونور موسى باستمرار عليكم ايها النصارى واليهود ان تحترموا نبينا كما نحرم نبيكم.</a:t>
            </a:r>
          </a:p>
          <a:p>
            <a:pPr algn="r" rtl="1"/>
            <a:r>
              <a:rPr lang="ar-LB" sz="2400" dirty="0"/>
              <a:t>المسيحي واليهودي لا يحق له أن يعتبر الحكم الإسلامي ليس عادل فالحكم الإسلامي حرم الإساءة للانبياء والرسل بما فيه رسلكم بينما انتم دينكم لم يحرم الإساءة لنبينا, او انتقاد نبينا على الأقل.</a:t>
            </a:r>
          </a:p>
          <a:p>
            <a:pPr algn="r" rtl="1"/>
            <a:r>
              <a:rPr lang="ar-LB" sz="2400" dirty="0"/>
              <a:t>النصراني يغضب من المسلم لمجرد قول ان المسيح لم يصلب وأن الله نجاه وكرمه وطهره من الذين كفروا ويعتبرنا نسيء للمسيح او المسيحية بينما هم لا يعترفون بوجود نبي اسمه محمد فمن أصعب او من يسيء للآخر أكثر.</a:t>
            </a:r>
          </a:p>
          <a:p>
            <a:pPr algn="r" rtl="1"/>
            <a:r>
              <a:rPr lang="ar-LB" sz="2400" dirty="0"/>
              <a:t>لدينا سورة اسمها مريم ونعتبرها سيدة نساء العالمين وانها طاهرة ومعصومة, اليهود يعتبرونها زانية.</a:t>
            </a:r>
          </a:p>
          <a:p>
            <a:pPr algn="r" rtl="1"/>
            <a:r>
              <a:rPr lang="ar-LB" sz="2400" dirty="0"/>
              <a:t>إذا كان الحكم إسلامي يضمن النصراني واليهودي عدم الإساءة للأنبياءه وكتبهم فهو افضل لنا جميعا, وليس فقط للمسلمين.</a:t>
            </a:r>
          </a:p>
          <a:p>
            <a:pPr algn="r" rtl="1"/>
            <a:r>
              <a:rPr lang="ar-LB" sz="2400" dirty="0"/>
              <a:t>أيضا فكرة الإنحياز التأكيدي عندما يأتي فكرة في الكتاب يحبها ينسبها لدينه وكل الكتب هي إسلامية, او ان هذه الجزئية لم تحرف وعندما تاتي فكرة لا يحبها يسنبها للمسيحيين.</a:t>
            </a:r>
          </a:p>
          <a:p>
            <a:pPr algn="r" rtl="1"/>
            <a:r>
              <a:rPr lang="ar-LB" sz="2400" dirty="0"/>
              <a:t>طيب إذا مشينا بهذه الفرضيات هل يقبل المسلم ان آتي بديانة أدعي انها إكمالا لإسلامه وان جدي الرابع هو خاتم الأنبياء واعترف بنبيك عليك أن تعترف بنبيي ودين أشمل من دين وهكذا تضمن الخلاص ما موقف المسلم هنا أكثر من الإسلام.</a:t>
            </a:r>
            <a:endParaRPr lang="en-US" sz="2400" dirty="0"/>
          </a:p>
        </p:txBody>
      </p:sp>
    </p:spTree>
    <p:extLst>
      <p:ext uri="{BB962C8B-B14F-4D97-AF65-F5344CB8AC3E}">
        <p14:creationId xmlns:p14="http://schemas.microsoft.com/office/powerpoint/2010/main" val="1208364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6AAE7-A59A-85B4-2128-30D921151326}"/>
              </a:ext>
            </a:extLst>
          </p:cNvPr>
          <p:cNvSpPr>
            <a:spLocks noGrp="1"/>
          </p:cNvSpPr>
          <p:nvPr>
            <p:ph type="title"/>
          </p:nvPr>
        </p:nvSpPr>
        <p:spPr>
          <a:xfrm>
            <a:off x="838200" y="1"/>
            <a:ext cx="10515600" cy="796412"/>
          </a:xfrm>
        </p:spPr>
        <p:txBody>
          <a:bodyPr/>
          <a:lstStyle/>
          <a:p>
            <a:pPr algn="r" rtl="1"/>
            <a:r>
              <a:rPr lang="ar-LB" dirty="0"/>
              <a:t>لماذا لا يذهب النصراني للمسجد:</a:t>
            </a:r>
            <a:endParaRPr lang="en-US" dirty="0"/>
          </a:p>
        </p:txBody>
      </p:sp>
      <p:sp>
        <p:nvSpPr>
          <p:cNvPr id="3" name="Content Placeholder 2">
            <a:extLst>
              <a:ext uri="{FF2B5EF4-FFF2-40B4-BE49-F238E27FC236}">
                <a16:creationId xmlns:a16="http://schemas.microsoft.com/office/drawing/2014/main" id="{BF8DEA6F-E7F8-5132-111C-DC30890C135E}"/>
              </a:ext>
            </a:extLst>
          </p:cNvPr>
          <p:cNvSpPr>
            <a:spLocks noGrp="1"/>
          </p:cNvSpPr>
          <p:nvPr>
            <p:ph idx="1"/>
          </p:nvPr>
        </p:nvSpPr>
        <p:spPr>
          <a:xfrm>
            <a:off x="117987" y="550606"/>
            <a:ext cx="11769213" cy="6420465"/>
          </a:xfrm>
        </p:spPr>
        <p:txBody>
          <a:bodyPr>
            <a:normAutofit/>
          </a:bodyPr>
          <a:lstStyle/>
          <a:p>
            <a:pPr algn="r" rtl="1"/>
            <a:r>
              <a:rPr lang="ar-LB" sz="2200" dirty="0"/>
              <a:t>طيب يا لماذا عليا أنا أن أشكك في ديني وعقيدتي واضعها تحت المجهر لما لا يجرب النصراني الذهاب للمسجد؟ </a:t>
            </a:r>
          </a:p>
          <a:p>
            <a:pPr algn="r" rtl="1"/>
            <a:r>
              <a:rPr lang="ar-LB" sz="2200" dirty="0"/>
              <a:t>بدلا من تغيير عقيدتي فلتغير انت عقيدتك, هل يقبل النصارى ان يجدوا ابناءهم في المساجد فلماذا نذهب نحن للكنائس او لماذا يذهب أولادنا للكنائس؟</a:t>
            </a:r>
          </a:p>
          <a:p>
            <a:pPr algn="r" rtl="1"/>
            <a:r>
              <a:rPr lang="ar-LB" sz="2200" dirty="0"/>
              <a:t>لماذا يزين المطار عالكريسماس وعيد الفصح ولا نرى زينة في رمضان, لماذا نحنتفل بأعياد الغرب في الإمارات والسعودية وتركيا ونضع شجرة ميلاد بينما لا نجد عيد الفطر في اوروبا وأمريكا؟</a:t>
            </a:r>
          </a:p>
          <a:p>
            <a:pPr algn="r" rtl="1"/>
            <a:r>
              <a:rPr lang="ar-LB" sz="2200" dirty="0"/>
              <a:t>لماذا نحن دائما يجب أن نكون أصحاب المبادرة ونذهب إليهم ونتعرف على دينهم هل ديننا ناقص؟</a:t>
            </a:r>
          </a:p>
          <a:p>
            <a:pPr algn="r" rtl="1"/>
            <a:r>
              <a:rPr lang="ar-LB" sz="2200" dirty="0"/>
              <a:t>ألا يوجد بينما المسيحيين أناس سيئين واناس تشتم وأناس تغش الخير والسيء موجود في كل مكان لماذا التركيز فقط على السيئين المسلمين او الذين يغشون ونسبهم للدين ألا يوجد كهنة يتحرشون؟</a:t>
            </a:r>
          </a:p>
          <a:p>
            <a:pPr algn="r" rtl="1"/>
            <a:r>
              <a:rPr lang="ar-LB" sz="2200" dirty="0"/>
              <a:t>لماذا حرمت علينا فرنسا لبس الحجاب(النقاب) ونحن نترك النساء لا تلبس الحجاب في بلداننا؟</a:t>
            </a:r>
          </a:p>
          <a:p>
            <a:pPr algn="r" rtl="1"/>
            <a:r>
              <a:rPr lang="ar-LB" sz="2200" dirty="0"/>
              <a:t>لماذا لا تذهبون أنتم يا نصارى إلى مساجدنا وتتعرفون على ديننا الذي قدر مسحيكم لتكسبوا مسيحكم ومحمدنا؟</a:t>
            </a:r>
          </a:p>
          <a:p>
            <a:pPr algn="r" rtl="1"/>
            <a:r>
              <a:rPr lang="ar-LB" sz="2200" dirty="0"/>
              <a:t>كنا نعيش حياة جميلة ونزور أقرابنا وأصحابنا ورفاقنا ونتصدق على الفقراء ونخصص زكاة للفقراء عداك عن دفع النذور, ومعاملة جيدة مع عائلتي, ومحبوب من قبل عائلتي وانا أحب سيدنا عيسى كثيرا وننتظره في آخر الزمان ما الذي ستضيفه المسيحية على حياتي؟</a:t>
            </a:r>
          </a:p>
          <a:p>
            <a:pPr algn="r" rtl="1"/>
            <a:r>
              <a:rPr lang="ar-LB" sz="2200" dirty="0"/>
              <a:t>يقلك بطريقة غير مباشرة وكأنه يقلك ان مثل عندك رجل دين مسيحي لديه حجج واشياء جميلة, لدينا شيوخ ايضا يقولون لك عن الإسلام اشياء جميلة, كانه يقلك بذاهبه للكنيسة يتعرض ل(غسيل دماغ).</a:t>
            </a:r>
          </a:p>
          <a:p>
            <a:pPr algn="r" rtl="1"/>
            <a:r>
              <a:rPr lang="ar-LB" sz="2200" dirty="0"/>
              <a:t>أنا أشعر براحة نفسية عند دخول المسجد وأنا أشاهد وأحب شيخنا كثيرا, أشعر كاني بروض من رياض الجنة وأنا اسمع أناشيد العفاسي, والآهات الإسلامية هل اترك النعيم كله (هذا حوار في العقل الباطني).</a:t>
            </a:r>
            <a:endParaRPr lang="en-US" sz="2200" dirty="0"/>
          </a:p>
          <a:p>
            <a:pPr algn="r" rtl="1"/>
            <a:endParaRPr lang="en-US" sz="2400" dirty="0"/>
          </a:p>
        </p:txBody>
      </p:sp>
    </p:spTree>
    <p:extLst>
      <p:ext uri="{BB962C8B-B14F-4D97-AF65-F5344CB8AC3E}">
        <p14:creationId xmlns:p14="http://schemas.microsoft.com/office/powerpoint/2010/main" val="1741292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33F85-9313-179B-2600-5AD645309CB3}"/>
              </a:ext>
            </a:extLst>
          </p:cNvPr>
          <p:cNvSpPr>
            <a:spLocks noGrp="1"/>
          </p:cNvSpPr>
          <p:nvPr>
            <p:ph type="title"/>
          </p:nvPr>
        </p:nvSpPr>
        <p:spPr>
          <a:xfrm>
            <a:off x="838200" y="2"/>
            <a:ext cx="10515600" cy="875070"/>
          </a:xfrm>
        </p:spPr>
        <p:txBody>
          <a:bodyPr/>
          <a:lstStyle/>
          <a:p>
            <a:pPr algn="r" rtl="1"/>
            <a:r>
              <a:rPr lang="ar-LB" dirty="0"/>
              <a:t>مفاهيم مغلوطة عن المسيحية:</a:t>
            </a:r>
            <a:endParaRPr lang="en-US" dirty="0"/>
          </a:p>
        </p:txBody>
      </p:sp>
      <p:sp>
        <p:nvSpPr>
          <p:cNvPr id="3" name="Content Placeholder 2">
            <a:extLst>
              <a:ext uri="{FF2B5EF4-FFF2-40B4-BE49-F238E27FC236}">
                <a16:creationId xmlns:a16="http://schemas.microsoft.com/office/drawing/2014/main" id="{41908693-A050-6305-6769-CC1087E5CDDF}"/>
              </a:ext>
            </a:extLst>
          </p:cNvPr>
          <p:cNvSpPr>
            <a:spLocks noGrp="1"/>
          </p:cNvSpPr>
          <p:nvPr>
            <p:ph idx="1"/>
          </p:nvPr>
        </p:nvSpPr>
        <p:spPr>
          <a:xfrm>
            <a:off x="0" y="806245"/>
            <a:ext cx="12191999" cy="5948515"/>
          </a:xfrm>
        </p:spPr>
        <p:txBody>
          <a:bodyPr>
            <a:normAutofit lnSpcReduction="10000"/>
          </a:bodyPr>
          <a:lstStyle/>
          <a:p>
            <a:pPr algn="r" rtl="1"/>
            <a:r>
              <a:rPr lang="ar-LB" sz="2400" dirty="0"/>
              <a:t>الإسلام خلق تفكير للمسلم جعلت مسلمات في عقله منها معلومات عن المسيحية وتخيل خاص للذات الإلاهية, وطريق تواصل الإله مع البشر وحتى العقائد وفكرة التحريف.</a:t>
            </a:r>
          </a:p>
          <a:p>
            <a:pPr algn="r" rtl="1"/>
            <a:r>
              <a:rPr lang="ar-LB" sz="2400" dirty="0"/>
              <a:t> بسبب تناقض التوراة والعهد القديم والعهد الجديد من جهة والقرآن والسنة النبوية من جهة أخرى خلقت فكرة التحريف, لتصل إلى ظن كثير من المسلمين ان المسيحية لا تعترف بالعهد القديم تعتبر التوراة أي سفار موسى وان الزبور أسفار داوود في معتقد المسيحية محرفين او لا يعترف بهم فمثل ما تتهمون الإسلام ان سمع من كهنة مسيحيين واخترع دينه يمكن للمسلم اتهام المسيحيين ان المسيحيين سمعوا من كهنة يهود والفوا دينهم يعني انتم إذا اردتم الرجوع للأقدم ارجعوا للأقدم اتكروا الإنجيل وروحوا التوراة وإلا فالإسلام هو الحق وانتم تكيلون بمكيالين, دون ان يعترف المسكين ان التوراة جزء من الكتاب المقدس.</a:t>
            </a:r>
          </a:p>
          <a:p>
            <a:pPr algn="r" rtl="1"/>
            <a:r>
              <a:rPr lang="ar-LB" sz="2400" dirty="0"/>
              <a:t>ساعد في كوي هذا الوعي الإسلامي بسبب ان كثير من الدول او البيئات الأحادية الإسلامية تسمح بصوت مسيحي واحد فقط وهو الصوت الذي يناقض بشكل واضح العهد القديم ويجبل بالإسلام وان الإسلام والمسيحية اقرب دينيين لبعضهما البعض وان عقائد العهد القديم مناقدة لتعاليم المسيح, (المسيحية اليسارية).</a:t>
            </a:r>
          </a:p>
          <a:p>
            <a:pPr algn="r" rtl="1"/>
            <a:r>
              <a:rPr lang="ar-LB" sz="2400" dirty="0"/>
              <a:t>المسلم معتاد يسمع تلاوة القراءة الحزينة إضافة للسجع والخشوع الشديد في قراءة القرآن إضافة إلى أحكام التجويد, وغير معتاد ان القرآن يتناول التفاصيل الدقيقة لقصة ما, وهذا كلام الخالق المنزل الموحى  </a:t>
            </a:r>
            <a:r>
              <a:rPr lang="en-US" sz="2400" dirty="0">
                <a:hlinkClick r:id="rId2"/>
              </a:rPr>
              <a:t>https://www.youtube.com/watch?v=qheYIJGV_-E</a:t>
            </a:r>
            <a:r>
              <a:rPr lang="ar-LB" sz="2400" dirty="0"/>
              <a:t> وهنا نموذج واضح, فمثلا يأتي لقراءة إنجيل متى لا يجد السجع نفسه ولا يجد الخشوع نفسه وانه لا يقرأ بطريقة تلاوية, وفيه تفاصيل مملة إذا الإنجيل حرف, هل الخالق سيذكر معلومات بشكل ويدخل نفسه وداوود عزف الموسيقى, واين الخشوع في ان داوود ولد سليمان ؟ علما ان إله الإسلام ذكر تفاصيل مملة في بعض الآيات رغم غموض كثير من القصص.</a:t>
            </a:r>
          </a:p>
          <a:p>
            <a:pPr algn="r" rtl="1"/>
            <a:r>
              <a:rPr lang="ar-LB" sz="2400" dirty="0"/>
              <a:t>يقلك وانت تقرأ عليه اسفار من الكتاب ساخرا سأبكي من كلام ربك لانه من خلفية تحب قراءة القرآن مع البكاء.</a:t>
            </a:r>
            <a:endParaRPr lang="en-US" sz="2400" dirty="0"/>
          </a:p>
        </p:txBody>
      </p:sp>
    </p:spTree>
    <p:extLst>
      <p:ext uri="{BB962C8B-B14F-4D97-AF65-F5344CB8AC3E}">
        <p14:creationId xmlns:p14="http://schemas.microsoft.com/office/powerpoint/2010/main" val="3679001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2303D-A5A5-7734-605F-FD925A2DD3ED}"/>
              </a:ext>
            </a:extLst>
          </p:cNvPr>
          <p:cNvSpPr>
            <a:spLocks noGrp="1"/>
          </p:cNvSpPr>
          <p:nvPr>
            <p:ph type="title"/>
          </p:nvPr>
        </p:nvSpPr>
        <p:spPr>
          <a:xfrm>
            <a:off x="838199" y="1"/>
            <a:ext cx="10842523" cy="776748"/>
          </a:xfrm>
        </p:spPr>
        <p:txBody>
          <a:bodyPr/>
          <a:lstStyle/>
          <a:p>
            <a:pPr algn="r"/>
            <a:r>
              <a:rPr lang="ar-LB" dirty="0"/>
              <a:t>مفاهيم مغلوطة عن المسيحية:</a:t>
            </a:r>
            <a:endParaRPr lang="en-US" dirty="0"/>
          </a:p>
        </p:txBody>
      </p:sp>
      <p:sp>
        <p:nvSpPr>
          <p:cNvPr id="3" name="Content Placeholder 2">
            <a:extLst>
              <a:ext uri="{FF2B5EF4-FFF2-40B4-BE49-F238E27FC236}">
                <a16:creationId xmlns:a16="http://schemas.microsoft.com/office/drawing/2014/main" id="{3E383F90-D8EC-8039-65F8-995E4F941D0D}"/>
              </a:ext>
            </a:extLst>
          </p:cNvPr>
          <p:cNvSpPr>
            <a:spLocks noGrp="1"/>
          </p:cNvSpPr>
          <p:nvPr>
            <p:ph idx="1"/>
          </p:nvPr>
        </p:nvSpPr>
        <p:spPr>
          <a:xfrm>
            <a:off x="1" y="678426"/>
            <a:ext cx="12192000" cy="6253316"/>
          </a:xfrm>
        </p:spPr>
        <p:txBody>
          <a:bodyPr>
            <a:normAutofit/>
          </a:bodyPr>
          <a:lstStyle/>
          <a:p>
            <a:pPr algn="r" rtl="1"/>
            <a:r>
              <a:rPr lang="ar-LB" sz="2000" b="1" i="0" dirty="0">
                <a:solidFill>
                  <a:srgbClr val="468847"/>
                </a:solidFill>
                <a:effectLst/>
                <a:latin typeface="hafs"/>
              </a:rPr>
              <a:t>حُرِّمَتْ عَلَيْكُمْ أُمَّهَاتُكُمْ وَبَنَاتُكُمْ وَأَخَوَاتُكُمْ وَعَمَّاتُكُمْ وَخَالَاتُكُمْ وَبَنَاتُ الْأَخِ وَبَنَاتُ الْأُخْتِ وَأُمَّهَاتُكُمُ اللَّاتِي أَرْضَعْنَكُمْ وَأَخَوَاتُكُم مِّنَ الرَّضَاعَةِ وَأُمَّهَاتُ نِسَائِكُمْ وَرَبَائِبُكُمُ اللَّاتِي فِي حُجُورِكُم مِّن نِّسَائِكُمُ اللَّاتِي دَخَلْتُم بِهِنَّ </a:t>
            </a:r>
            <a:r>
              <a:rPr lang="ar-LB" sz="2400" i="0" dirty="0">
                <a:effectLst/>
                <a:latin typeface="hafs"/>
              </a:rPr>
              <a:t>سورة النساء الآية 23 هذه آية تفصيلية في القرآن. </a:t>
            </a:r>
          </a:p>
          <a:p>
            <a:pPr algn="r" rtl="1"/>
            <a:r>
              <a:rPr lang="ar-LB" sz="2400" dirty="0">
                <a:latin typeface="hafs"/>
              </a:rPr>
              <a:t>المسلم يعتقد بل يسلم ان نبيه مذكور في الكتب التي سبقته وان اليهود كانوا منتظرين محمد وعندما أتى نكروه وهذه تفصيل طويل سيتم تناوله لاحقا.</a:t>
            </a:r>
          </a:p>
          <a:p>
            <a:pPr algn="r" rtl="1"/>
            <a:r>
              <a:rPr lang="ar-LB" sz="2400" dirty="0">
                <a:latin typeface="hafs"/>
              </a:rPr>
              <a:t>بما أن المسلم يعتقد ان هناك كتاب اسمه الإنجيل نزل على عيسى وعند المسيحيين حاليا يوجد اربع أناجيل متى, ولوقا, ومرقص, ويوحنا إذا هذا دليل آخر على تحريف الإنجيل بالنسبة له فاين إنجيل عيسى ويعتقد أن الخلاف الكنسي أن كل كنيسة لها إنجيل الماروني مثلا متى, وإنجيل اورثذكس لوقا مثلا إلخ. النصارى في تخبط ولا يعرفون أيهم إنجيل عيسى, عداك عن الأناجيل المنحولة التي يعتبرونها دليل آخر على التحريف.</a:t>
            </a:r>
          </a:p>
          <a:p>
            <a:pPr algn="r" rtl="1"/>
            <a:r>
              <a:rPr lang="ar-LB" sz="2400" dirty="0">
                <a:latin typeface="hafs"/>
              </a:rPr>
              <a:t>عداك عن الإختلافات بين الكنائس في الأسفار القانونية بين الپروتستنت 66 سفرا والكنائس الكاثوليكية والأروثذكسية 73 سفرا والكنيسة الأثيوبية بوجود 81 سفرا التي يبالغ المسلمون جدا في وصف الإختلاف بينهم, ويضيفها على فكرة ان إلى حد الآن إنجيل عيسى غير معروف أي منهم.</a:t>
            </a:r>
          </a:p>
          <a:p>
            <a:pPr algn="r" rtl="1"/>
            <a:r>
              <a:rPr lang="ar-LB" sz="2400" dirty="0">
                <a:latin typeface="hafs"/>
              </a:rPr>
              <a:t>ودعم فكرة التحريف وجود إنجيل برنابا الذي يتكلم عن وجود محمده وتنبأه به يعتبر الكنيسة تعرف أي إنجيل صحيح والآيات المذكور فيها محمد تخفيها خوفا من انتشار الإسلام.</a:t>
            </a:r>
          </a:p>
          <a:p>
            <a:pPr algn="r" rtl="1"/>
            <a:r>
              <a:rPr lang="ar-LB" sz="2400" dirty="0">
                <a:latin typeface="hafs"/>
              </a:rPr>
              <a:t>عداك عن معتدقات هل الله يتعب او يعجز ليكون عنده ولد يعينه في كبره, وان الله خلق آدم من دون أب وام ولم تؤلهون لماذا ألهتم عيسى لمجرد انه من دون أب فقط (عقيدة اتخاذ الله صاحبة وولد), فكرة اعتقاد ان اليهود شكوا في ان مريم زنت, ان عيسى نطق في المهد ليرفع عنها التهمة, تجاهل تام لوجود شخصيات كثيرة في العهد الجديد منها يوسف النجار.</a:t>
            </a:r>
          </a:p>
          <a:p>
            <a:pPr algn="r" rtl="1"/>
            <a:endParaRPr lang="ar-LB" sz="2400" dirty="0">
              <a:latin typeface="hafs"/>
            </a:endParaRPr>
          </a:p>
          <a:p>
            <a:pPr algn="r" rtl="1"/>
            <a:endParaRPr lang="en-US" sz="2400" dirty="0"/>
          </a:p>
        </p:txBody>
      </p:sp>
    </p:spTree>
    <p:extLst>
      <p:ext uri="{BB962C8B-B14F-4D97-AF65-F5344CB8AC3E}">
        <p14:creationId xmlns:p14="http://schemas.microsoft.com/office/powerpoint/2010/main" val="701016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9417F-B498-46DD-84D0-5944BCF75CEE}"/>
              </a:ext>
            </a:extLst>
          </p:cNvPr>
          <p:cNvSpPr>
            <a:spLocks noGrp="1"/>
          </p:cNvSpPr>
          <p:nvPr>
            <p:ph type="title"/>
          </p:nvPr>
        </p:nvSpPr>
        <p:spPr>
          <a:xfrm>
            <a:off x="838200" y="1"/>
            <a:ext cx="10515600" cy="796412"/>
          </a:xfrm>
        </p:spPr>
        <p:txBody>
          <a:bodyPr/>
          <a:lstStyle/>
          <a:p>
            <a:pPr algn="r" rtl="1"/>
            <a:r>
              <a:rPr lang="ar-LB" dirty="0"/>
              <a:t>مفاهيم مغلوطة عن المسيحية:</a:t>
            </a:r>
            <a:endParaRPr lang="en-US" dirty="0"/>
          </a:p>
        </p:txBody>
      </p:sp>
      <p:sp>
        <p:nvSpPr>
          <p:cNvPr id="3" name="Content Placeholder 2">
            <a:extLst>
              <a:ext uri="{FF2B5EF4-FFF2-40B4-BE49-F238E27FC236}">
                <a16:creationId xmlns:a16="http://schemas.microsoft.com/office/drawing/2014/main" id="{BF621255-6824-3766-8729-855773149E68}"/>
              </a:ext>
            </a:extLst>
          </p:cNvPr>
          <p:cNvSpPr>
            <a:spLocks noGrp="1"/>
          </p:cNvSpPr>
          <p:nvPr>
            <p:ph idx="1"/>
          </p:nvPr>
        </p:nvSpPr>
        <p:spPr>
          <a:xfrm>
            <a:off x="137652" y="668594"/>
            <a:ext cx="12054348" cy="5987845"/>
          </a:xfrm>
        </p:spPr>
        <p:txBody>
          <a:bodyPr>
            <a:normAutofit lnSpcReduction="10000"/>
          </a:bodyPr>
          <a:lstStyle/>
          <a:p>
            <a:pPr algn="r" rtl="1"/>
            <a:r>
              <a:rPr lang="ar-LB" sz="2400" dirty="0"/>
              <a:t>طبعا لأنهم يعتقدون أن إلوهية المسيح ظهرت بسبب ولادته من دون أب ولكن من أم فالأولى أن يكون الإله آدم لأنه ولد بلا أب وأم وهذه كثيرا ما يكررها المسلمون.</a:t>
            </a:r>
          </a:p>
          <a:p>
            <a:pPr algn="r" rtl="1"/>
            <a:r>
              <a:rPr lang="ar-LB" sz="2400" dirty="0"/>
              <a:t>تغير نسب مريم ان اباها اسمه عمران, وان لها اخ اسمه هارون التي لاحقا رقعوا لها تفسير آخر.</a:t>
            </a:r>
          </a:p>
          <a:p>
            <a:pPr algn="r" rtl="1"/>
            <a:r>
              <a:rPr lang="ar-LB" sz="2400" dirty="0"/>
              <a:t>واسئلة يعتبرها تعجزية عن المسيح, ان هل الله يدخل بيت الخلاء, ومن يدير الكون عندما كان يدير الكون عندما المسيح على الصليب, وعندما كان المسيح في بطن أمه من كان يتحكم بالكون, وإذا كان يعلم أنه سيصلب لماذا لم ينجي نفسه وكيف وثق بتلاميذه وواحد منهم وشا منهم عليه, وكيف الإله يقبل البسق عليه وصلبه.</a:t>
            </a:r>
          </a:p>
          <a:p>
            <a:pPr algn="r" rtl="1"/>
            <a:r>
              <a:rPr lang="ar-LB" sz="2400" dirty="0"/>
              <a:t> القرآن كرم المسيح وطهره من الذين كفروا وانجاه من الصلب.</a:t>
            </a:r>
          </a:p>
          <a:p>
            <a:pPr algn="r" rtl="1"/>
            <a:r>
              <a:rPr lang="ar-LB" sz="2400" dirty="0"/>
              <a:t>هنا النكتة واقتطاع الآيات </a:t>
            </a:r>
            <a:r>
              <a:rPr lang="ar-LB" sz="2400" i="0" dirty="0">
                <a:solidFill>
                  <a:srgbClr val="000000"/>
                </a:solidFill>
                <a:effectLst/>
                <a:latin typeface="Helvetica Neue"/>
              </a:rPr>
              <a:t> «مَلْعُونٌ كُلُّ مَنْ عُلِّقَ عَلَى خَشَبَةٍ», يعني المسيحيون يعبدون إله اللعنة أو إله ملعون.</a:t>
            </a:r>
          </a:p>
          <a:p>
            <a:pPr algn="r" rtl="1"/>
            <a:r>
              <a:rPr lang="ar-LB" sz="2400" dirty="0">
                <a:solidFill>
                  <a:srgbClr val="000000"/>
                </a:solidFill>
                <a:latin typeface="Helvetica Neue"/>
              </a:rPr>
              <a:t>المسيحية الموجودة حاليا تعود للقرن الرابع او للقرن الخامس, وان فكرة المسيح قد صلب اتت بعد ثلاث مئة عام, وان لم تنتشر إلا بعد ان اعتنقت الإمبراطورية المسيحية, ومجمع نيقيا جمع به العهد الجديد او "كتب الإنجيل الموجود حاليا".</a:t>
            </a:r>
          </a:p>
          <a:p>
            <a:pPr algn="r" rtl="1"/>
            <a:r>
              <a:rPr lang="ar-LB" sz="2400" dirty="0">
                <a:solidFill>
                  <a:srgbClr val="000000"/>
                </a:solidFill>
                <a:latin typeface="Helvetica Neue"/>
              </a:rPr>
              <a:t>التشدد في تحريم الخمر إسلاميا جعل المسلم يعتقد ويبالغ في تعامل المسيحيين مع الخمر وان الخمر عند المسيحيين مثل الحليب عند الرضيع, يعني كل ما تقول أحد مسيحي يقولك شريب خمر.</a:t>
            </a:r>
          </a:p>
          <a:p>
            <a:pPr algn="r" rtl="1"/>
            <a:r>
              <a:rPr lang="ar-LB" sz="2400" dirty="0">
                <a:solidFill>
                  <a:srgbClr val="000000"/>
                </a:solidFill>
                <a:latin typeface="Helvetica Neue"/>
              </a:rPr>
              <a:t>وجود شخصيات إلحاديا مناهضة للمسيحية تحمل اسم جورج, جون, مارك تنتقد امور في الكتاب او تستهجنها يقلك عالم اللاهوت فلان.</a:t>
            </a:r>
          </a:p>
          <a:p>
            <a:pPr algn="r" rtl="1"/>
            <a:r>
              <a:rPr lang="ar-LB" sz="2400" dirty="0"/>
              <a:t>عندما يترك أحد المسيحية ويدخل الإسلام كبير الأحبار اعترف بمحمد, او عندما يساوم كاهن ويقول محمد إنسان عظيم يقلك كبير الكهنة او الحبر الأعظم اعترف بنبوبة محمد عفكرة نفسه المسلم الذي يكفر شيخ احل معايدة المسيحيين.</a:t>
            </a:r>
            <a:endParaRPr lang="en-US" sz="2400" dirty="0"/>
          </a:p>
        </p:txBody>
      </p:sp>
    </p:spTree>
    <p:extLst>
      <p:ext uri="{BB962C8B-B14F-4D97-AF65-F5344CB8AC3E}">
        <p14:creationId xmlns:p14="http://schemas.microsoft.com/office/powerpoint/2010/main" val="3895560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39FD1-3AC0-2087-F1E9-F441C32DB48D}"/>
              </a:ext>
            </a:extLst>
          </p:cNvPr>
          <p:cNvSpPr>
            <a:spLocks noGrp="1"/>
          </p:cNvSpPr>
          <p:nvPr>
            <p:ph type="title"/>
          </p:nvPr>
        </p:nvSpPr>
        <p:spPr>
          <a:xfrm>
            <a:off x="838200" y="1"/>
            <a:ext cx="11039168" cy="865238"/>
          </a:xfrm>
        </p:spPr>
        <p:txBody>
          <a:bodyPr/>
          <a:lstStyle/>
          <a:p>
            <a:pPr algn="r" rtl="1"/>
            <a:r>
              <a:rPr lang="ar-LB" dirty="0"/>
              <a:t>الطائفية الموجودة العديد من المناطق واخطاء مؤمنيين:</a:t>
            </a:r>
            <a:endParaRPr lang="en-US" dirty="0"/>
          </a:p>
        </p:txBody>
      </p:sp>
      <p:sp>
        <p:nvSpPr>
          <p:cNvPr id="3" name="Content Placeholder 2">
            <a:extLst>
              <a:ext uri="{FF2B5EF4-FFF2-40B4-BE49-F238E27FC236}">
                <a16:creationId xmlns:a16="http://schemas.microsoft.com/office/drawing/2014/main" id="{8FDCDF81-3ECC-6FC4-6DF5-33F32A781F5F}"/>
              </a:ext>
            </a:extLst>
          </p:cNvPr>
          <p:cNvSpPr>
            <a:spLocks noGrp="1"/>
          </p:cNvSpPr>
          <p:nvPr>
            <p:ph idx="1"/>
          </p:nvPr>
        </p:nvSpPr>
        <p:spPr>
          <a:xfrm>
            <a:off x="-1" y="658761"/>
            <a:ext cx="12015019" cy="6017342"/>
          </a:xfrm>
        </p:spPr>
        <p:txBody>
          <a:bodyPr>
            <a:normAutofit/>
          </a:bodyPr>
          <a:lstStyle/>
          <a:p>
            <a:pPr algn="r" rtl="1"/>
            <a:r>
              <a:rPr lang="ar-LB" sz="2400" dirty="0"/>
              <a:t>بعد معاناة شديدة يعانيها المسلم نفسيا وإجتماعيا بعد الإطلاع على دينه ومعرفته أنه دين باطل وانه كذبة لعدة اسباب ولعدة أسباب, تختلف من شخص لآخر واختيار المسيح, والصعوبة اليومية في حياته الإجتماعية لا سيما التنقيص من شأنه, تذكيره دائما بناقط ضعفه وسقطاته بالحياة, التعرض الشديد للسب والشتم والملاحقة الدائمة هل صلى الظهر أو العصر, او ان يصلي على النبي, او حد الردة يأتي أيضا ليجد معاناة في مكان آخر.</a:t>
            </a:r>
          </a:p>
          <a:p>
            <a:pPr algn="r" rtl="1"/>
            <a:r>
              <a:rPr lang="ar-LB" sz="2400" dirty="0"/>
              <a:t>في مناطقه الإسلامية او دولته الإسلامية لن يجد إلا كنائس يسارية, التي تكرر شعار هرطقي أن الدين عند الله الإسلام إما الإسلام المحمدي أو الإسلام المسيحي.الكلمة تكاد تكون غير موجودة التبخير والعبادة للسلطان وجعل الخطاب الديني في خدمته, ليأتي المسلم العابر ويتهم بإثارة النعرات الطائفية.</a:t>
            </a:r>
          </a:p>
          <a:p>
            <a:pPr algn="r" rtl="1"/>
            <a:r>
              <a:rPr lang="ar-LB" sz="2400" dirty="0"/>
              <a:t>التبشير يحتاج إيضا لمعرفة اللغة العقلية للأخ المسلم وأيضا مساعدته على مواجهة هواجسه, ومصاعبه, ومخاوفه والتي ايضا تختلف من شخص لآخر, كثير من الأناس المسلمين عنده معرفة بالإسلام أكثر من المتديين بالإسلام والملتزمين, ولكن يبقون فيه فقط لصعوبة الأحوال الشخصية, او صعوبة العبور.</a:t>
            </a:r>
          </a:p>
          <a:p>
            <a:pPr algn="r" rtl="1"/>
            <a:r>
              <a:rPr lang="ar-LB" sz="2400" dirty="0"/>
              <a:t>الطائفية ايضا الموجودة في كثير من النفوس ان هناك مسيحي ابا عن جد, وهناك مسيحي عابر او مسيحي مسلم وهناك فرق, يعني على سبيل المثال وليس للحصر المسيحي المسحي يرتبط بمسيحية بمسيحية والمسيحي المسلم يرتبط بمسيحية مسلمة, المسيحي العابر احواله الشخصية تبقى مسلمة.</a:t>
            </a:r>
          </a:p>
          <a:p>
            <a:pPr algn="r" rtl="1"/>
            <a:r>
              <a:rPr lang="ar-LB" sz="2400" dirty="0"/>
              <a:t>هذا العمل برأيي مخالف للكتاب المقدس, </a:t>
            </a:r>
            <a:r>
              <a:rPr lang="ar-LB" sz="2400" b="1" i="0" dirty="0">
                <a:solidFill>
                  <a:srgbClr val="000000"/>
                </a:solidFill>
                <a:effectLst/>
                <a:latin typeface="Helvetica Neue"/>
              </a:rPr>
              <a:t>"وَقَالَ لِلْجَمِيعِ: «إِنْ أَرَادَ أَحَدٌ أَنْ يَأْتِيَ وَرَائِي، فَلْيُنْكِرْ نَفْسَهُ وَيَحْمِلْ صَلِيبَهُ كُلَّ يَوْمٍ، وَيَتْبَعْنِي."</a:t>
            </a:r>
            <a:r>
              <a:rPr lang="ar-LB" sz="2400" b="0" i="0" dirty="0">
                <a:solidFill>
                  <a:srgbClr val="000000"/>
                </a:solidFill>
                <a:effectLst/>
                <a:latin typeface="Helvetica Neue"/>
              </a:rPr>
              <a:t> (</a:t>
            </a:r>
            <a:r>
              <a:rPr lang="ar-LB" sz="2400" b="0" i="0" u="none" strike="noStrike" dirty="0">
                <a:solidFill>
                  <a:srgbClr val="000000"/>
                </a:solidFill>
                <a:effectLst/>
                <a:latin typeface="Times New Roman" panose="02020603050405020304" pitchFamily="18" charset="0"/>
                <a:hlinkClick r:id="rId2"/>
              </a:rPr>
              <a:t>لو 9: 23</a:t>
            </a:r>
            <a:r>
              <a:rPr lang="ar-LB" sz="2400" b="0" i="0" dirty="0">
                <a:solidFill>
                  <a:srgbClr val="000000"/>
                </a:solidFill>
                <a:effectLst/>
                <a:latin typeface="Helvetica Neue"/>
              </a:rPr>
              <a:t>), واضحة معناها أنكر نفسك وتذكر ان المسيح نظر اليك من خلال صليبه, وحمل الصليب كناية عن الصبر والتضحية وطبعا التضحية تعني أكثر من كسر قيود الخلفيات بكثير.</a:t>
            </a:r>
            <a:endParaRPr lang="en-US" sz="2400" dirty="0"/>
          </a:p>
        </p:txBody>
      </p:sp>
    </p:spTree>
    <p:extLst>
      <p:ext uri="{BB962C8B-B14F-4D97-AF65-F5344CB8AC3E}">
        <p14:creationId xmlns:p14="http://schemas.microsoft.com/office/powerpoint/2010/main" val="3927757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3FD42-09C8-BECD-4B67-D8CB5D7D711A}"/>
              </a:ext>
            </a:extLst>
          </p:cNvPr>
          <p:cNvSpPr>
            <a:spLocks noGrp="1"/>
          </p:cNvSpPr>
          <p:nvPr>
            <p:ph type="title"/>
          </p:nvPr>
        </p:nvSpPr>
        <p:spPr>
          <a:xfrm>
            <a:off x="838200" y="1"/>
            <a:ext cx="10515600" cy="1002889"/>
          </a:xfrm>
        </p:spPr>
        <p:txBody>
          <a:bodyPr/>
          <a:lstStyle/>
          <a:p>
            <a:pPr algn="r" rtl="1"/>
            <a:r>
              <a:rPr lang="ar-LB" dirty="0"/>
              <a:t>الطائفية الموجودة العديد من المناطق واخطاء مؤمنيين :</a:t>
            </a:r>
            <a:endParaRPr lang="en-US" dirty="0"/>
          </a:p>
        </p:txBody>
      </p:sp>
      <p:sp>
        <p:nvSpPr>
          <p:cNvPr id="3" name="Content Placeholder 2">
            <a:extLst>
              <a:ext uri="{FF2B5EF4-FFF2-40B4-BE49-F238E27FC236}">
                <a16:creationId xmlns:a16="http://schemas.microsoft.com/office/drawing/2014/main" id="{16CD9172-4DAE-F80E-6840-02DFADE64BB6}"/>
              </a:ext>
            </a:extLst>
          </p:cNvPr>
          <p:cNvSpPr>
            <a:spLocks noGrp="1"/>
          </p:cNvSpPr>
          <p:nvPr>
            <p:ph idx="1"/>
          </p:nvPr>
        </p:nvSpPr>
        <p:spPr>
          <a:xfrm>
            <a:off x="147484" y="766915"/>
            <a:ext cx="11818374" cy="6091084"/>
          </a:xfrm>
        </p:spPr>
        <p:txBody>
          <a:bodyPr>
            <a:normAutofit lnSpcReduction="10000"/>
          </a:bodyPr>
          <a:lstStyle/>
          <a:p>
            <a:pPr algn="r" rtl="1"/>
            <a:r>
              <a:rPr lang="ar-LB" sz="2400" dirty="0"/>
              <a:t>"لِمَاذَا تَنْظُرُ الْقَذَى الَّذِي فِي عَيْنِ أَخِيكَ، وَأَمَّا الْخَشَبَةُ الَّتِي فِي عَيْنِكَ فَلاَ تَفْطَنُ لَهَا؟" (لو 6: 41), يعني انت تقول فلان من خلفية ونسيت نفسك بلا المسيح لا تخلص.</a:t>
            </a:r>
          </a:p>
          <a:p>
            <a:pPr algn="r" rtl="1"/>
            <a:r>
              <a:rPr lang="ar-LB" sz="2400" dirty="0"/>
              <a:t>المسيح الذي ارتبط بالكنيسة وشبه هو بالعريس وهي بالعروس الإله القدوس خلصهم ثم ارتبط بهم وشبهها بالزواج اين الضير في ارتباط شخصين من خلفيتين مختلفة ووضع المسيح في الأولوية, الا يوجد خلافات وطلاق بين أناس من نفس الخلفية بسبب الأنانية أو الخيانة.أليس ألإيمان من يدمر الإنسان القديم ويبني جديد, إذا لماذا التمسك بخلفيات أرضية بموضوع سماوي مقدس؟ -لا أقصد اني ضد الإرتباط من نفس الخلفية إنما ان لا تكون العرف الصحيح الوحيد-</a:t>
            </a:r>
          </a:p>
          <a:p>
            <a:pPr algn="r" rtl="1"/>
            <a:r>
              <a:rPr lang="ar-LB" sz="2400" dirty="0"/>
              <a:t>التروما: عندما يختار شخص مسلم اتباع المسيح يأتي من حوله من المسلمين لتذكيره باخطاء ارتكبها مسيحيين, وخلط القديم بالجديد.</a:t>
            </a:r>
          </a:p>
          <a:p>
            <a:pPr algn="r" rtl="1"/>
            <a:r>
              <a:rPr lang="ar-LB" sz="2400" dirty="0"/>
              <a:t>التبعية: إحساس المسلم دائما وللأسف وفي البلدان الطائفية وغياب القانون والفوضى, قول مشياخه نحن من نحميك ونحن نسهل معاملاتك لا تهتم, يمكن قول الزبائنية الدينية.</a:t>
            </a:r>
          </a:p>
          <a:p>
            <a:pPr algn="r" rtl="1"/>
            <a:r>
              <a:rPr lang="ar-LB" sz="2400" dirty="0"/>
              <a:t>طبعا أخطاء ترتكبها الكنائس مع المؤمنين الجدد عندما يكون مبتدأ في الإيمان الكتابي, ولا يميز أن هذه صلاة او حديث عادي, ليأتي عليه بعض اعضاء الكنيسة بالتوبيخ بطريقة تحدي وكان غاية هذا الشخص ان يشوش في الكنيسة واستخدام آية كتابية في غير مكانها </a:t>
            </a:r>
            <a:r>
              <a:rPr lang="ar-LB" sz="2400" i="0" dirty="0">
                <a:solidFill>
                  <a:srgbClr val="000000"/>
                </a:solidFill>
                <a:effectLst/>
                <a:latin typeface="Helvetica Neue"/>
              </a:rPr>
              <a:t>"إِنْ كَانَ أَحَدٌ يَأْتِيكُمْ، وَلاَ يَجِيءُ بِهذَا التَّعْلِيمِ، فَلاَ تَقْبَلُوهُ فِي الْبَيْتِ، وَلاَ تَقُولُوا لَهُ سَلاَمٌ." (</a:t>
            </a:r>
            <a:r>
              <a:rPr lang="ar-LB" sz="2400" i="0" u="none" strike="noStrike" dirty="0">
                <a:solidFill>
                  <a:srgbClr val="000000"/>
                </a:solidFill>
                <a:effectLst/>
                <a:latin typeface="Times New Roman" panose="02020603050405020304" pitchFamily="18" charset="0"/>
                <a:hlinkClick r:id="rId2"/>
              </a:rPr>
              <a:t>2 يو 1: 10</a:t>
            </a:r>
            <a:r>
              <a:rPr lang="ar-LB" sz="2400" i="0" dirty="0">
                <a:solidFill>
                  <a:srgbClr val="000000"/>
                </a:solidFill>
                <a:effectLst/>
                <a:latin typeface="Helvetica Neue"/>
              </a:rPr>
              <a:t>), يعني شخص مؤمن جديد او شخص يريد التعرف على المسيح يتحدث عن تعاليم تخالف الكتاب او يسأل أسئلة او يتحقق من أمور أخبرها عنها المسلمين او الناقدين للكتاب فياتي التوبيخ القاسي وبطريقة التحدي وفهم هذا الشخص بطريقة انه يريد ان يهرطق او يملي تعاليم مخالفة للكتاب المقدس على الكنيسة بدل من إستعابه وفهمه وتصحيح خطأه بمحبة او بطريقة لينة.</a:t>
            </a:r>
          </a:p>
          <a:p>
            <a:pPr algn="r" rtl="1"/>
            <a:r>
              <a:rPr lang="ar-LB" sz="2400" dirty="0">
                <a:solidFill>
                  <a:srgbClr val="000000"/>
                </a:solidFill>
                <a:latin typeface="Helvetica Neue"/>
              </a:rPr>
              <a:t>الآية اعلاه كانها تتحدث عن موضوع آخر وهي شخص اراد إملاء تعليم مخالف للمسيح.</a:t>
            </a:r>
            <a:endParaRPr lang="ar-LB" sz="2400" dirty="0"/>
          </a:p>
          <a:p>
            <a:pPr algn="r" rtl="1"/>
            <a:endParaRPr lang="ar-LB" sz="2400" dirty="0"/>
          </a:p>
        </p:txBody>
      </p:sp>
    </p:spTree>
    <p:extLst>
      <p:ext uri="{BB962C8B-B14F-4D97-AF65-F5344CB8AC3E}">
        <p14:creationId xmlns:p14="http://schemas.microsoft.com/office/powerpoint/2010/main" val="758900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13C72-7210-0DD6-A0C5-D402E4263D21}"/>
              </a:ext>
            </a:extLst>
          </p:cNvPr>
          <p:cNvSpPr>
            <a:spLocks noGrp="1"/>
          </p:cNvSpPr>
          <p:nvPr>
            <p:ph type="title"/>
          </p:nvPr>
        </p:nvSpPr>
        <p:spPr>
          <a:xfrm>
            <a:off x="838200" y="1"/>
            <a:ext cx="11107994" cy="681036"/>
          </a:xfrm>
        </p:spPr>
        <p:txBody>
          <a:bodyPr>
            <a:normAutofit fontScale="90000"/>
          </a:bodyPr>
          <a:lstStyle/>
          <a:p>
            <a:pPr algn="r"/>
            <a:r>
              <a:rPr lang="ar-LB" dirty="0"/>
              <a:t>الطائفية الموجودة العديد من المناطق واخطاء مؤمنيين :</a:t>
            </a:r>
            <a:endParaRPr lang="en-US" dirty="0"/>
          </a:p>
        </p:txBody>
      </p:sp>
      <p:sp>
        <p:nvSpPr>
          <p:cNvPr id="3" name="Content Placeholder 2">
            <a:extLst>
              <a:ext uri="{FF2B5EF4-FFF2-40B4-BE49-F238E27FC236}">
                <a16:creationId xmlns:a16="http://schemas.microsoft.com/office/drawing/2014/main" id="{16FAC969-8C38-C8E7-3AFE-BC7369855F14}"/>
              </a:ext>
            </a:extLst>
          </p:cNvPr>
          <p:cNvSpPr>
            <a:spLocks noGrp="1"/>
          </p:cNvSpPr>
          <p:nvPr>
            <p:ph idx="1"/>
          </p:nvPr>
        </p:nvSpPr>
        <p:spPr>
          <a:xfrm>
            <a:off x="137652" y="560439"/>
            <a:ext cx="11916696" cy="2458064"/>
          </a:xfrm>
        </p:spPr>
        <p:txBody>
          <a:bodyPr>
            <a:normAutofit lnSpcReduction="10000"/>
          </a:bodyPr>
          <a:lstStyle/>
          <a:p>
            <a:pPr algn="r" rtl="1"/>
            <a:r>
              <a:rPr lang="ar-LB" sz="2400" dirty="0"/>
              <a:t>المعايرة في التعيير في قلب النقاش: يعني أنت تأخذ موقف من كذا وكذا بسبب خلفيتك, وهو الشخص ربما اخذ الموقف من منطلق آخر اعمق بكثير من خلفيته.</a:t>
            </a:r>
          </a:p>
          <a:p>
            <a:pPr algn="r" rtl="1"/>
            <a:r>
              <a:rPr lang="ar-LB" sz="2400" dirty="0"/>
              <a:t>يمكن وضع امور اخرى هي اصلا اخطاء تمارس في اي نقاش طبيعي:, الأحكام المسبقة, التمسك بالرأي, الإنحياز التأكيدي, النية السيئة إلخ.</a:t>
            </a:r>
          </a:p>
          <a:p>
            <a:pPr algn="r" rtl="1"/>
            <a:r>
              <a:rPr lang="ar-LB" sz="2400" dirty="0"/>
              <a:t>الطائفية هي صناعة شيطانية تصعب العبور للمسيح في وقت هناك من بذل حياته وسجن واضطهد من تلاميذ المسيح فقط لكي يوصل البشارة للروماني, واليوناني وغيرهم للمسيح, والعابر المسلم خصوصا من خلفية متشددة هذه الخلفية وحدها تكفيه هم وغم.</a:t>
            </a:r>
            <a:endParaRPr lang="en-US" sz="2400" dirty="0"/>
          </a:p>
        </p:txBody>
      </p:sp>
      <p:sp>
        <p:nvSpPr>
          <p:cNvPr id="4" name="Title 1">
            <a:extLst>
              <a:ext uri="{FF2B5EF4-FFF2-40B4-BE49-F238E27FC236}">
                <a16:creationId xmlns:a16="http://schemas.microsoft.com/office/drawing/2014/main" id="{6303D832-97F9-2E2E-D9BC-7CDC39E7EF14}"/>
              </a:ext>
            </a:extLst>
          </p:cNvPr>
          <p:cNvSpPr txBox="1">
            <a:spLocks/>
          </p:cNvSpPr>
          <p:nvPr/>
        </p:nvSpPr>
        <p:spPr>
          <a:xfrm>
            <a:off x="946354" y="2784682"/>
            <a:ext cx="11107994" cy="681036"/>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ar-LB" dirty="0"/>
              <a:t>التعصب:</a:t>
            </a:r>
            <a:endParaRPr lang="en-US" dirty="0"/>
          </a:p>
        </p:txBody>
      </p:sp>
      <p:sp>
        <p:nvSpPr>
          <p:cNvPr id="5" name="Content Placeholder 2">
            <a:extLst>
              <a:ext uri="{FF2B5EF4-FFF2-40B4-BE49-F238E27FC236}">
                <a16:creationId xmlns:a16="http://schemas.microsoft.com/office/drawing/2014/main" id="{0A422607-8EFF-12E0-3E43-B65148949965}"/>
              </a:ext>
            </a:extLst>
          </p:cNvPr>
          <p:cNvSpPr txBox="1">
            <a:spLocks/>
          </p:cNvSpPr>
          <p:nvPr/>
        </p:nvSpPr>
        <p:spPr>
          <a:xfrm>
            <a:off x="0" y="3288889"/>
            <a:ext cx="12329652" cy="34904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r>
              <a:rPr lang="ar-LB" sz="2400" dirty="0"/>
              <a:t>عندما تقوم للتحدث له عن آيات تحرض على القتال وبعد سجال طويل ,وإثبات أن هذه ليست دفاعية بل لفرض الدين او لذل الآخرين على سبيل المثال </a:t>
            </a:r>
            <a:r>
              <a:rPr lang="ar-LB" sz="1600" b="1" i="0" dirty="0">
                <a:solidFill>
                  <a:srgbClr val="535353"/>
                </a:solidFill>
                <a:effectLst/>
                <a:latin typeface="hafs"/>
              </a:rPr>
              <a:t> </a:t>
            </a:r>
            <a:r>
              <a:rPr lang="ar-LB" sz="2000" b="1" i="0" dirty="0">
                <a:solidFill>
                  <a:srgbClr val="468847"/>
                </a:solidFill>
                <a:effectLst/>
                <a:latin typeface="hafs"/>
              </a:rPr>
              <a:t>قَاتِلُوا الَّذِينَ لَا يُؤْمِنُونَ بِاللَّهِ وَلَا بِالْيَوْمِ الْآخِرِ وَلَا يُحَرِّمُونَ مَا حَرَّمَ اللَّهُ وَرَسُولُهُ وَلَا يَدِينُونَ دِينَ الْحَقِّ مِنَ الَّذِينَ أُوتُوا الْكِتَابَ حَتَّىٰ يُعْطُوا الْجِزْيَةَ عَن يَدٍ وَهُمْ صَاغِرُونَ </a:t>
            </a:r>
            <a:r>
              <a:rPr lang="ar-LB" sz="2400" i="0" dirty="0">
                <a:effectLst/>
                <a:latin typeface="hafs"/>
              </a:rPr>
              <a:t>سورة التوبة الآية 29, يأتي رده باقتطاع كلام في الكتاب </a:t>
            </a:r>
            <a:r>
              <a:rPr lang="ar-LB" sz="1800" b="1" i="0" dirty="0">
                <a:solidFill>
                  <a:srgbClr val="000000"/>
                </a:solidFill>
                <a:effectLst/>
                <a:latin typeface="Helvetica Neue"/>
              </a:rPr>
              <a:t>الجزية لمن له الجزية </a:t>
            </a:r>
            <a:r>
              <a:rPr lang="ar-LB" sz="1600" b="0" i="0" u="sng" dirty="0">
                <a:solidFill>
                  <a:srgbClr val="000000"/>
                </a:solidFill>
                <a:effectLst/>
                <a:latin typeface="Times New Roman" panose="02020603050405020304" pitchFamily="18" charset="0"/>
                <a:hlinkClick r:id="rId2"/>
              </a:rPr>
              <a:t>رو 13: 7</a:t>
            </a:r>
            <a:r>
              <a:rPr lang="ar-LB" sz="1600" b="0" i="0" u="sng" dirty="0">
                <a:solidFill>
                  <a:srgbClr val="000000"/>
                </a:solidFill>
                <a:effectLst/>
                <a:latin typeface="Times New Roman" panose="02020603050405020304" pitchFamily="18" charset="0"/>
              </a:rPr>
              <a:t> </a:t>
            </a:r>
            <a:r>
              <a:rPr lang="ar-LB" sz="2400" b="0" i="0" dirty="0">
                <a:solidFill>
                  <a:srgbClr val="000000"/>
                </a:solidFill>
                <a:effectLst/>
                <a:latin typeface="Times New Roman" panose="02020603050405020304" pitchFamily="18" charset="0"/>
              </a:rPr>
              <a:t>الجزية وردت عندكم في الكتاب وكأن المسيح فرض الجزية على أحد, طبعا رد سطحي.</a:t>
            </a:r>
          </a:p>
          <a:p>
            <a:pPr algn="r" rtl="1"/>
            <a:r>
              <a:rPr lang="ar-LB" sz="2400" dirty="0">
                <a:solidFill>
                  <a:srgbClr val="000000"/>
                </a:solidFill>
                <a:latin typeface="Times New Roman" panose="02020603050405020304" pitchFamily="18" charset="0"/>
              </a:rPr>
              <a:t>او يجيب بطريقة أخرى أنتم ضد الجزية وفرض الدين على الدين ليس حبا فينا او التمسك بتقبل الآخر كما هو بل لانها لم ترد في كتبكم, لو وردت هذه الآيات في كتبكم لبررتم الغزوات مثلنا.</a:t>
            </a:r>
          </a:p>
          <a:p>
            <a:pPr algn="r" rtl="1"/>
            <a:r>
              <a:rPr lang="ar-LB" sz="2400" dirty="0"/>
              <a:t>كلمة سيف لم ترد في القرآن وبينما وردت في الكتاب المقدس ويتجاهل ضرب الرقاب وترهبون عدو الله التي وردت عنده.</a:t>
            </a:r>
          </a:p>
          <a:p>
            <a:pPr algn="r" rtl="1"/>
            <a:r>
              <a:rPr lang="ar-LB" sz="2400" dirty="0"/>
              <a:t>نفسه أيضا الشخص الذي يقلك الجزية هي الضريبة والضرائب مهمة لخدمة المواطن يستخدم هذا المصطلح في سياق آخر أن حكامنا أذلاء يدفعون الجزية للكفار بدلا من إرسال المساعدات للناس المحتاجة.</a:t>
            </a:r>
            <a:endParaRPr lang="en-US" sz="2400" dirty="0"/>
          </a:p>
          <a:p>
            <a:pPr algn="r" rtl="1"/>
            <a:endParaRPr lang="en-US" sz="2400" dirty="0"/>
          </a:p>
          <a:p>
            <a:pPr algn="r" rtl="1"/>
            <a:endParaRPr lang="en-US" sz="2400" dirty="0"/>
          </a:p>
          <a:p>
            <a:pPr algn="r" rtl="1"/>
            <a:endParaRPr lang="en-US" sz="2400" dirty="0"/>
          </a:p>
        </p:txBody>
      </p:sp>
    </p:spTree>
    <p:extLst>
      <p:ext uri="{BB962C8B-B14F-4D97-AF65-F5344CB8AC3E}">
        <p14:creationId xmlns:p14="http://schemas.microsoft.com/office/powerpoint/2010/main" val="3550043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E3478-6D85-55CF-0544-D5260F7FB1A7}"/>
              </a:ext>
            </a:extLst>
          </p:cNvPr>
          <p:cNvSpPr>
            <a:spLocks noGrp="1"/>
          </p:cNvSpPr>
          <p:nvPr>
            <p:ph type="title"/>
          </p:nvPr>
        </p:nvSpPr>
        <p:spPr>
          <a:xfrm>
            <a:off x="366250" y="0"/>
            <a:ext cx="11166987" cy="629265"/>
          </a:xfrm>
        </p:spPr>
        <p:txBody>
          <a:bodyPr>
            <a:normAutofit fontScale="90000"/>
          </a:bodyPr>
          <a:lstStyle/>
          <a:p>
            <a:pPr algn="r" rtl="1"/>
            <a:r>
              <a:rPr lang="ar-LB" dirty="0"/>
              <a:t>الخلاصة:</a:t>
            </a:r>
            <a:endParaRPr lang="en-US" dirty="0"/>
          </a:p>
        </p:txBody>
      </p:sp>
      <p:sp>
        <p:nvSpPr>
          <p:cNvPr id="3" name="Content Placeholder 2">
            <a:extLst>
              <a:ext uri="{FF2B5EF4-FFF2-40B4-BE49-F238E27FC236}">
                <a16:creationId xmlns:a16="http://schemas.microsoft.com/office/drawing/2014/main" id="{6882115F-7057-547B-4E9D-3A80185D151D}"/>
              </a:ext>
            </a:extLst>
          </p:cNvPr>
          <p:cNvSpPr>
            <a:spLocks noGrp="1"/>
          </p:cNvSpPr>
          <p:nvPr>
            <p:ph idx="1"/>
          </p:nvPr>
        </p:nvSpPr>
        <p:spPr>
          <a:xfrm>
            <a:off x="0" y="452285"/>
            <a:ext cx="12270658" cy="6387460"/>
          </a:xfrm>
        </p:spPr>
        <p:txBody>
          <a:bodyPr>
            <a:normAutofit fontScale="92500" lnSpcReduction="10000"/>
          </a:bodyPr>
          <a:lstStyle/>
          <a:p>
            <a:pPr algn="r" rtl="1"/>
            <a:r>
              <a:rPr lang="ar-LB" sz="2400" dirty="0"/>
              <a:t>ربما لا يحتاج المسلم فقط الأدلة العقلية على صحة المسيحية, بل أحيانا يكون يحتاج الإصغاء, أحيانا يكون التعليم وتطوير ثقته بنفسه, وأحيانا يحتاج مساعدته في صعوبة حياتية, ففي الكتاب هناك من دخل للمسيح من خلال شربة ماء وهناك من خلال شفاء إلخ.</a:t>
            </a:r>
          </a:p>
          <a:p>
            <a:pPr algn="r" rtl="1"/>
            <a:r>
              <a:rPr lang="ar-LB" sz="2400" dirty="0"/>
              <a:t>تتفاوت هذه العراقيل من شخص لآخر, فمثلا يكون هناك من تربى في قرى مثلا مسيحية متخطي عقبة الطائفية ولكن عنده شيء آخر يعرقله على سبيل المثال ان الدين فقط إختصاص رجال الدين.</a:t>
            </a:r>
          </a:p>
          <a:p>
            <a:pPr algn="r" rtl="1"/>
            <a:r>
              <a:rPr lang="ar-LB" sz="2400" dirty="0"/>
              <a:t>التبشير لشخص مسلم يحتاج لفهم العراقيل في تفكيره تصعب عليه التبشير والتميز بين السؤال البريء اي المغلطات التي اصبحت عنده من المسلمات بسبب أنها كررت امامه, وبين السؤال لتضيع الوقت او الموضوع, الحكمة مهمة.</a:t>
            </a:r>
          </a:p>
          <a:p>
            <a:pPr algn="r" rtl="1"/>
            <a:r>
              <a:rPr lang="ar-LB" sz="2400" dirty="0"/>
              <a:t> إعطاء وقت تبشيري أكبر للشريحة الإجتماعية التي علمها ضئيل على شريحة إجتماعية أخرى وصلت الكلمة إليها ولكن لم تقبلها.</a:t>
            </a:r>
          </a:p>
          <a:p>
            <a:pPr algn="r" rtl="1"/>
            <a:r>
              <a:rPr lang="ar-LB" sz="2400" dirty="0"/>
              <a:t>التبشير ايضا يحتاج إلى خلق علاقات وبعد ذلك تري المسلم المسيح من خلال تصرفاتك الحسنة والمتزنة, وتجاوزك لعقبات كثيرة في حياتك, ثم بناء الثقة, وعند النقاش يجب خلق أرضية مشتركة بينك وبين الشخص المسلم وافضل طريقة لخلق هذه الأرضية فهم التفكير الإسلامي.</a:t>
            </a:r>
          </a:p>
          <a:p>
            <a:pPr algn="r" rtl="1"/>
            <a:r>
              <a:rPr lang="ar-LB" sz="2400" dirty="0"/>
              <a:t>هذا شيء شخصي محاولة وضع تميز أو حد فاصل بين الأسئلة الجدية والإستفزاز, وكثير من الناس يستخدمون خديعة للمحاور الآخر فعندما يكون المحاور الآخر غارق في شرح فكرته يحاول المحاور الأول إدخال مواضيع أخرى شخصية او وصفه بالعنيد مثلا أو رأسه مثل الصوان إلخ, فلا يجب التجاوز عن هذه الأخطاء.</a:t>
            </a:r>
          </a:p>
          <a:p>
            <a:pPr algn="r" rtl="1"/>
            <a:r>
              <a:rPr lang="ar-LB" sz="2400" dirty="0"/>
              <a:t>ولا يجوز لأحد أن يبشر شخص آخر وعندما يسأل أسئلة عميقة, ينهي النقاش, على الأقل عليه ان يكون متوقع ما الأمور التي ستطرح عليه خلال النقاش, يعني ان يكون متطلع الشبهات المكررة التي ستطرح عليه.</a:t>
            </a:r>
          </a:p>
          <a:p>
            <a:pPr algn="r" rtl="1"/>
            <a:r>
              <a:rPr lang="ar-LB" sz="2400" dirty="0"/>
              <a:t>أن تكون العلاقة مع الشخص الذي يريد الإنضمام جدية والإهتمام لشأنه وان تكون أخوية حقيقية. </a:t>
            </a:r>
          </a:p>
          <a:p>
            <a:pPr algn="r" rtl="1"/>
            <a:r>
              <a:rPr lang="ar-LB" sz="2400" dirty="0"/>
              <a:t>أخيرا يجب معرفة هدف الحوار الحقيقي وأنه هو التبشير وليس الفرض ولا حتى الإقناع, واقتناع الطرف الآخر يجب ان يكون خيار عنده, ليس بسبب أن المبشر شخصيته قوية ويسطر على النقاش, في المقابل يجب تقبل فكرة ان الطرف الآخر لم يقبل البشارة وتبقى العلاقة طبيعة دون أن يمسها اي شائبة.</a:t>
            </a:r>
            <a:endParaRPr lang="en-US" sz="2400" dirty="0"/>
          </a:p>
        </p:txBody>
      </p:sp>
    </p:spTree>
    <p:extLst>
      <p:ext uri="{BB962C8B-B14F-4D97-AF65-F5344CB8AC3E}">
        <p14:creationId xmlns:p14="http://schemas.microsoft.com/office/powerpoint/2010/main" val="34069421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998</TotalTime>
  <Words>4883</Words>
  <Application>Microsoft Office PowerPoint</Application>
  <PresentationFormat>Widescreen</PresentationFormat>
  <Paragraphs>156</Paragraphs>
  <Slides>18</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Arial</vt:lpstr>
      <vt:lpstr>Calibri</vt:lpstr>
      <vt:lpstr>Calibri Light</vt:lpstr>
      <vt:lpstr>hafs</vt:lpstr>
      <vt:lpstr>Helvetica Neue</vt:lpstr>
      <vt:lpstr>NotoKufiArabic</vt:lpstr>
      <vt:lpstr>Segoe UI Historic</vt:lpstr>
      <vt:lpstr>Simplified Arabic</vt:lpstr>
      <vt:lpstr>Times New Roman</vt:lpstr>
      <vt:lpstr>traditional</vt:lpstr>
      <vt:lpstr>Office Theme</vt:lpstr>
      <vt:lpstr>سلام ونعمة</vt:lpstr>
      <vt:lpstr>مقدمة:</vt:lpstr>
      <vt:lpstr>الدين إختصاص رجال الدين فقط:</vt:lpstr>
      <vt:lpstr>الدين أختصاص رجال الدين :</vt:lpstr>
      <vt:lpstr>الخوف من عذاب جهنم:</vt:lpstr>
      <vt:lpstr>المصائب والأمراض والحوادث:</vt:lpstr>
      <vt:lpstr>القبلية الموجودة في مجتمعاته:</vt:lpstr>
      <vt:lpstr>الحياة الأكاديمية, الشخصية والمهنية:</vt:lpstr>
      <vt:lpstr>عندنا شبهات وعندكم شبهات:</vt:lpstr>
      <vt:lpstr>الدين الإسلامي أشمل :</vt:lpstr>
      <vt:lpstr>لماذا لا يذهب النصراني للمسجد:</vt:lpstr>
      <vt:lpstr>مفاهيم مغلوطة عن المسيحية:</vt:lpstr>
      <vt:lpstr>مفاهيم مغلوطة عن المسيحية:</vt:lpstr>
      <vt:lpstr>مفاهيم مغلوطة عن المسيحية:</vt:lpstr>
      <vt:lpstr>الطائفية الموجودة العديد من المناطق واخطاء مؤمنيين:</vt:lpstr>
      <vt:lpstr>الطائفية الموجودة العديد من المناطق واخطاء مؤمنيين :</vt:lpstr>
      <vt:lpstr>الطائفية الموجودة العديد من المناطق واخطاء مؤمنيين :</vt:lpstr>
      <vt:lpstr>الخلاصة:</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Abo Lobnan Mohammad</dc:creator>
  <cp:lastModifiedBy>Abo Lobnan Mohammad</cp:lastModifiedBy>
  <cp:revision>20</cp:revision>
  <dcterms:created xsi:type="dcterms:W3CDTF">2025-03-28T11:31:56Z</dcterms:created>
  <dcterms:modified xsi:type="dcterms:W3CDTF">2025-04-04T14:35:13Z</dcterms:modified>
</cp:coreProperties>
</file>