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8" r:id="rId7"/>
    <p:sldId id="261" r:id="rId8"/>
    <p:sldId id="262" r:id="rId9"/>
    <p:sldId id="263" r:id="rId10"/>
    <p:sldId id="267"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8FD7AC-D604-4D97-9527-18A6E86675D8}" type="datetimeFigureOut">
              <a:rPr lang="en-US" smtClean="0"/>
              <a:t>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9C58E6-5107-44F2-A282-3C0D6B4CA2B1}" type="slidenum">
              <a:rPr lang="en-US" smtClean="0"/>
              <a:t>‹#›</a:t>
            </a:fld>
            <a:endParaRPr lang="en-US"/>
          </a:p>
        </p:txBody>
      </p:sp>
    </p:spTree>
    <p:extLst>
      <p:ext uri="{BB962C8B-B14F-4D97-AF65-F5344CB8AC3E}">
        <p14:creationId xmlns:p14="http://schemas.microsoft.com/office/powerpoint/2010/main" val="97127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9C58E6-5107-44F2-A282-3C0D6B4CA2B1}" type="slidenum">
              <a:rPr lang="en-US" smtClean="0"/>
              <a:t>2</a:t>
            </a:fld>
            <a:endParaRPr lang="en-US"/>
          </a:p>
        </p:txBody>
      </p:sp>
    </p:spTree>
    <p:extLst>
      <p:ext uri="{BB962C8B-B14F-4D97-AF65-F5344CB8AC3E}">
        <p14:creationId xmlns:p14="http://schemas.microsoft.com/office/powerpoint/2010/main" val="2366531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19EC7-C5C0-F51C-A800-72431FDD8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78B751-8309-2433-BF08-DCE5BD3BF8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09042D-EF0C-480E-481A-DE3231C79CF4}"/>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1B258524-7C45-1145-970A-6C04C585A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2538C-2C3B-2983-99A0-13EDBBB86DAD}"/>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3981314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36469-1AAE-402B-558C-D6EB5D1EBF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25047A-699B-C868-E063-1EEB595D3C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0C4306-FC0F-48C3-E24D-F29DEBCFC983}"/>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7C6ED168-1432-F9D6-8996-20403E1F9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D6ACA-3D2C-271E-D381-DC8851703329}"/>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17461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1854D-A80E-67E8-5563-FEC8198720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192930-2177-744D-B69B-F66AD1AED7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1B2F86-50F5-4BB3-BBEC-30947DAA12D5}"/>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5ADEBDC4-571E-BFB9-A32E-4CDA45E30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72953-97D5-0E1E-3D31-993290FEB0F6}"/>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3551691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ABB99-C68F-C6E3-B08C-34F8B9C6B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677D5-A48E-AB34-B0EE-63CC0F1EEA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E0DBCE-47B6-1365-0639-4A704C9C8C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99FDC1-EB8E-7270-4944-880B7F30E387}"/>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6" name="Footer Placeholder 5">
            <a:extLst>
              <a:ext uri="{FF2B5EF4-FFF2-40B4-BE49-F238E27FC236}">
                <a16:creationId xmlns:a16="http://schemas.microsoft.com/office/drawing/2014/main" id="{DAD057F2-79E3-3F18-F68F-7F7242861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00EC7F-F09E-2674-FD78-C1462FB39172}"/>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401454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F360-E8B3-3C34-BC3D-49C3E7BC5A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2993F-C59F-9F0B-D20C-CF64351D2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089637-8516-837F-609C-D5B71A0778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3F690C-D7AF-4564-6B14-0182F2E306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9A67ED-DE33-41FE-DA21-8C0521E77C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188B23-E59E-44E4-4857-1BB892E6912F}"/>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8" name="Footer Placeholder 7">
            <a:extLst>
              <a:ext uri="{FF2B5EF4-FFF2-40B4-BE49-F238E27FC236}">
                <a16:creationId xmlns:a16="http://schemas.microsoft.com/office/drawing/2014/main" id="{E7AA9E02-D104-9822-E0FD-FFED60E10C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9C7944-93DA-BEF9-4E81-DF29B5AC6C38}"/>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285199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582B-4FE8-37FF-71D8-B698D05330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4FBB1F-3CFB-154D-1360-B619D2A9BA24}"/>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4" name="Footer Placeholder 3">
            <a:extLst>
              <a:ext uri="{FF2B5EF4-FFF2-40B4-BE49-F238E27FC236}">
                <a16:creationId xmlns:a16="http://schemas.microsoft.com/office/drawing/2014/main" id="{A0063133-2E76-5368-0DA7-53B06F43F0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FAF61D-42F1-C6DA-1B87-DCA6D710B70F}"/>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3893293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8AE198-3604-3AEC-07F4-F9DC822C60E1}"/>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3" name="Footer Placeholder 2">
            <a:extLst>
              <a:ext uri="{FF2B5EF4-FFF2-40B4-BE49-F238E27FC236}">
                <a16:creationId xmlns:a16="http://schemas.microsoft.com/office/drawing/2014/main" id="{3EAAD00F-A2AE-B5A0-ABF5-5676982F6B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14370D-2B28-3435-F1AF-4EF68CE7681E}"/>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375998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C338A-2E62-E66A-F628-C00B55D17F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AC8361-D7E1-FB6B-E2F0-8FB35D0E1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BDCD22-906C-5624-BD14-F188594B4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F68585-52A8-8D21-6C2C-383927C79B23}"/>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6" name="Footer Placeholder 5">
            <a:extLst>
              <a:ext uri="{FF2B5EF4-FFF2-40B4-BE49-F238E27FC236}">
                <a16:creationId xmlns:a16="http://schemas.microsoft.com/office/drawing/2014/main" id="{08D12393-9B1A-7D09-E1D4-B69171618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48F5D-CC2D-E3C6-6434-8C9E6A09F254}"/>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181008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6367-EE47-116B-7631-DFE22260A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E79855-3E0E-211F-09C8-4D80BA310F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735867-45B7-7161-FC0C-4E20B505FE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DFE5B3-8A42-4F76-D383-CFD715368440}"/>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6" name="Footer Placeholder 5">
            <a:extLst>
              <a:ext uri="{FF2B5EF4-FFF2-40B4-BE49-F238E27FC236}">
                <a16:creationId xmlns:a16="http://schemas.microsoft.com/office/drawing/2014/main" id="{5E1F3E14-C2BB-03B0-43CC-C1E70EFFD5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B41317-AF97-B688-14BB-C87A68E93A9F}"/>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2478605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41C6-A92D-B456-5F50-E7C77037AF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2D24CE-3AB6-7F3C-F728-AAE4420D14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456E74-0FEF-B551-4413-E200E4FB1232}"/>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F35DB586-57DA-3A66-F59E-306766C33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78CF5-D9B2-F6A5-BEB2-33D4B63E1611}"/>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1244279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2A7E71-D168-416B-4B01-84E71B0888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08E9D1-8349-AD81-0509-C01B1F7B09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C2C04-AC37-6F7F-4DBB-0B28ABC782DC}"/>
              </a:ext>
            </a:extLst>
          </p:cNvPr>
          <p:cNvSpPr>
            <a:spLocks noGrp="1"/>
          </p:cNvSpPr>
          <p:nvPr>
            <p:ph type="dt" sz="half" idx="10"/>
          </p:nvPr>
        </p:nvSpPr>
        <p:spPr/>
        <p:txBody>
          <a:body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09C16FEB-669A-A1A1-4DD2-D3A378868E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9B732-CACA-3698-9D12-09D9B749E510}"/>
              </a:ext>
            </a:extLst>
          </p:cNvPr>
          <p:cNvSpPr>
            <a:spLocks noGrp="1"/>
          </p:cNvSpPr>
          <p:nvPr>
            <p:ph type="sldNum" sz="quarter" idx="12"/>
          </p:nvPr>
        </p:nvSpPr>
        <p:spPr/>
        <p:txBody>
          <a:bodyPr/>
          <a:lstStyle/>
          <a:p>
            <a:fld id="{18DA38F8-BA17-45AC-AC2A-1B56F0FF8A4D}" type="slidenum">
              <a:rPr lang="en-US" smtClean="0"/>
              <a:t>‹#›</a:t>
            </a:fld>
            <a:endParaRPr lang="en-US"/>
          </a:p>
        </p:txBody>
      </p:sp>
    </p:spTree>
    <p:extLst>
      <p:ext uri="{BB962C8B-B14F-4D97-AF65-F5344CB8AC3E}">
        <p14:creationId xmlns:p14="http://schemas.microsoft.com/office/powerpoint/2010/main" val="4243201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C73490-7ABD-7ED9-297E-1528EC983B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E1E9A3-CF78-3B62-B8E9-5A59862826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0817DF-9339-E09A-470D-A2E41EB871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BB514F-4AAA-480D-9066-951DC5B51485}" type="datetimeFigureOut">
              <a:rPr lang="en-US" smtClean="0"/>
              <a:t>2/23/2025</a:t>
            </a:fld>
            <a:endParaRPr lang="en-US"/>
          </a:p>
        </p:txBody>
      </p:sp>
      <p:sp>
        <p:nvSpPr>
          <p:cNvPr id="5" name="Footer Placeholder 4">
            <a:extLst>
              <a:ext uri="{FF2B5EF4-FFF2-40B4-BE49-F238E27FC236}">
                <a16:creationId xmlns:a16="http://schemas.microsoft.com/office/drawing/2014/main" id="{A0A6ABD1-61D9-608A-60D2-6A56B1CDB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210022-5867-32E9-7245-211C021A03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DA38F8-BA17-45AC-AC2A-1B56F0FF8A4D}" type="slidenum">
              <a:rPr lang="en-US" smtClean="0"/>
              <a:t>‹#›</a:t>
            </a:fld>
            <a:endParaRPr lang="en-US"/>
          </a:p>
        </p:txBody>
      </p:sp>
    </p:spTree>
    <p:extLst>
      <p:ext uri="{BB962C8B-B14F-4D97-AF65-F5344CB8AC3E}">
        <p14:creationId xmlns:p14="http://schemas.microsoft.com/office/powerpoint/2010/main" val="671966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t-takla.org/Full-Free-Coptic-Books/FreeCopticBooks-002-Holy-Arabic-Bible-Dictionary/01_A/A_036.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quran.ksu.edu.sa/tafseer/katheer/sura93-aya7.html" TargetMode="External"/><Relationship Id="rId2" Type="http://schemas.openxmlformats.org/officeDocument/2006/relationships/hyperlink" Target="http://quran.ksu.edu.sa/tafseer/katheer/sura93-aya5.html" TargetMode="External"/><Relationship Id="rId1" Type="http://schemas.openxmlformats.org/officeDocument/2006/relationships/slideLayout" Target="../slideLayouts/slideLayout2.xml"/><Relationship Id="rId5" Type="http://schemas.openxmlformats.org/officeDocument/2006/relationships/hyperlink" Target="http://quran.ksu.edu.sa/tafseer/katheer/sura48-aya2.html" TargetMode="External"/><Relationship Id="rId4" Type="http://schemas.openxmlformats.org/officeDocument/2006/relationships/hyperlink" Target="http://quran.ksu.edu.sa/tafseer/katheer/sura93-aya8.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BB33-051A-2DB0-2CC3-1A110D8AA44A}"/>
              </a:ext>
            </a:extLst>
          </p:cNvPr>
          <p:cNvSpPr>
            <a:spLocks noGrp="1"/>
          </p:cNvSpPr>
          <p:nvPr>
            <p:ph type="ctrTitle"/>
          </p:nvPr>
        </p:nvSpPr>
        <p:spPr/>
        <p:txBody>
          <a:bodyPr/>
          <a:lstStyle/>
          <a:p>
            <a:r>
              <a:rPr lang="ar-LB" dirty="0"/>
              <a:t>سلام ونعمة</a:t>
            </a:r>
            <a:endParaRPr lang="en-US" dirty="0"/>
          </a:p>
        </p:txBody>
      </p:sp>
      <p:sp>
        <p:nvSpPr>
          <p:cNvPr id="3" name="Subtitle 2">
            <a:extLst>
              <a:ext uri="{FF2B5EF4-FFF2-40B4-BE49-F238E27FC236}">
                <a16:creationId xmlns:a16="http://schemas.microsoft.com/office/drawing/2014/main" id="{BE8C1E48-181D-ECF0-28C9-848A2019FF23}"/>
              </a:ext>
            </a:extLst>
          </p:cNvPr>
          <p:cNvSpPr>
            <a:spLocks noGrp="1"/>
          </p:cNvSpPr>
          <p:nvPr>
            <p:ph type="subTitle" idx="1"/>
          </p:nvPr>
        </p:nvSpPr>
        <p:spPr/>
        <p:txBody>
          <a:bodyPr/>
          <a:lstStyle/>
          <a:p>
            <a:r>
              <a:rPr lang="ar-LB" dirty="0"/>
              <a:t>الإسلام والأنبياء </a:t>
            </a:r>
            <a:endParaRPr lang="en-US" dirty="0"/>
          </a:p>
        </p:txBody>
      </p:sp>
    </p:spTree>
    <p:extLst>
      <p:ext uri="{BB962C8B-B14F-4D97-AF65-F5344CB8AC3E}">
        <p14:creationId xmlns:p14="http://schemas.microsoft.com/office/powerpoint/2010/main" val="2624558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F0C81-ED32-7EF0-79D8-C2BEA456FEC5}"/>
              </a:ext>
            </a:extLst>
          </p:cNvPr>
          <p:cNvSpPr>
            <a:spLocks noGrp="1"/>
          </p:cNvSpPr>
          <p:nvPr>
            <p:ph type="title"/>
          </p:nvPr>
        </p:nvSpPr>
        <p:spPr/>
        <p:txBody>
          <a:bodyPr/>
          <a:lstStyle/>
          <a:p>
            <a:pPr algn="r" rtl="1"/>
            <a:r>
              <a:rPr lang="ar-LB" dirty="0"/>
              <a:t>الأنبياء المذكورين في القرآن:</a:t>
            </a:r>
            <a:endParaRPr lang="en-US" dirty="0"/>
          </a:p>
        </p:txBody>
      </p:sp>
      <p:sp>
        <p:nvSpPr>
          <p:cNvPr id="3" name="Content Placeholder 2">
            <a:extLst>
              <a:ext uri="{FF2B5EF4-FFF2-40B4-BE49-F238E27FC236}">
                <a16:creationId xmlns:a16="http://schemas.microsoft.com/office/drawing/2014/main" id="{BFF52193-F5C5-94A4-4A45-7906CA632C85}"/>
              </a:ext>
            </a:extLst>
          </p:cNvPr>
          <p:cNvSpPr>
            <a:spLocks noGrp="1"/>
          </p:cNvSpPr>
          <p:nvPr>
            <p:ph idx="1"/>
          </p:nvPr>
        </p:nvSpPr>
        <p:spPr>
          <a:xfrm>
            <a:off x="838200" y="1356360"/>
            <a:ext cx="10515600" cy="4820603"/>
          </a:xfrm>
        </p:spPr>
        <p:txBody>
          <a:bodyPr>
            <a:normAutofit/>
          </a:bodyPr>
          <a:lstStyle/>
          <a:p>
            <a:pPr marL="0" indent="0" algn="r" rtl="1">
              <a:lnSpc>
                <a:spcPct val="100000"/>
              </a:lnSpc>
              <a:buNone/>
            </a:pPr>
            <a:r>
              <a:rPr lang="ar-LB" sz="2400" dirty="0"/>
              <a:t>الأنبياء: آدم, إدريس, نوح,  صالح, هود, إبراهيم, لوط, إسماعيل, إسحاق, يعقوب, يوسف, شعيب, أيوب, ذو الكفل, هارون, موسى, داود, سليمان, اليسع, إلياس, يونس,  زكريا, يحيى, عيسى, محمد, الترتيب الأقرب للمصادر الإسلامية.</a:t>
            </a:r>
          </a:p>
          <a:p>
            <a:pPr marL="0" indent="0" algn="r" rtl="1">
              <a:lnSpc>
                <a:spcPct val="100000"/>
              </a:lnSpc>
              <a:buNone/>
            </a:pPr>
            <a:r>
              <a:rPr lang="ar-LB" sz="2400" dirty="0"/>
              <a:t>أنبياء عرب: هود, صالح , إسماعيل (عاش بين العرب),شعيب, محمد.</a:t>
            </a:r>
          </a:p>
          <a:p>
            <a:pPr marL="0" indent="0" algn="r" rtl="1">
              <a:lnSpc>
                <a:spcPct val="100000"/>
              </a:lnSpc>
              <a:buNone/>
            </a:pPr>
            <a:r>
              <a:rPr lang="ar-LB" sz="2400" dirty="0"/>
              <a:t>لقبهم: النبي لا يجوز أن تسميه باسمه بل تقول سيدنا او النبي فلان وبعد ذكر اسمه تقول عليه السلام, باستثناء الرسول محمد يلي اسمه صلى الله عليه وسلم, صلى الله عليه وآله وسلم (دائما عند الشيعة أحيانا عند السنة), صلى الله عليه وآله وصحبه ( الشعية عند ذكر الصحب يستخدمون المنتجبين), تختصر ب(ص).</a:t>
            </a:r>
          </a:p>
          <a:p>
            <a:pPr marL="0" indent="0" algn="r" rtl="1">
              <a:lnSpc>
                <a:spcPct val="100000"/>
              </a:lnSpc>
              <a:buNone/>
            </a:pPr>
            <a:r>
              <a:rPr lang="ar-LB" sz="2400" dirty="0"/>
              <a:t>أنبياء تغير اسمهم الكتابي: إدريس يعتقد أخنوخ, ذو الكفل يعتقد انه حزقيال, إليسع هو إليشع, يونس هو يونان, يحيى هو يوحنا المعمدان, عيسى هو يسوع المسيح.</a:t>
            </a:r>
          </a:p>
          <a:p>
            <a:pPr marL="0" indent="0" algn="r" rtl="1">
              <a:buNone/>
            </a:pPr>
            <a:endParaRPr lang="ar-LB" dirty="0"/>
          </a:p>
        </p:txBody>
      </p:sp>
    </p:spTree>
    <p:extLst>
      <p:ext uri="{BB962C8B-B14F-4D97-AF65-F5344CB8AC3E}">
        <p14:creationId xmlns:p14="http://schemas.microsoft.com/office/powerpoint/2010/main" val="3264664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20D6-02C9-7E47-40A3-0E29582C4D27}"/>
              </a:ext>
            </a:extLst>
          </p:cNvPr>
          <p:cNvSpPr>
            <a:spLocks noGrp="1"/>
          </p:cNvSpPr>
          <p:nvPr>
            <p:ph type="title"/>
          </p:nvPr>
        </p:nvSpPr>
        <p:spPr/>
        <p:txBody>
          <a:bodyPr/>
          <a:lstStyle/>
          <a:p>
            <a:pPr algn="r"/>
            <a:r>
              <a:rPr lang="ar-LB" dirty="0"/>
              <a:t>شحرة الأنبياء المذكورين في القرآن:</a:t>
            </a:r>
            <a:endParaRPr lang="en-US" dirty="0"/>
          </a:p>
        </p:txBody>
      </p:sp>
      <p:pic>
        <p:nvPicPr>
          <p:cNvPr id="5" name="Content Placeholder 4" descr="A tree with many words and leaves&#10;&#10;AI-generated content may be incorrect.">
            <a:extLst>
              <a:ext uri="{FF2B5EF4-FFF2-40B4-BE49-F238E27FC236}">
                <a16:creationId xmlns:a16="http://schemas.microsoft.com/office/drawing/2014/main" id="{C164A6AB-36CB-0BAC-0B27-C3CBE0F9DE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0627" y="1441161"/>
            <a:ext cx="6459017" cy="4351338"/>
          </a:xfrm>
        </p:spPr>
      </p:pic>
      <p:sp>
        <p:nvSpPr>
          <p:cNvPr id="6" name="TextBox 5">
            <a:extLst>
              <a:ext uri="{FF2B5EF4-FFF2-40B4-BE49-F238E27FC236}">
                <a16:creationId xmlns:a16="http://schemas.microsoft.com/office/drawing/2014/main" id="{30768F5D-0344-A734-287F-C8A6BEEEE251}"/>
              </a:ext>
            </a:extLst>
          </p:cNvPr>
          <p:cNvSpPr txBox="1"/>
          <p:nvPr/>
        </p:nvSpPr>
        <p:spPr>
          <a:xfrm>
            <a:off x="1018309" y="5933209"/>
            <a:ext cx="9736282" cy="461665"/>
          </a:xfrm>
          <a:prstGeom prst="rect">
            <a:avLst/>
          </a:prstGeom>
          <a:noFill/>
        </p:spPr>
        <p:txBody>
          <a:bodyPr wrap="square" rtlCol="0">
            <a:spAutoFit/>
          </a:bodyPr>
          <a:lstStyle/>
          <a:p>
            <a:pPr algn="ctr" rtl="1"/>
            <a:r>
              <a:rPr lang="ar-LB" sz="2400" dirty="0"/>
              <a:t>شجرة الأنبياء ليس بالضرورة ان تحمل الترتيب المعروف إسلاميا</a:t>
            </a:r>
            <a:endParaRPr lang="en-US" sz="2400" dirty="0"/>
          </a:p>
        </p:txBody>
      </p:sp>
    </p:spTree>
    <p:extLst>
      <p:ext uri="{BB962C8B-B14F-4D97-AF65-F5344CB8AC3E}">
        <p14:creationId xmlns:p14="http://schemas.microsoft.com/office/powerpoint/2010/main" val="382231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04345-59D6-65F9-6825-1552A7581B8E}"/>
              </a:ext>
            </a:extLst>
          </p:cNvPr>
          <p:cNvSpPr>
            <a:spLocks noGrp="1"/>
          </p:cNvSpPr>
          <p:nvPr>
            <p:ph type="title"/>
          </p:nvPr>
        </p:nvSpPr>
        <p:spPr/>
        <p:txBody>
          <a:bodyPr/>
          <a:lstStyle/>
          <a:p>
            <a:pPr algn="r" rtl="1"/>
            <a:r>
              <a:rPr lang="ar-LB" dirty="0"/>
              <a:t>أنبياء لم تذكر في القرآن:</a:t>
            </a:r>
            <a:endParaRPr lang="en-US" dirty="0"/>
          </a:p>
        </p:txBody>
      </p:sp>
      <p:sp>
        <p:nvSpPr>
          <p:cNvPr id="3" name="Content Placeholder 2">
            <a:extLst>
              <a:ext uri="{FF2B5EF4-FFF2-40B4-BE49-F238E27FC236}">
                <a16:creationId xmlns:a16="http://schemas.microsoft.com/office/drawing/2014/main" id="{99B6418D-4884-0035-5C95-390F0187E162}"/>
              </a:ext>
            </a:extLst>
          </p:cNvPr>
          <p:cNvSpPr>
            <a:spLocks noGrp="1"/>
          </p:cNvSpPr>
          <p:nvPr>
            <p:ph idx="1"/>
          </p:nvPr>
        </p:nvSpPr>
        <p:spPr>
          <a:xfrm>
            <a:off x="838200" y="1406013"/>
            <a:ext cx="10515600" cy="2022987"/>
          </a:xfrm>
        </p:spPr>
        <p:txBody>
          <a:bodyPr/>
          <a:lstStyle/>
          <a:p>
            <a:pPr algn="r" rtl="1"/>
            <a:r>
              <a:rPr lang="ar-LB" sz="2400" dirty="0"/>
              <a:t>يعتقد المسلمون أن هناك أكثر من 100 ألف نبي يقال 124 ألف يقال ان منهم </a:t>
            </a:r>
            <a:r>
              <a:rPr lang="en-US" sz="2400" dirty="0"/>
              <a:t> 315</a:t>
            </a:r>
            <a:r>
              <a:rPr lang="ar-LB" sz="2400" dirty="0"/>
              <a:t> روسولا</a:t>
            </a:r>
            <a:r>
              <a:rPr lang="en-US" sz="2400" dirty="0"/>
              <a:t> </a:t>
            </a:r>
            <a:r>
              <a:rPr lang="ar-LB" sz="2400" dirty="0"/>
              <a:t>25 من الأنبياء الذين ذكروا في القرآن.</a:t>
            </a:r>
          </a:p>
          <a:p>
            <a:pPr algn="r" rtl="1"/>
            <a:r>
              <a:rPr lang="ar-LB" sz="2400" dirty="0"/>
              <a:t>أبرز هؤلاء شيث , يوشع بن نون, دانيال, شمويل, شاول (طالوت) إلخ.</a:t>
            </a:r>
          </a:p>
          <a:p>
            <a:pPr algn="r" rtl="1"/>
            <a:r>
              <a:rPr lang="ar-LB" sz="2400" dirty="0"/>
              <a:t>يوشع هو يشوع بن نون, شمويل هو صموئيل.</a:t>
            </a:r>
          </a:p>
          <a:p>
            <a:pPr algn="r" rtl="1"/>
            <a:endParaRPr lang="ar-LB" dirty="0"/>
          </a:p>
          <a:p>
            <a:pPr algn="r" rtl="1"/>
            <a:endParaRPr lang="en-US" dirty="0"/>
          </a:p>
        </p:txBody>
      </p:sp>
      <p:sp>
        <p:nvSpPr>
          <p:cNvPr id="5" name="TextBox 4">
            <a:extLst>
              <a:ext uri="{FF2B5EF4-FFF2-40B4-BE49-F238E27FC236}">
                <a16:creationId xmlns:a16="http://schemas.microsoft.com/office/drawing/2014/main" id="{C3BE00E3-C8DA-3069-2FDF-768AED70308C}"/>
              </a:ext>
            </a:extLst>
          </p:cNvPr>
          <p:cNvSpPr txBox="1"/>
          <p:nvPr/>
        </p:nvSpPr>
        <p:spPr>
          <a:xfrm>
            <a:off x="1728019" y="3303639"/>
            <a:ext cx="9625781" cy="769441"/>
          </a:xfrm>
          <a:prstGeom prst="rect">
            <a:avLst/>
          </a:prstGeom>
          <a:noFill/>
        </p:spPr>
        <p:txBody>
          <a:bodyPr wrap="square" rtlCol="0">
            <a:spAutoFit/>
          </a:bodyPr>
          <a:lstStyle/>
          <a:p>
            <a:pPr algn="r" rtl="1"/>
            <a:r>
              <a:rPr lang="ar-LB" sz="4400" dirty="0"/>
              <a:t>الفرق بين النبي والرسول:</a:t>
            </a:r>
            <a:endParaRPr lang="en-US" sz="4400" dirty="0"/>
          </a:p>
        </p:txBody>
      </p:sp>
      <p:sp>
        <p:nvSpPr>
          <p:cNvPr id="6" name="Content Placeholder 2">
            <a:extLst>
              <a:ext uri="{FF2B5EF4-FFF2-40B4-BE49-F238E27FC236}">
                <a16:creationId xmlns:a16="http://schemas.microsoft.com/office/drawing/2014/main" id="{BF3C446D-9B68-5B20-A492-DC0BE812C627}"/>
              </a:ext>
            </a:extLst>
          </p:cNvPr>
          <p:cNvSpPr txBox="1">
            <a:spLocks/>
          </p:cNvSpPr>
          <p:nvPr/>
        </p:nvSpPr>
        <p:spPr>
          <a:xfrm>
            <a:off x="838200" y="4030457"/>
            <a:ext cx="10515600" cy="2022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LB" sz="2400" dirty="0"/>
              <a:t>كل رسول هو نبي ولكن كل نبي ليس بالضرورة أن يكون النبي رسول يعني الرسول هو أعلى درجة من النبي.</a:t>
            </a:r>
          </a:p>
          <a:p>
            <a:pPr algn="r" rtl="1"/>
            <a:r>
              <a:rPr lang="ar-LB" sz="2400" dirty="0"/>
              <a:t>الرسول هو الذي يكون له كتابا او شريعة ويتعبه انبياء يعني عادة ما يسمون إبراهيم, موسى, داوود, عيسى, محمد.</a:t>
            </a:r>
          </a:p>
          <a:p>
            <a:pPr algn="r" rtl="1"/>
            <a:r>
              <a:rPr lang="ar-LB" sz="2400" dirty="0"/>
              <a:t>هناك قول أخر ان كل نبي رسول وكل رسول نبي.</a:t>
            </a:r>
          </a:p>
          <a:p>
            <a:pPr algn="r" rtl="1"/>
            <a:endParaRPr lang="ar-LB" dirty="0"/>
          </a:p>
          <a:p>
            <a:pPr algn="r" rtl="1"/>
            <a:endParaRPr lang="en-US" dirty="0"/>
          </a:p>
        </p:txBody>
      </p:sp>
    </p:spTree>
    <p:extLst>
      <p:ext uri="{BB962C8B-B14F-4D97-AF65-F5344CB8AC3E}">
        <p14:creationId xmlns:p14="http://schemas.microsoft.com/office/powerpoint/2010/main" val="112006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68122-73C1-3490-D872-0F1B617A0351}"/>
              </a:ext>
            </a:extLst>
          </p:cNvPr>
          <p:cNvSpPr>
            <a:spLocks noGrp="1"/>
          </p:cNvSpPr>
          <p:nvPr>
            <p:ph type="title"/>
          </p:nvPr>
        </p:nvSpPr>
        <p:spPr/>
        <p:txBody>
          <a:bodyPr/>
          <a:lstStyle/>
          <a:p>
            <a:pPr algn="r" rtl="1"/>
            <a:r>
              <a:rPr lang="ar-LB" dirty="0"/>
              <a:t>نظرة الإسلام للأنبياء والمرسلين:</a:t>
            </a:r>
            <a:endParaRPr lang="en-US" dirty="0"/>
          </a:p>
        </p:txBody>
      </p:sp>
      <p:sp>
        <p:nvSpPr>
          <p:cNvPr id="3" name="Content Placeholder 2">
            <a:extLst>
              <a:ext uri="{FF2B5EF4-FFF2-40B4-BE49-F238E27FC236}">
                <a16:creationId xmlns:a16="http://schemas.microsoft.com/office/drawing/2014/main" id="{E169F56C-90F1-824F-6EAB-A3BE3EECD8A0}"/>
              </a:ext>
            </a:extLst>
          </p:cNvPr>
          <p:cNvSpPr>
            <a:spLocks noGrp="1"/>
          </p:cNvSpPr>
          <p:nvPr>
            <p:ph idx="1"/>
          </p:nvPr>
        </p:nvSpPr>
        <p:spPr>
          <a:xfrm>
            <a:off x="613064" y="1371600"/>
            <a:ext cx="10740736" cy="4805363"/>
          </a:xfrm>
        </p:spPr>
        <p:txBody>
          <a:bodyPr>
            <a:normAutofit lnSpcReduction="10000"/>
          </a:bodyPr>
          <a:lstStyle/>
          <a:p>
            <a:pPr algn="r" rtl="1"/>
            <a:r>
              <a:rPr lang="ar-LB" sz="2400" dirty="0"/>
              <a:t>يعتبر الإسلام الأنبياء أعلى درجة من بقية ولديهم نوع من الواسطة يعتبرهم معصومين لم يقترفوا في حياتهم ذنب وهم على حق دائما.</a:t>
            </a:r>
          </a:p>
          <a:p>
            <a:pPr algn="r" rtl="1"/>
            <a:r>
              <a:rPr lang="ar-LB" sz="2400" dirty="0"/>
              <a:t>عادة ما يتم تصوير الأنبياء في الأفلام هيئة الشخص بضوء او لا يبين الهيئة او يستخدم للنبي ضمير الغائب ذهب قال فعل إلخ.</a:t>
            </a:r>
          </a:p>
          <a:p>
            <a:pPr algn="r" rtl="1"/>
            <a:r>
              <a:rPr lang="ar-LB" sz="2400" dirty="0"/>
              <a:t>النبي عادة في الإسلام لا تأكل الأرض جسده بل يبقى جسده محفوظا إلى يوم القيامة.</a:t>
            </a:r>
          </a:p>
          <a:p>
            <a:pPr algn="r" rtl="1"/>
            <a:r>
              <a:rPr lang="ar-LB" sz="2400" dirty="0"/>
              <a:t>يعتبر النبي قدوة بما فيها حياته اليومية والخاصة وجميع تصرفاته تكون حكيمة.</a:t>
            </a:r>
          </a:p>
          <a:p>
            <a:pPr algn="r" rtl="1"/>
            <a:r>
              <a:rPr lang="ar-LB" sz="2400" dirty="0"/>
              <a:t>إحدى الإتهامات التي يتهم بها الكتاب المقدس بالتحريف هي انه يعطي للأنبياء درجة تكريم تفوق ما أعطاها الكتاب المقدس يعني اتهم أهل الكتاب بالتطاول على الأنبياء كما يزعمون.</a:t>
            </a:r>
          </a:p>
          <a:p>
            <a:pPr algn="r" rtl="1"/>
            <a:r>
              <a:rPr lang="ar-LB" sz="2400" dirty="0"/>
              <a:t>يعتقد بعض المسلمين ان الناس عراة باستثناء الأنبياء.</a:t>
            </a:r>
          </a:p>
          <a:p>
            <a:pPr algn="r" rtl="1"/>
            <a:r>
              <a:rPr lang="ar-LB" sz="2400" dirty="0"/>
              <a:t>الأنبياء في الإسلام يعتبرون خالون من أي عيوب خليقة أو أي عاهات أو إحتياجات خاصة.</a:t>
            </a:r>
          </a:p>
          <a:p>
            <a:pPr algn="r" rtl="1"/>
            <a:r>
              <a:rPr lang="ar-LB" sz="2400" dirty="0"/>
              <a:t>النبي محمد يقول البعض ان الغمام كانت تغيطه من الشمس وان رائحة عرقة كان كالعطر فكان الصحابة يجمعون من عرقه روائح وعطور.</a:t>
            </a:r>
          </a:p>
        </p:txBody>
      </p:sp>
    </p:spTree>
    <p:extLst>
      <p:ext uri="{BB962C8B-B14F-4D97-AF65-F5344CB8AC3E}">
        <p14:creationId xmlns:p14="http://schemas.microsoft.com/office/powerpoint/2010/main" val="28277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2B87C-8DFB-0C86-6B68-91E836D36B5D}"/>
              </a:ext>
            </a:extLst>
          </p:cNvPr>
          <p:cNvSpPr>
            <a:spLocks noGrp="1"/>
          </p:cNvSpPr>
          <p:nvPr>
            <p:ph type="title"/>
          </p:nvPr>
        </p:nvSpPr>
        <p:spPr>
          <a:xfrm>
            <a:off x="838200" y="188479"/>
            <a:ext cx="10515600" cy="1325563"/>
          </a:xfrm>
        </p:spPr>
        <p:txBody>
          <a:bodyPr/>
          <a:lstStyle/>
          <a:p>
            <a:pPr algn="r" rtl="1"/>
            <a:r>
              <a:rPr lang="ar-LB" dirty="0"/>
              <a:t>مميزات رسول الإسلام عن غيره من الأنبياء والبشر:</a:t>
            </a:r>
            <a:endParaRPr lang="en-US" dirty="0"/>
          </a:p>
        </p:txBody>
      </p:sp>
      <p:sp>
        <p:nvSpPr>
          <p:cNvPr id="3" name="Content Placeholder 2">
            <a:extLst>
              <a:ext uri="{FF2B5EF4-FFF2-40B4-BE49-F238E27FC236}">
                <a16:creationId xmlns:a16="http://schemas.microsoft.com/office/drawing/2014/main" id="{01B09088-FFA7-97A0-4654-6C14075C82B7}"/>
              </a:ext>
            </a:extLst>
          </p:cNvPr>
          <p:cNvSpPr>
            <a:spLocks noGrp="1"/>
          </p:cNvSpPr>
          <p:nvPr>
            <p:ph idx="1"/>
          </p:nvPr>
        </p:nvSpPr>
        <p:spPr>
          <a:xfrm>
            <a:off x="838200" y="1350818"/>
            <a:ext cx="10515600" cy="4826145"/>
          </a:xfrm>
        </p:spPr>
        <p:txBody>
          <a:bodyPr>
            <a:normAutofit/>
          </a:bodyPr>
          <a:lstStyle/>
          <a:p>
            <a:pPr algn="r" rtl="1"/>
            <a:r>
              <a:rPr lang="ar-LB" sz="2400" dirty="0"/>
              <a:t>إله الإسلام عادة ما ينادي الأنبياء باسمهم يا موسى يا عيسى ولكن محمد يناديه يا أيها النبي او يا أيها الرسول.</a:t>
            </a:r>
          </a:p>
          <a:p>
            <a:pPr algn="r" rtl="1"/>
            <a:r>
              <a:rPr lang="ar-LB" sz="2400" dirty="0"/>
              <a:t>نصر رسول الإسلام بالرعب مسيرة شهر, جعلت له الارض مسجدا وطهور.</a:t>
            </a:r>
          </a:p>
          <a:p>
            <a:pPr algn="r" rtl="1"/>
            <a:r>
              <a:rPr lang="ar-LB" sz="2400" dirty="0"/>
              <a:t>أي رجل من أمة محمد ذكره يصلي عليه.</a:t>
            </a:r>
          </a:p>
          <a:p>
            <a:pPr algn="r" rtl="1"/>
            <a:r>
              <a:rPr lang="ar-LB" sz="2400" dirty="0"/>
              <a:t>أحلت له الغنائم ولم تحل لأحد من قبله المغانم اي الأموال التي يأخذونها نتيجة الحرب.</a:t>
            </a:r>
          </a:p>
          <a:p>
            <a:pPr algn="r" rtl="1"/>
            <a:r>
              <a:rPr lang="ar-LB" sz="2400" dirty="0"/>
              <a:t>أعطي الشفاعة وبعث للناس عامة عكس جميع الأنبياء الذين بعثوا لقومهم خاصة.</a:t>
            </a:r>
          </a:p>
          <a:p>
            <a:pPr algn="r" rtl="1"/>
            <a:r>
              <a:rPr lang="ar-LB" sz="2400" dirty="0"/>
              <a:t>قوة النبي الجنسية ب4000 آلاف رجل.</a:t>
            </a:r>
          </a:p>
          <a:p>
            <a:pPr algn="r" rtl="1"/>
            <a:r>
              <a:rPr lang="en-US" sz="2400" dirty="0"/>
              <a:t>https://dorar.net/hadith/sharh/15781</a:t>
            </a:r>
            <a:endParaRPr lang="ar-LB" sz="2400" dirty="0"/>
          </a:p>
        </p:txBody>
      </p:sp>
    </p:spTree>
    <p:extLst>
      <p:ext uri="{BB962C8B-B14F-4D97-AF65-F5344CB8AC3E}">
        <p14:creationId xmlns:p14="http://schemas.microsoft.com/office/powerpoint/2010/main" val="3941837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1967-672F-7072-4F6E-F7C304A54EEA}"/>
              </a:ext>
            </a:extLst>
          </p:cNvPr>
          <p:cNvSpPr>
            <a:spLocks noGrp="1"/>
          </p:cNvSpPr>
          <p:nvPr>
            <p:ph type="title"/>
          </p:nvPr>
        </p:nvSpPr>
        <p:spPr/>
        <p:txBody>
          <a:bodyPr/>
          <a:lstStyle/>
          <a:p>
            <a:pPr algn="r" rtl="1"/>
            <a:r>
              <a:rPr lang="ar-LB" dirty="0"/>
              <a:t>النبوة تنفي عدالة الله في الإسلام:</a:t>
            </a:r>
            <a:endParaRPr lang="en-US" dirty="0"/>
          </a:p>
        </p:txBody>
      </p:sp>
      <p:sp>
        <p:nvSpPr>
          <p:cNvPr id="3" name="Content Placeholder 2">
            <a:extLst>
              <a:ext uri="{FF2B5EF4-FFF2-40B4-BE49-F238E27FC236}">
                <a16:creationId xmlns:a16="http://schemas.microsoft.com/office/drawing/2014/main" id="{3EA053A6-CAB0-F31C-79D4-D1EE9E7757C6}"/>
              </a:ext>
            </a:extLst>
          </p:cNvPr>
          <p:cNvSpPr>
            <a:spLocks noGrp="1"/>
          </p:cNvSpPr>
          <p:nvPr>
            <p:ph idx="1"/>
          </p:nvPr>
        </p:nvSpPr>
        <p:spPr>
          <a:xfrm>
            <a:off x="301337" y="1333500"/>
            <a:ext cx="11700164" cy="5389418"/>
          </a:xfrm>
        </p:spPr>
        <p:txBody>
          <a:bodyPr>
            <a:noAutofit/>
          </a:bodyPr>
          <a:lstStyle/>
          <a:p>
            <a:pPr algn="r" rtl="1"/>
            <a:r>
              <a:rPr lang="ar-LB" sz="2400" dirty="0"/>
              <a:t>إعتبار النبي له درجة تكريم كما يتفاخر بها المسلمين او لهم سلطة تنفي عدالة الله في الإسلام هو نفسه المسلم الذي يتهم الكتاب المقدس وخصوصا العهد القديم بعدم العدالة بسبب اختياره لشعب إسرائيل.</a:t>
            </a:r>
          </a:p>
          <a:p>
            <a:pPr algn="r" rtl="1"/>
            <a:r>
              <a:rPr lang="ar-LB" sz="2400" dirty="0"/>
              <a:t>تشريع 4 زوجات شرعت في الفترة المدنية </a:t>
            </a:r>
            <a:r>
              <a:rPr lang="ar-LB" sz="2400" b="0" i="0" dirty="0">
                <a:solidFill>
                  <a:srgbClr val="000000"/>
                </a:solidFill>
                <a:effectLst/>
                <a:latin typeface="Traditional Arabic" panose="02020603050405020304" pitchFamily="18" charset="-78"/>
                <a:cs typeface="Traditional Arabic" panose="02020603050405020304" pitchFamily="18" charset="-78"/>
              </a:rPr>
              <a:t>وَإِنْ خِفْتُمْ أَلاَّ تُقْسِطُواْ فِي الْيَتَامَى فَانكِحُواْ مَا طَابَ لَكُم مِّنَ النِّسَاء مَثْنَى وَثُلاثَ وَرُبَاعَ فَإِنْ خِفْتُمْ أَلاَّ تَعْدِلُواْ فَوَاحِدَةً أَوْ مَا مَلَكَتْ أَيْمَانُكُمْ ذَلِكَ أَدْنَى أَلاَّ تَعُولُواْ (سورة النساءالآية 3) </a:t>
            </a:r>
            <a:r>
              <a:rPr lang="ar-LB" sz="2400" b="0" i="0" dirty="0">
                <a:solidFill>
                  <a:srgbClr val="000000"/>
                </a:solidFill>
                <a:effectLst/>
                <a:latin typeface="Traditional Arabic" panose="02020603050405020304" pitchFamily="18" charset="-78"/>
              </a:rPr>
              <a:t>على الرغم </a:t>
            </a:r>
            <a:r>
              <a:rPr lang="ar-LB" sz="2400" b="0" i="0" dirty="0">
                <a:solidFill>
                  <a:srgbClr val="000000"/>
                </a:solidFill>
                <a:effectLst/>
                <a:latin typeface="Arial" panose="020B0604020202020204" pitchFamily="34" charset="0"/>
                <a:cs typeface="Arial" panose="020B0604020202020204" pitchFamily="34" charset="0"/>
              </a:rPr>
              <a:t>من ان رسول الإسلام تزوج 12</a:t>
            </a:r>
            <a:r>
              <a:rPr lang="ar-LB" sz="2400" dirty="0">
                <a:solidFill>
                  <a:srgbClr val="000000"/>
                </a:solidFill>
                <a:latin typeface="Arial" panose="020B0604020202020204" pitchFamily="34" charset="0"/>
                <a:cs typeface="Arial" panose="020B0604020202020204" pitchFamily="34" charset="0"/>
              </a:rPr>
              <a:t> زوجة عداك ملكات اليمين. </a:t>
            </a:r>
          </a:p>
          <a:p>
            <a:pPr algn="r" rtl="1"/>
            <a:r>
              <a:rPr lang="ar-LB" sz="2400" b="0" i="0" dirty="0">
                <a:solidFill>
                  <a:srgbClr val="000000"/>
                </a:solidFill>
                <a:effectLst/>
                <a:latin typeface="Arial" panose="020B0604020202020204" pitchFamily="34" charset="0"/>
                <a:cs typeface="Arial" panose="020B0604020202020204" pitchFamily="34" charset="0"/>
              </a:rPr>
              <a:t>سليمان النبي الذي يهاجمه الوحي الكتابي بسبب إكثاره في معاشرة النساء بالمئات يعتبرها المسلم بركة من الله.</a:t>
            </a:r>
          </a:p>
          <a:p>
            <a:pPr algn="r" rtl="1"/>
            <a:r>
              <a:rPr lang="ar-LB" sz="2400" b="0" i="0" dirty="0">
                <a:solidFill>
                  <a:srgbClr val="000000"/>
                </a:solidFill>
                <a:effectLst/>
                <a:latin typeface="Arial" panose="020B0604020202020204" pitchFamily="34" charset="0"/>
                <a:cs typeface="Arial" panose="020B0604020202020204" pitchFamily="34" charset="0"/>
              </a:rPr>
              <a:t>وَامْرَأَةً مُّؤْمِنَةً إِن وَهَبَتْ نَفْسَهَا لِلنَّبِيِّ إِنْ أَرَادَ النَّبِيُّ أَن يَسْتَنكِحَهَا خَالِصَةً لَّكَ مِن دُونِ الْمُؤْمِنِينَ قَدْ عَلِمْنَا مَا فَرَضْنَا عَلَيْهِمْ فِي أَزْوَاجِهِمْ وَمَا مَلَكَتْ أَيْمَانُهُمْ لِكَيْلا يَكُونَ عَلَيْكَ حَرَجٌ وَكَانَ اللَّهُ غَفُورًا رَّحِيمًا (سورة الأحزاب الآية 50 ) تبيح للنبي محمد ما لم يبحه الإسلام للمسلم العادي.</a:t>
            </a:r>
          </a:p>
          <a:p>
            <a:pPr algn="r" rtl="1"/>
            <a:r>
              <a:rPr lang="ar-LB" sz="2400" dirty="0"/>
              <a:t>عداك عن تقسيم الثروات والغنائم التي غطت لرسول الإسلام أكثر من غيره.</a:t>
            </a:r>
          </a:p>
          <a:p>
            <a:pPr algn="r" rtl="1"/>
            <a:r>
              <a:rPr lang="ar-LB" sz="2400" dirty="0"/>
              <a:t>رسول الإسلام حرم على أي رجل زواج إحدى زوجاته بعد وفاته حتى الشيعة يتهمون أحد زوجاته التي يحبونها السنة عائشة أنها كانت تتبرج أي بالعانية تضع المكياج بعد وفاته. </a:t>
            </a:r>
            <a:r>
              <a:rPr lang="ar-LB" sz="2400" b="0" i="0" dirty="0">
                <a:solidFill>
                  <a:srgbClr val="000000"/>
                </a:solidFill>
                <a:effectLst/>
                <a:latin typeface="Traditional Arabic" panose="02020603050405020304" pitchFamily="18" charset="-78"/>
                <a:cs typeface="Traditional Arabic" panose="02020603050405020304" pitchFamily="18" charset="-78"/>
              </a:rPr>
              <a:t>يَا نِسَاء النَّبِيِّ لَسْتُنَّ كَأَحَدٍ مِّنَ النِّسَاء إِنِ اتَّقَيْتُنَّ فَلا تَخْضَعْنَ بِالْقَوْلِ فَيَطْمَعَ الَّذِي فِي قَلْبِهِ مَرَضٌ وَقُلْنَ قَوْلا مَّعْرُوفًا وَقَرْنَ فِي بُيُوتِكُنَّ وَلا تَبَرَّجْنَ تَبَرُّجَ الْجَاهِلِيَّةِ الأُولَى وَأَقِمْنَ الصَّلاةَ وَآتِينَ الزَّكَاةَ وَأَطِعْنَ اللَّهَ وَرَسُولَهُ إِنَّمَا يُرِيدُ اللَّهُ لِيُذْهِبَ عَنكُمُ الرِّجْسَ أَهْلَ الْبَيْتِ وَيُطَهِّرَكُمْ تَطْهِيرًا </a:t>
            </a:r>
            <a:r>
              <a:rPr lang="ar-LB" sz="2400" b="0" i="0" dirty="0">
                <a:solidFill>
                  <a:srgbClr val="000000"/>
                </a:solidFill>
                <a:effectLst/>
                <a:latin typeface="Arial" panose="020B0604020202020204" pitchFamily="34" charset="0"/>
                <a:cs typeface="Arial" panose="020B0604020202020204" pitchFamily="34" charset="0"/>
              </a:rPr>
              <a:t>(سورة الأحزاب الآية 32 و 33 ) </a:t>
            </a:r>
            <a:endParaRPr lang="ar-LB" sz="2400" b="0" i="0" dirty="0">
              <a:solidFill>
                <a:srgbClr val="000000"/>
              </a:solidFill>
              <a:effectLst/>
              <a:latin typeface="Traditional Arabic" panose="02020603050405020304" pitchFamily="18" charset="-78"/>
              <a:cs typeface="Traditional Arabic" panose="02020603050405020304" pitchFamily="18" charset="-78"/>
            </a:endParaRPr>
          </a:p>
          <a:p>
            <a:pPr algn="r" rtl="1"/>
            <a:endParaRPr lang="ar-LB" sz="2400" dirty="0"/>
          </a:p>
        </p:txBody>
      </p:sp>
    </p:spTree>
    <p:extLst>
      <p:ext uri="{BB962C8B-B14F-4D97-AF65-F5344CB8AC3E}">
        <p14:creationId xmlns:p14="http://schemas.microsoft.com/office/powerpoint/2010/main" val="2839954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44F02-CCA4-A9D7-7176-B8BA5471FCA8}"/>
              </a:ext>
            </a:extLst>
          </p:cNvPr>
          <p:cNvSpPr>
            <a:spLocks noGrp="1"/>
          </p:cNvSpPr>
          <p:nvPr>
            <p:ph type="title"/>
          </p:nvPr>
        </p:nvSpPr>
        <p:spPr/>
        <p:txBody>
          <a:bodyPr/>
          <a:lstStyle/>
          <a:p>
            <a:pPr algn="r" rtl="1"/>
            <a:r>
              <a:rPr lang="ar-LB" dirty="0"/>
              <a:t>هل الأنبياء معصومين بالرجوع لأمهات الكتب:</a:t>
            </a:r>
            <a:endParaRPr lang="en-US" dirty="0"/>
          </a:p>
        </p:txBody>
      </p:sp>
      <p:sp>
        <p:nvSpPr>
          <p:cNvPr id="3" name="Content Placeholder 2">
            <a:extLst>
              <a:ext uri="{FF2B5EF4-FFF2-40B4-BE49-F238E27FC236}">
                <a16:creationId xmlns:a16="http://schemas.microsoft.com/office/drawing/2014/main" id="{CAE24F09-D18A-C75A-C5EC-625B24CA9C47}"/>
              </a:ext>
            </a:extLst>
          </p:cNvPr>
          <p:cNvSpPr>
            <a:spLocks noGrp="1"/>
          </p:cNvSpPr>
          <p:nvPr>
            <p:ph idx="1"/>
          </p:nvPr>
        </p:nvSpPr>
        <p:spPr>
          <a:xfrm>
            <a:off x="838200" y="1276350"/>
            <a:ext cx="10515600" cy="5076825"/>
          </a:xfrm>
        </p:spPr>
        <p:txBody>
          <a:bodyPr>
            <a:normAutofit/>
          </a:bodyPr>
          <a:lstStyle/>
          <a:p>
            <a:pPr algn="r" rtl="1"/>
            <a:r>
              <a:rPr lang="ar-LB" sz="2400" dirty="0"/>
              <a:t>رغم إعتماد الإسلام على ىشريعة غير عادلة تبيح للنبي ما لا تبيح لغيره إلا أن القرآن, والسنة أقرت بوجود أخطاء للأنبياء وعصيان للأنبياء بطريقة غير مباشرة ربما نقلا عن قصص أهل الكتاب.</a:t>
            </a:r>
          </a:p>
          <a:p>
            <a:pPr algn="r" rtl="1"/>
            <a:r>
              <a:rPr lang="ar-LB" sz="2400" dirty="0"/>
              <a:t>الكثير من المسلمين يحاول ترقيع هذا الفعل تارة يقول هذا قبل النبوة, وتارة يقول أنه لم يتخلى عن واجبه ولم يتركب حراما ولكن ربما ترك مستحب او فعل مكروها, المستحب تعني في الإسلام أن الشخص إذا قام به يأخذ حسنات إذا لم يفعله لا تسجل له سيئة وأما المكروه إذا تجنبه تسجل حسنات وإذا فعله لا تسجل سيئة او إثم, وآخرر يبرر أن يمكن ان يكون ذنب صغير والحسنات تذهبه.</a:t>
            </a:r>
          </a:p>
          <a:p>
            <a:pPr algn="r" rtl="1"/>
            <a:r>
              <a:rPr lang="ar-LB" sz="2400" dirty="0"/>
              <a:t>أمثلة على أشياء مستحبة للتوضيح فقط صوم 3 أيام البيض في كل شهرأيام القمر المكتمل يعطى حسنات او يأجر من يفعلها ومن لا يفعلها لا يؤثم صلاة النوافل يأجر من يفعلها ومن لا يفعلها لا يؤثم.</a:t>
            </a:r>
          </a:p>
          <a:p>
            <a:pPr algn="r" rtl="1"/>
            <a:r>
              <a:rPr lang="ar-LB" sz="2400" dirty="0"/>
              <a:t>كثيرة من المسلمين يتجنبون الحديث عن أخطاء هؤلاء او إدانته خوفا من الإنجراف إلى تخطيء الأنبياء يتكلم عن القصة فقط.</a:t>
            </a:r>
          </a:p>
          <a:p>
            <a:pPr algn="r" rtl="1"/>
            <a:r>
              <a:rPr lang="ar-LB" sz="2400" dirty="0"/>
              <a:t>خطأ آدم من الذي هو نبي إسلاميا: فَأَكَلا مِنْهَا فَبَدَتْ لَهُمَا سَوْآتُهُمَا وَطَفِقَا يَخْصِفَانِ عَلَيْهِمَا مِن وَرَقِ الْجَنَّةِ وَعَصَى آدَمُ رَبَّهُ فَغَوَى ثُمَّ اجْتَبَاهُ رَبُّهُ فَتَابَ عَلَيْهِ وَهَدَى (سورة طه 121 و122) خطأ آدم.</a:t>
            </a:r>
          </a:p>
          <a:p>
            <a:pPr algn="r" rtl="1"/>
            <a:endParaRPr lang="ar-LB" sz="2400" dirty="0"/>
          </a:p>
          <a:p>
            <a:pPr algn="r" rtl="1"/>
            <a:endParaRPr lang="ar-LB" sz="2400" dirty="0"/>
          </a:p>
          <a:p>
            <a:pPr algn="r" rtl="1"/>
            <a:endParaRPr lang="en-US" sz="2400" dirty="0"/>
          </a:p>
        </p:txBody>
      </p:sp>
    </p:spTree>
    <p:extLst>
      <p:ext uri="{BB962C8B-B14F-4D97-AF65-F5344CB8AC3E}">
        <p14:creationId xmlns:p14="http://schemas.microsoft.com/office/powerpoint/2010/main" val="393765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611E69-7E04-39F8-3B2A-9660071AC0E7}"/>
              </a:ext>
            </a:extLst>
          </p:cNvPr>
          <p:cNvSpPr>
            <a:spLocks noGrp="1"/>
          </p:cNvSpPr>
          <p:nvPr>
            <p:ph idx="1"/>
          </p:nvPr>
        </p:nvSpPr>
        <p:spPr>
          <a:xfrm>
            <a:off x="700548" y="293179"/>
            <a:ext cx="10515600" cy="5844454"/>
          </a:xfrm>
        </p:spPr>
        <p:txBody>
          <a:bodyPr>
            <a:normAutofit lnSpcReduction="10000"/>
          </a:bodyPr>
          <a:lstStyle/>
          <a:p>
            <a:pPr algn="r" rtl="1"/>
            <a:r>
              <a:rPr lang="ar-LB" sz="2400" dirty="0"/>
              <a:t>ربّ أغفر لي ولوالديَّ ولمن دخل بيتي مؤمنًا وللمؤمنين والمؤمنات ولا تزد الظالمين إلاَّ تبارا( سورة نوح الآية 28) نوح النبي طلب غفران خطيته قكيف معصوم؟ نوح معروف انه دعى على قومه.</a:t>
            </a:r>
          </a:p>
          <a:p>
            <a:pPr algn="r" rtl="1"/>
            <a:r>
              <a:rPr lang="ar-LB" sz="2400" dirty="0"/>
              <a:t>خطأ إبراهيم </a:t>
            </a:r>
            <a:r>
              <a:rPr lang="ar-LB" sz="2400" b="0" i="0" dirty="0">
                <a:solidFill>
                  <a:srgbClr val="17274A"/>
                </a:solidFill>
                <a:effectLst/>
                <a:latin typeface="conv_original-hafs"/>
              </a:rPr>
              <a:t> وَٱتۡلُ عَلَيۡهِمۡ نَبَأَ إِبۡرَٰهِيمَ (سورة الشعراء الآية 69) وَٱلَّذِيٓ أَطۡمَعُ أَن يَغۡفِرَ لِي خَطِيٓـَٔتِي يَوۡمَ ٱلدِّينِ ( سورة الشعراء الآية 82), </a:t>
            </a:r>
            <a:r>
              <a:rPr lang="ar-LB" sz="2400" b="0" i="0" dirty="0">
                <a:solidFill>
                  <a:srgbClr val="000000"/>
                </a:solidFill>
                <a:effectLst/>
                <a:latin typeface="Helvetica Neue"/>
              </a:rPr>
              <a:t> وعن أبي هريرة إن رسول الله (ص) قال لم يكذب </a:t>
            </a:r>
            <a:r>
              <a:rPr lang="ar-LB" sz="2400" b="0" i="0" u="none" strike="noStrike" dirty="0">
                <a:solidFill>
                  <a:srgbClr val="1668CD"/>
                </a:solidFill>
                <a:effectLst/>
                <a:latin typeface="Times New Roman" panose="02020603050405020304" pitchFamily="18" charset="0"/>
                <a:hlinkClick r:id="rId2"/>
              </a:rPr>
              <a:t>إبراهيم</a:t>
            </a:r>
            <a:r>
              <a:rPr lang="ar-LB" sz="2400" b="0" i="0" dirty="0">
                <a:solidFill>
                  <a:srgbClr val="000000"/>
                </a:solidFill>
                <a:effectLst/>
                <a:latin typeface="Helvetica Neue"/>
              </a:rPr>
              <a:t> إلاَّ ثلاث كذبات اثنتين منهم في ذات الله قوله إني سقيم، وقوله فعله كبيرهم، وقوله لسارة هذه أختي حين أراد الجبار القرب منها" (رواه البخاري ومسلم).</a:t>
            </a:r>
          </a:p>
          <a:p>
            <a:pPr algn="r" rtl="1"/>
            <a:r>
              <a:rPr lang="ar-LB" sz="2400" dirty="0">
                <a:solidFill>
                  <a:srgbClr val="000000"/>
                </a:solidFill>
                <a:latin typeface="Helvetica Neue"/>
              </a:rPr>
              <a:t>خطأ يوسف </a:t>
            </a:r>
            <a:r>
              <a:rPr lang="ar-LB" sz="2400" b="0" i="0" dirty="0">
                <a:solidFill>
                  <a:srgbClr val="000000"/>
                </a:solidFill>
                <a:effectLst/>
                <a:latin typeface="Traditional Arabic" panose="02020603050405020304" pitchFamily="18" charset="-78"/>
                <a:cs typeface="Traditional Arabic" panose="02020603050405020304" pitchFamily="18" charset="-78"/>
              </a:rPr>
              <a:t>وَلَقَدْ هَمَّتْ بِهِ وَهَمَّ بِهَا لَوْلا أَن رَّأَى بُرْهَانَ رَبِّهِ كَذَلِكَ</a:t>
            </a:r>
            <a:r>
              <a:rPr lang="ar-LB" sz="2400" dirty="0">
                <a:solidFill>
                  <a:srgbClr val="000000"/>
                </a:solidFill>
                <a:latin typeface="Helvetica Neue"/>
                <a:cs typeface="Traditional Arabic" panose="02020603050405020304" pitchFamily="18" charset="-78"/>
              </a:rPr>
              <a:t> (سورة يوسف الآية 24) </a:t>
            </a:r>
            <a:r>
              <a:rPr lang="ar-LB" sz="2400" dirty="0">
                <a:solidFill>
                  <a:srgbClr val="000000"/>
                </a:solidFill>
                <a:latin typeface="Helvetica Neue"/>
              </a:rPr>
              <a:t>تتحدث عن علاقة يوسف بامرأة عزيز مصر اراد الزنى بها لولا ان الله ذكره.</a:t>
            </a:r>
          </a:p>
          <a:p>
            <a:pPr algn="r" rtl="1"/>
            <a:r>
              <a:rPr lang="ar-LB" sz="2400" dirty="0">
                <a:solidFill>
                  <a:srgbClr val="000000"/>
                </a:solidFill>
                <a:latin typeface="Traditional Arabic" panose="02020603050405020304" pitchFamily="18" charset="-78"/>
              </a:rPr>
              <a:t>خطأ</a:t>
            </a:r>
            <a:r>
              <a:rPr lang="ar-LB" sz="2400" dirty="0">
                <a:solidFill>
                  <a:srgbClr val="000000"/>
                </a:solidFill>
                <a:latin typeface="Traditional Arabic" panose="02020603050405020304" pitchFamily="18" charset="-78"/>
                <a:cs typeface="Traditional Arabic" panose="02020603050405020304" pitchFamily="18" charset="-78"/>
              </a:rPr>
              <a:t> </a:t>
            </a:r>
            <a:r>
              <a:rPr lang="ar-LB" sz="2400" dirty="0">
                <a:solidFill>
                  <a:srgbClr val="000000"/>
                </a:solidFill>
                <a:latin typeface="Traditional Arabic" panose="02020603050405020304" pitchFamily="18" charset="-78"/>
              </a:rPr>
              <a:t>داوود</a:t>
            </a:r>
            <a:r>
              <a:rPr lang="ar-LB" sz="2400" dirty="0">
                <a:solidFill>
                  <a:srgbClr val="000000"/>
                </a:solidFill>
                <a:latin typeface="Traditional Arabic" panose="02020603050405020304" pitchFamily="18" charset="-78"/>
                <a:cs typeface="Traditional Arabic" panose="02020603050405020304" pitchFamily="18" charset="-78"/>
              </a:rPr>
              <a:t> قَالَ لَقَدْ ظَلَمَكَ بِسُؤَالِ نَعْجَتِكَ إِلَى نِعَاجِهِ وَإِنَّ كَثِيرًا مِّنْ الْخُلَطَاء لَيَبْغِي بَعْضُهُمْ عَلَى بَعْضٍ إِلاَّ الَّذِينَ آمَنُوا وَعَمِلُوا الصَّالِحَاتِ وَقَلِيلٌ مَّا هُمْ وَظَنَّ دَاوُودُ أَنَّمَا فَتَنَّاهُ فَاسْتَغْفَرَ رَبَّهُ وَخَرَّ رَاكِعًا وَأَنَابَ فَغَفَرْنَا لَهُ ذَلِكَ وَإِنَّ لَهُ عِندَنَا لَزُلْفَى وَحُسْنَ مَآبٍ</a:t>
            </a:r>
            <a:r>
              <a:rPr lang="ar-LB" sz="2400" dirty="0">
                <a:solidFill>
                  <a:srgbClr val="000000"/>
                </a:solidFill>
                <a:latin typeface="Traditional Arabic" panose="02020603050405020304" pitchFamily="18" charset="-78"/>
              </a:rPr>
              <a:t>( سورة ص الآية 24, 25)</a:t>
            </a:r>
            <a:r>
              <a:rPr lang="ar-LB" sz="2400" dirty="0">
                <a:solidFill>
                  <a:srgbClr val="000000"/>
                </a:solidFill>
                <a:latin typeface="Traditional Arabic" panose="02020603050405020304" pitchFamily="18" charset="-78"/>
                <a:cs typeface="Traditional Arabic" panose="02020603050405020304" pitchFamily="18" charset="-78"/>
              </a:rPr>
              <a:t> (</a:t>
            </a:r>
            <a:r>
              <a:rPr lang="ar-LB" sz="2400" dirty="0">
                <a:solidFill>
                  <a:srgbClr val="000000"/>
                </a:solidFill>
                <a:latin typeface="Traditional Arabic" panose="02020603050405020304" pitchFamily="18" charset="-78"/>
              </a:rPr>
              <a:t>هذه مقتبصة من 2 صموئيل الإصحاح 11 ) رغم  عدم ذكر الزنى بشكل مباشر إلا انها تعتبر خطأ</a:t>
            </a:r>
          </a:p>
          <a:p>
            <a:pPr algn="r" rtl="1"/>
            <a:endParaRPr lang="ar-LB" sz="2400" dirty="0">
              <a:solidFill>
                <a:srgbClr val="000000"/>
              </a:solidFill>
              <a:latin typeface="Traditional Arabic" panose="02020603050405020304" pitchFamily="18" charset="-78"/>
            </a:endParaRPr>
          </a:p>
          <a:p>
            <a:pPr algn="r" rtl="1"/>
            <a:r>
              <a:rPr lang="ar-LB" b="0" i="0" dirty="0">
                <a:solidFill>
                  <a:srgbClr val="000000"/>
                </a:solidFill>
                <a:effectLst/>
                <a:latin typeface="Traditional Arabic" panose="02020603050405020304" pitchFamily="18" charset="-78"/>
              </a:rPr>
              <a:t>خطأ سليمان </a:t>
            </a:r>
            <a:r>
              <a:rPr lang="ar-LB" b="0" i="0" dirty="0">
                <a:solidFill>
                  <a:srgbClr val="000000"/>
                </a:solidFill>
                <a:effectLst/>
                <a:latin typeface="Traditional Arabic" panose="02020603050405020304" pitchFamily="18" charset="-78"/>
                <a:cs typeface="Traditional Arabic" panose="02020603050405020304" pitchFamily="18" charset="-78"/>
              </a:rPr>
              <a:t>إِذْ عُرِضَ عَلَيْهِ بِالْعَشِيِّ الصَّافِنَاتُ الْجِيَادُ فَقَالَ إِنِّي أَحْبَبْتُ حُبَّ الْخَيْرِ عَن ذِكْرِ رَبِّي حَتَّى تَوَارَتْ بِالْحِجَابِ رُدُّوهَا عَلَيَّ فَطَفِقَ مَسْحًا بِالسُّوقِ وَالأَعْنَاقِ وَلَقَدْ فَتَنَّا سُلَيْمَانَ وَأَلْقَيْنَا عَلَى كُرْسِيِّهِ جَسَدًا ثُمَّ أَنَابَ قَالَ رَبِّ اغْفِرْ لِي وَهَبْ لِي مُلْكًا لّا يَنبَغِي لِأَحَدٍ مِّنْ بَعْدِي إِنَّكَ أَنتَ الْوَهَّابُ</a:t>
            </a:r>
            <a:r>
              <a:rPr lang="en-US" b="0" i="0" dirty="0">
                <a:solidFill>
                  <a:srgbClr val="000000"/>
                </a:solidFill>
                <a:effectLst/>
                <a:latin typeface="Traditional Arabic" panose="02020603050405020304" pitchFamily="18" charset="-78"/>
                <a:cs typeface="Traditional Arabic" panose="02020603050405020304" pitchFamily="18" charset="-78"/>
              </a:rPr>
              <a:t>  </a:t>
            </a:r>
            <a:r>
              <a:rPr lang="ar-LB" b="0" i="0" dirty="0">
                <a:solidFill>
                  <a:srgbClr val="000000"/>
                </a:solidFill>
                <a:effectLst/>
                <a:latin typeface="Traditional Arabic" panose="02020603050405020304" pitchFamily="18" charset="-78"/>
                <a:cs typeface="Traditional Arabic" panose="02020603050405020304" pitchFamily="18" charset="-78"/>
              </a:rPr>
              <a:t> </a:t>
            </a:r>
            <a:r>
              <a:rPr lang="ar-LB" sz="2400" b="0" i="0" dirty="0">
                <a:solidFill>
                  <a:srgbClr val="000000"/>
                </a:solidFill>
                <a:effectLst/>
                <a:latin typeface="Traditional Arabic" panose="02020603050405020304" pitchFamily="18" charset="-78"/>
              </a:rPr>
              <a:t>(سورة ص 31, 35)</a:t>
            </a:r>
          </a:p>
        </p:txBody>
      </p:sp>
    </p:spTree>
    <p:extLst>
      <p:ext uri="{BB962C8B-B14F-4D97-AF65-F5344CB8AC3E}">
        <p14:creationId xmlns:p14="http://schemas.microsoft.com/office/powerpoint/2010/main" val="3059080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56408D-8F13-1C93-8E14-79BE36A804E0}"/>
              </a:ext>
            </a:extLst>
          </p:cNvPr>
          <p:cNvSpPr>
            <a:spLocks noGrp="1"/>
          </p:cNvSpPr>
          <p:nvPr>
            <p:ph idx="1"/>
          </p:nvPr>
        </p:nvSpPr>
        <p:spPr>
          <a:xfrm>
            <a:off x="838200" y="872836"/>
            <a:ext cx="10515600" cy="5304127"/>
          </a:xfrm>
        </p:spPr>
        <p:txBody>
          <a:bodyPr/>
          <a:lstStyle/>
          <a:p>
            <a:pPr algn="r" rtl="1"/>
            <a:r>
              <a:rPr lang="ar-LB" sz="2400" dirty="0"/>
              <a:t>خطأ موسى : قتل نفس مصرية لم يأمره الله في قتلها </a:t>
            </a:r>
            <a:r>
              <a:rPr lang="ar-LB" sz="2400" i="0" dirty="0">
                <a:effectLst/>
                <a:latin typeface="hafs"/>
              </a:rPr>
              <a:t>وَدَخَلَ الْمَدِينَةَ عَلَىٰ حِينِ غَفْلَةٍ مِّنْ أَهْلِهَا فَوَجَدَ فِيهَا رَجُلَيْنِ يَقْتَتِلَانِ هَٰذَا مِن شِيعَتِهِ وَهَٰذَا مِنْ عَدُوِّهِ ۖ فَاسْتَغَاثَهُ الَّذِي مِن شِيعَتِهِ عَلَى الَّذِي مِنْ عَدُوِّهِ فَوَكَزَهُ مُوسَىٰ فَقَضَىٰ عَلَيْهِ ۖ قَالَ هَٰذَا مِنْ عَمَلِ الشَّيْطَانِ ۖ إِنَّهُ عَدُوٌّ مُّضِلٌّ مُّبِينٌ  (سورة القصص الآية 15).</a:t>
            </a:r>
          </a:p>
          <a:p>
            <a:pPr algn="r" rtl="1"/>
            <a:r>
              <a:rPr lang="ar-LB" sz="2400" dirty="0">
                <a:latin typeface="hafs"/>
              </a:rPr>
              <a:t>خطأ عيسى المسيح الإسلامي: عيسى لم يرد إليه خطأ حتى في النصوص الإسلامية حديث الشفاعة لم يذكر له ذنبًا, عيسى لم ينخزه الشيطان لا هو ولا أمه هذا رباط لحديث  </a:t>
            </a:r>
            <a:r>
              <a:rPr lang="en-US" sz="2400" dirty="0">
                <a:latin typeface="hafs"/>
              </a:rPr>
              <a:t>https://www.islamweb.net/ar/fatwa/146979/%D8%B9%D8%B5%D9%85%D8%A9-%D9%85%D8%B1%D9%8A%D9%85-%D9%88%D8%A7%D8%A8%D9%86%D9%87%D8%A7-%D9%85%D9%86-%D8%B7%D8%B9%D9%86-%D8%A7%D9%84%D8%B4%D9%8A%D8%B7%D8%A7%D9%86-%D8%AD%D9%8A%D9%86-%D8%A7%D9%84%D9%88%D9%84%D8%A7%D8%AF%D8%A9</a:t>
            </a:r>
            <a:endParaRPr lang="ar-LB" sz="2400" dirty="0">
              <a:latin typeface="hafs"/>
            </a:endParaRPr>
          </a:p>
          <a:p>
            <a:pPr algn="r" rtl="1"/>
            <a:r>
              <a:rPr lang="ar-LB" sz="2400" dirty="0"/>
              <a:t>مع ذلك عيسى لم يعط الشفاعة بحجة ان قومه ألهوهه وامه, حتى هذا ربما لا يعتبر خطيئة لعيسى من المنظور الإسلامي.</a:t>
            </a:r>
            <a:endParaRPr lang="en-US" sz="2400" dirty="0"/>
          </a:p>
        </p:txBody>
      </p:sp>
    </p:spTree>
    <p:extLst>
      <p:ext uri="{BB962C8B-B14F-4D97-AF65-F5344CB8AC3E}">
        <p14:creationId xmlns:p14="http://schemas.microsoft.com/office/powerpoint/2010/main" val="285757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4A18D3-7249-8E7F-537C-AEDB41606D61}"/>
              </a:ext>
            </a:extLst>
          </p:cNvPr>
          <p:cNvSpPr>
            <a:spLocks noGrp="1"/>
          </p:cNvSpPr>
          <p:nvPr>
            <p:ph idx="1"/>
          </p:nvPr>
        </p:nvSpPr>
        <p:spPr>
          <a:xfrm>
            <a:off x="838200" y="334297"/>
            <a:ext cx="10515600" cy="5842666"/>
          </a:xfrm>
        </p:spPr>
        <p:txBody>
          <a:bodyPr>
            <a:normAutofit/>
          </a:bodyPr>
          <a:lstStyle/>
          <a:p>
            <a:pPr algn="r" rtl="1"/>
            <a:r>
              <a:rPr lang="ar-LB" sz="2400" dirty="0"/>
              <a:t>خطأ يونس </a:t>
            </a:r>
            <a:r>
              <a:rPr lang="ar-LB" sz="2400" b="0" i="0" dirty="0">
                <a:solidFill>
                  <a:srgbClr val="000000"/>
                </a:solidFill>
                <a:effectLst/>
                <a:latin typeface="Traditional Arabic" panose="02020603050405020304" pitchFamily="18" charset="-78"/>
                <a:cs typeface="Traditional Arabic" panose="02020603050405020304" pitchFamily="18" charset="-78"/>
              </a:rPr>
              <a:t>وَإِنَّ يُونُسَ لَمِنَ الْمُرْسَلِينَ إِذْ أَبَقَ إِلَى الْفُلْكِ الْمَشْحُونِ  َسَاهَمَ فَكَانَ مِنْ الْمُدْحَضِينَ فَالْتَقَمَهُ الْحُوتُ وَهُوَ مُلِيمٌ فَلَوْلا أَنَّهُ كَانَ مِنْ الْمُسَبِّحِينَ لَلَبِثَ فِي بَطْنِهِ إِلَى يَوْمِ يُبْعَثُونَ فَنَبَذْنَاهُ بِالْعَرَاء وَهُوَ سَقِيمٌ وَأَنبَتْنَا عَلَيْهِ شَجَرَةً مِّن يَقْطِينٍ </a:t>
            </a:r>
            <a:r>
              <a:rPr lang="ar-LB" sz="2400" b="0" i="0" dirty="0">
                <a:solidFill>
                  <a:srgbClr val="000000"/>
                </a:solidFill>
                <a:effectLst/>
                <a:latin typeface="Traditional Arabic" panose="02020603050405020304" pitchFamily="18" charset="-78"/>
              </a:rPr>
              <a:t>(سورة الصافات 139-146)</a:t>
            </a:r>
            <a:r>
              <a:rPr lang="en-US" sz="2400" b="0" i="0" dirty="0">
                <a:solidFill>
                  <a:srgbClr val="000000"/>
                </a:solidFill>
                <a:effectLst/>
                <a:latin typeface="Traditional Arabic" panose="02020603050405020304" pitchFamily="18" charset="-78"/>
              </a:rPr>
              <a:t> </a:t>
            </a:r>
            <a:r>
              <a:rPr lang="ar-LB" sz="2400" b="0" i="0" dirty="0">
                <a:solidFill>
                  <a:srgbClr val="000000"/>
                </a:solidFill>
                <a:effectLst/>
                <a:latin typeface="Traditional Arabic" panose="02020603050405020304" pitchFamily="18" charset="-78"/>
              </a:rPr>
              <a:t> خرج يونس من قرية قومه بعد رفع العذاب وحصل عنده نوع من الغضب.</a:t>
            </a:r>
          </a:p>
          <a:p>
            <a:pPr algn="r" rtl="1"/>
            <a:r>
              <a:rPr lang="ar-LB" sz="2400" dirty="0">
                <a:solidFill>
                  <a:srgbClr val="000000"/>
                </a:solidFill>
                <a:latin typeface="Traditional Arabic" panose="02020603050405020304" pitchFamily="18" charset="-78"/>
              </a:rPr>
              <a:t>خطأ محمد رسول الإسلام نفسه: من القرآن نفسه القرآن عاتب محمد نفسه, مرة قال له يا أيها المدثر الآية الأولى من سورة المدثر, يا أيها المزمل, الآية الأولى من سورة المزمل, عداك عن سورة الشرح </a:t>
            </a:r>
            <a:r>
              <a:rPr lang="ar-LB" sz="1600" b="0" i="0" dirty="0">
                <a:solidFill>
                  <a:srgbClr val="000000"/>
                </a:solidFill>
                <a:effectLst/>
                <a:latin typeface="Traditional Arabic" panose="02020603050405020304" pitchFamily="18" charset="-78"/>
                <a:cs typeface="Traditional Arabic" panose="02020603050405020304" pitchFamily="18" charset="-78"/>
              </a:rPr>
              <a:t>أً</a:t>
            </a:r>
            <a:r>
              <a:rPr lang="ar-LB" sz="2400" b="0" i="0" dirty="0">
                <a:solidFill>
                  <a:srgbClr val="000000"/>
                </a:solidFill>
                <a:effectLst/>
                <a:latin typeface="Traditional Arabic" panose="02020603050405020304" pitchFamily="18" charset="-78"/>
                <a:cs typeface="Traditional Arabic" panose="02020603050405020304" pitchFamily="18" charset="-78"/>
              </a:rPr>
              <a:t>لَمْ نَشْرَحْ لَكَ صَدْرَكَ وَوَضَعْنَا عَنكَ وِزْرَكَ الَّذِي أَنقَضَ ظَهْرَكَ </a:t>
            </a:r>
            <a:r>
              <a:rPr lang="ar-LB" sz="2400" b="0" i="0" dirty="0">
                <a:solidFill>
                  <a:srgbClr val="000000"/>
                </a:solidFill>
                <a:effectLst/>
                <a:latin typeface="Traditional Arabic" panose="02020603050405020304" pitchFamily="18" charset="-78"/>
              </a:rPr>
              <a:t>(سورة الشرح الآية 1و2 و3 )</a:t>
            </a:r>
            <a:r>
              <a:rPr lang="en-US" sz="2400" b="0" i="0" dirty="0">
                <a:solidFill>
                  <a:srgbClr val="000000"/>
                </a:solidFill>
                <a:effectLst/>
                <a:latin typeface="Traditional Arabic" panose="02020603050405020304" pitchFamily="18" charset="-78"/>
              </a:rPr>
              <a:t> </a:t>
            </a:r>
            <a:r>
              <a:rPr lang="ar-LB" sz="2400" b="0" i="0" dirty="0">
                <a:solidFill>
                  <a:srgbClr val="000000"/>
                </a:solidFill>
                <a:effectLst/>
                <a:latin typeface="Traditional Arabic" panose="02020603050405020304" pitchFamily="18" charset="-78"/>
              </a:rPr>
              <a:t>,في سورة الضحى</a:t>
            </a:r>
            <a:r>
              <a:rPr lang="ar-LB" sz="2400" b="0" i="0" dirty="0">
                <a:solidFill>
                  <a:srgbClr val="000000"/>
                </a:solidFill>
                <a:effectLst/>
                <a:latin typeface="Traditional Arabic" panose="02020603050405020304" pitchFamily="18" charset="-78"/>
                <a:cs typeface="Traditional Arabic" panose="02020603050405020304" pitchFamily="18" charset="-78"/>
              </a:rPr>
              <a:t> </a:t>
            </a:r>
            <a:r>
              <a:rPr lang="ar-LB" sz="2400" b="1" i="0" u="none" strike="noStrike" dirty="0">
                <a:solidFill>
                  <a:srgbClr val="004A95"/>
                </a:solidFill>
                <a:effectLst/>
                <a:latin typeface="Traditional Arabic" panose="02020603050405020304" pitchFamily="18" charset="-78"/>
                <a:cs typeface="Traditional Arabic" panose="02020603050405020304" pitchFamily="18" charset="-78"/>
                <a:hlinkClick r:id="rId2"/>
              </a:rPr>
              <a:t>وَلَسَوْفَ يُعْطِيكَ رَبُّكَ فَتَرْضَىٰ</a:t>
            </a:r>
            <a:r>
              <a:rPr lang="ar-LB" sz="2400" b="1" i="0" dirty="0">
                <a:solidFill>
                  <a:srgbClr val="535353"/>
                </a:solidFill>
                <a:effectLst/>
                <a:latin typeface="Traditional Arabic" panose="02020603050405020304" pitchFamily="18" charset="-78"/>
                <a:cs typeface="Traditional Arabic" panose="02020603050405020304" pitchFamily="18" charset="-78"/>
              </a:rPr>
              <a:t>  </a:t>
            </a:r>
            <a:r>
              <a:rPr lang="ar-LB" sz="2400" b="1" i="0" dirty="0">
                <a:solidFill>
                  <a:srgbClr val="468847"/>
                </a:solidFill>
                <a:effectLst/>
                <a:latin typeface="Traditional Arabic" panose="02020603050405020304" pitchFamily="18" charset="-78"/>
                <a:cs typeface="Traditional Arabic" panose="02020603050405020304" pitchFamily="18" charset="-78"/>
              </a:rPr>
              <a:t>أَلَمْ يَجِدْكَ يَتِيمًا فَآوَىٰ  </a:t>
            </a:r>
            <a:r>
              <a:rPr lang="ar-LB" sz="2400" b="1" i="0" strike="noStrike" dirty="0">
                <a:solidFill>
                  <a:srgbClr val="004A95"/>
                </a:solidFill>
                <a:effectLst/>
                <a:latin typeface="Traditional Arabic" panose="02020603050405020304" pitchFamily="18" charset="-78"/>
                <a:cs typeface="Traditional Arabic" panose="02020603050405020304" pitchFamily="18" charset="-78"/>
                <a:hlinkClick r:id="rId3"/>
              </a:rPr>
              <a:t>وَوَجَدَكَ ضَالًّا فَهَدَىٰ</a:t>
            </a:r>
            <a:r>
              <a:rPr lang="ar-LB" sz="2400" b="1" i="0" dirty="0">
                <a:solidFill>
                  <a:srgbClr val="535353"/>
                </a:solidFill>
                <a:effectLst/>
                <a:latin typeface="Traditional Arabic" panose="02020603050405020304" pitchFamily="18" charset="-78"/>
                <a:cs typeface="Traditional Arabic" panose="02020603050405020304" pitchFamily="18" charset="-78"/>
              </a:rPr>
              <a:t>  </a:t>
            </a:r>
            <a:r>
              <a:rPr lang="ar-LB" sz="2400" b="1" i="0" strike="noStrike" dirty="0">
                <a:solidFill>
                  <a:srgbClr val="004A95"/>
                </a:solidFill>
                <a:effectLst/>
                <a:latin typeface="Traditional Arabic" panose="02020603050405020304" pitchFamily="18" charset="-78"/>
                <a:cs typeface="Traditional Arabic" panose="02020603050405020304" pitchFamily="18" charset="-78"/>
                <a:hlinkClick r:id="rId4"/>
              </a:rPr>
              <a:t>وَوَجَدَكَ عَائِلًا فَأَغْنَىٰ</a:t>
            </a:r>
            <a:r>
              <a:rPr lang="ar-LB" sz="2400" b="1" i="0" dirty="0">
                <a:solidFill>
                  <a:srgbClr val="535353"/>
                </a:solidFill>
                <a:effectLst/>
                <a:latin typeface="Traditional Arabic" panose="02020603050405020304" pitchFamily="18" charset="-78"/>
                <a:cs typeface="Traditional Arabic" panose="02020603050405020304" pitchFamily="18" charset="-78"/>
              </a:rPr>
              <a:t> </a:t>
            </a:r>
            <a:r>
              <a:rPr lang="ar-LB" sz="2400" b="0" i="0" dirty="0">
                <a:solidFill>
                  <a:srgbClr val="000000"/>
                </a:solidFill>
                <a:effectLst/>
                <a:latin typeface="Traditional Arabic" panose="02020603050405020304" pitchFamily="18" charset="-78"/>
              </a:rPr>
              <a:t> (سورة الضحى الآية 5-8</a:t>
            </a:r>
            <a:r>
              <a:rPr lang="ar-LB" sz="2400" b="0" i="0" dirty="0">
                <a:effectLst/>
                <a:latin typeface="Traditional Arabic" panose="02020603050405020304" pitchFamily="18" charset="-78"/>
              </a:rPr>
              <a:t>)</a:t>
            </a:r>
            <a:r>
              <a:rPr lang="en-US" sz="2400" b="0" i="0" dirty="0">
                <a:effectLst/>
                <a:latin typeface="Traditional Arabic" panose="02020603050405020304" pitchFamily="18" charset="-78"/>
              </a:rPr>
              <a:t> </a:t>
            </a:r>
            <a:r>
              <a:rPr lang="ar-LB" sz="2400" i="0" dirty="0">
                <a:effectLst/>
                <a:latin typeface="hafs"/>
              </a:rPr>
              <a:t>إِنَّا فَتَحْنَا لَكَ فَتْحًا مُّبِينًا  </a:t>
            </a:r>
            <a:r>
              <a:rPr lang="ar-LB" sz="2400" i="0" u="none" strike="noStrike" dirty="0">
                <a:effectLst/>
                <a:latin typeface="hafs"/>
                <a:hlinkClick r:id="rId5">
                  <a:extLst>
                    <a:ext uri="{A12FA001-AC4F-418D-AE19-62706E023703}">
                      <ahyp:hlinkClr xmlns:ahyp="http://schemas.microsoft.com/office/drawing/2018/hyperlinkcolor" val="tx"/>
                    </a:ext>
                  </a:extLst>
                </a:hlinkClick>
              </a:rPr>
              <a:t>لِّيَغْفِرَ لَكَ اللَّهُ مَا تَقَدَّمَ مِن ذَنبِكَ وَمَا تَأَخَّرَ وَيُتِمَّ نِعْمَتَهُ عَلَيْكَ وَيَهْدِيَكَ صِرَاطًا مُّسْتَقِيمًا</a:t>
            </a:r>
            <a:r>
              <a:rPr lang="ar-LB" sz="2400" i="0" dirty="0">
                <a:effectLst/>
                <a:latin typeface="hafs"/>
              </a:rPr>
              <a:t> (سورة الفتح الآية 1 و2 ) </a:t>
            </a:r>
          </a:p>
          <a:p>
            <a:pPr algn="r" rtl="1"/>
            <a:r>
              <a:rPr lang="ar-LB" sz="2400" dirty="0">
                <a:latin typeface="hafs"/>
              </a:rPr>
              <a:t>حديث الشفاعة ربما </a:t>
            </a:r>
            <a:r>
              <a:rPr lang="en-US" sz="2400" dirty="0">
                <a:latin typeface="hafs"/>
              </a:rPr>
              <a:t>https://www.islamweb.net/ar/fatwa/241693/%D8%AD%D8%AF%D9%8A%D8%AB-%D8%A7%D9%84%D8%B4%D9%81%D8%A7%D8%B9%D8%A9-%D8%A7%D9%84%D8%B7%D9%88%D9%8A%D9%84-%D9%88%D8%AD%D8%AF%D9%8A%D8%AB-%D8%A7%D9%84%D8%B5%D9%88%D8%B1-%D8%A7%D9%84%D8%B7%D9%88%D9%8A%D9%84</a:t>
            </a:r>
            <a:endParaRPr lang="ar-LB" sz="2400" i="0" dirty="0">
              <a:effectLst/>
              <a:latin typeface="hafs"/>
            </a:endParaRPr>
          </a:p>
          <a:p>
            <a:pPr algn="r" rtl="1">
              <a:buFont typeface="+mj-lt"/>
              <a:buAutoNum type="arabicPeriod"/>
            </a:pPr>
            <a:endParaRPr lang="ar-LB" sz="2400" i="0" dirty="0">
              <a:effectLst/>
              <a:latin typeface="Traditional Arabic" panose="02020603050405020304" pitchFamily="18" charset="-78"/>
              <a:cs typeface="Traditional Arabic" panose="02020603050405020304" pitchFamily="18" charset="-78"/>
            </a:endParaRPr>
          </a:p>
          <a:p>
            <a:pPr algn="r" rtl="1"/>
            <a:endParaRPr lang="ar-LB" sz="2400" b="0" i="0" dirty="0">
              <a:solidFill>
                <a:srgbClr val="000000"/>
              </a:solidFill>
              <a:effectLst/>
              <a:latin typeface="Traditional Arabic" panose="02020603050405020304" pitchFamily="18" charset="-78"/>
            </a:endParaRPr>
          </a:p>
        </p:txBody>
      </p:sp>
    </p:spTree>
    <p:extLst>
      <p:ext uri="{BB962C8B-B14F-4D97-AF65-F5344CB8AC3E}">
        <p14:creationId xmlns:p14="http://schemas.microsoft.com/office/powerpoint/2010/main" val="1026979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EF91-E1AD-C091-00CA-97CAF3DA61F9}"/>
              </a:ext>
            </a:extLst>
          </p:cNvPr>
          <p:cNvSpPr>
            <a:spLocks noGrp="1"/>
          </p:cNvSpPr>
          <p:nvPr>
            <p:ph type="title"/>
          </p:nvPr>
        </p:nvSpPr>
        <p:spPr/>
        <p:txBody>
          <a:bodyPr/>
          <a:lstStyle/>
          <a:p>
            <a:pPr algn="r" rtl="1"/>
            <a:r>
              <a:rPr lang="ar-LB" dirty="0"/>
              <a:t>وقوع المسلمين بمغلطات:</a:t>
            </a:r>
            <a:endParaRPr lang="en-US" dirty="0"/>
          </a:p>
        </p:txBody>
      </p:sp>
      <p:sp>
        <p:nvSpPr>
          <p:cNvPr id="3" name="Content Placeholder 2">
            <a:extLst>
              <a:ext uri="{FF2B5EF4-FFF2-40B4-BE49-F238E27FC236}">
                <a16:creationId xmlns:a16="http://schemas.microsoft.com/office/drawing/2014/main" id="{58F6B69A-886C-C559-8C88-DC123C3C7BC4}"/>
              </a:ext>
            </a:extLst>
          </p:cNvPr>
          <p:cNvSpPr>
            <a:spLocks noGrp="1"/>
          </p:cNvSpPr>
          <p:nvPr>
            <p:ph idx="1"/>
          </p:nvPr>
        </p:nvSpPr>
        <p:spPr>
          <a:xfrm>
            <a:off x="245806" y="1258530"/>
            <a:ext cx="11661059" cy="4928266"/>
          </a:xfrm>
        </p:spPr>
        <p:txBody>
          <a:bodyPr>
            <a:normAutofit/>
          </a:bodyPr>
          <a:lstStyle/>
          <a:p>
            <a:pPr algn="r" rtl="1"/>
            <a:r>
              <a:rPr lang="ar-LB" sz="2400" dirty="0"/>
              <a:t>النبي او الرسول هو الذي ينقل كلام الوحي إلى البشر ويكون هو ايضا اول من يطبق هذا الوحي فالنبي الذي يبيح له الوحي ما لا يبحه لغيره هو نبي كذاب مثل القاضي الذي يلعب بالقوانين لابراء نفسه او عائلته او أصحابه او المسؤول الذي يضع له مادة تبيح له ما لا تبيحه لغيره.</a:t>
            </a:r>
          </a:p>
          <a:p>
            <a:pPr algn="r" rtl="1"/>
            <a:r>
              <a:rPr lang="ar-LB" sz="2400" dirty="0"/>
              <a:t>فكرة ان الرب لماذا خلق الأنبياء خلقهم لهداية البشر فإذا اخطاؤوا يعني الرب فاشل هذه أيضا مغالطة لان الرب ايضا خلق البشر واخطاؤوا فهل يعني هو أيضا فشل لان مثل ما ان الرب لم يخلق الأنبياء ليخطؤوا فبالحري لم يخلق الإنسان ليخطأ.</a:t>
            </a:r>
          </a:p>
          <a:p>
            <a:pPr algn="r" rtl="1"/>
            <a:r>
              <a:rPr lang="ar-LB" sz="2400" dirty="0"/>
              <a:t>فكرة ان الرب اختار اتعس البشر ليكونوا أنبياء الأنبياء هم حزء من البشر وجزء من المجتمع والإله لم يكن ليخلق رجل آلي لا يخطئ من جهة من أخرى إذا مشينا على فرضية الأخ المسلم, المسلم يعتقد أن الكتاب المقدس محرف فهل إلهه إختار البشر اتعس البشر لاستئمانه على كلامه, ام ان انبياءه فشلوا في اختيار أشخاص مناسبين لحفظ رسالته.</a:t>
            </a:r>
          </a:p>
          <a:p>
            <a:pPr algn="r" rtl="1"/>
            <a:r>
              <a:rPr lang="ar-LB" sz="2400" dirty="0"/>
              <a:t>النبوة هي دور اعطي لمجموعة من البشر لينقلوا كلام الرب للبشر ويمكن أن يلعب هذا الدور القساوسة والمبشرين وغيرهم.</a:t>
            </a:r>
          </a:p>
          <a:p>
            <a:pPr algn="r" rtl="1"/>
            <a:r>
              <a:rPr lang="ar-LB" sz="2400" dirty="0"/>
              <a:t>الإله الكتاب المقدس يعلمنا ان نقول الأمور مثل ما هي لا نقول ان لا نجامل, المؤمن معني بوحي الأنبياء وليس معني بحايتهم الشخصية او علاقاتهم مع أسرهم.</a:t>
            </a:r>
          </a:p>
          <a:p>
            <a:pPr algn="r" rtl="1"/>
            <a:endParaRPr lang="en-US" sz="2400" dirty="0"/>
          </a:p>
        </p:txBody>
      </p:sp>
    </p:spTree>
    <p:extLst>
      <p:ext uri="{BB962C8B-B14F-4D97-AF65-F5344CB8AC3E}">
        <p14:creationId xmlns:p14="http://schemas.microsoft.com/office/powerpoint/2010/main" val="1442436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604</TotalTime>
  <Words>2038</Words>
  <Application>Microsoft Office PowerPoint</Application>
  <PresentationFormat>Widescreen</PresentationFormat>
  <Paragraphs>67</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Aptos Display</vt:lpstr>
      <vt:lpstr>Arial</vt:lpstr>
      <vt:lpstr>conv_original-hafs</vt:lpstr>
      <vt:lpstr>hafs</vt:lpstr>
      <vt:lpstr>Helvetica Neue</vt:lpstr>
      <vt:lpstr>Times New Roman</vt:lpstr>
      <vt:lpstr>Traditional Arabic</vt:lpstr>
      <vt:lpstr>Office Theme</vt:lpstr>
      <vt:lpstr>سلام ونعمة</vt:lpstr>
      <vt:lpstr>الأنبياء المذكورين في القرآن:</vt:lpstr>
      <vt:lpstr>شحرة الأنبياء المذكورين في القرآن:</vt:lpstr>
      <vt:lpstr>أنبياء لم تذكر في القرآن:</vt:lpstr>
      <vt:lpstr>نظرة الإسلام للأنبياء والمرسلين:</vt:lpstr>
      <vt:lpstr>مميزات رسول الإسلام عن غيره من الأنبياء والبشر:</vt:lpstr>
      <vt:lpstr>النبوة تنفي عدالة الله في الإسلام:</vt:lpstr>
      <vt:lpstr>هل الأنبياء معصومين بالرجوع لأمهات الكتب:</vt:lpstr>
      <vt:lpstr>PowerPoint Presentation</vt:lpstr>
      <vt:lpstr>PowerPoint Presentation</vt:lpstr>
      <vt:lpstr>PowerPoint Presentation</vt:lpstr>
      <vt:lpstr>وقوع المسلمين بمغلطات: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Abo Lobnan Mohammad</dc:creator>
  <cp:lastModifiedBy>Abo Lobnan Mohammad</cp:lastModifiedBy>
  <cp:revision>7</cp:revision>
  <dcterms:created xsi:type="dcterms:W3CDTF">2025-02-19T12:01:09Z</dcterms:created>
  <dcterms:modified xsi:type="dcterms:W3CDTF">2025-02-23T15:42:19Z</dcterms:modified>
</cp:coreProperties>
</file>